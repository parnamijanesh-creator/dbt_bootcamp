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33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43.xml"/>
  <Override ContentType="application/vnd.openxmlformats-officedocument.presentationml.notesSlide+xml" PartName="/ppt/notesSlides/notesSlide151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148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135.xml"/>
  <Override ContentType="application/vnd.openxmlformats-officedocument.presentationml.notesSlide+xml" PartName="/ppt/notesSlides/notesSlide137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1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138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46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29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44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31.xml"/>
  <Override ContentType="application/vnd.openxmlformats-officedocument.presentationml.notesSlide+xml" PartName="/ppt/notesSlides/notesSlide127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150.xml"/>
  <Override ContentType="application/vnd.openxmlformats-officedocument.presentationml.notesSlide+xml" PartName="/ppt/notesSlides/notesSlide14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126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1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52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140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36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49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139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1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3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132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45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48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138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36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141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18.xml"/>
  <Override ContentType="application/vnd.openxmlformats-officedocument.presentationml.slide+xml" PartName="/ppt/slides/slide142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152.xml"/>
  <Override ContentType="application/vnd.openxmlformats-officedocument.presentationml.slide+xml" PartName="/ppt/slides/slide125.xml"/>
  <Override ContentType="application/vnd.openxmlformats-officedocument.presentationml.slide+xml" PartName="/ppt/slides/slide72.xml"/>
  <Override ContentType="application/vnd.openxmlformats-officedocument.presentationml.slide+xml" PartName="/ppt/slides/slide135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129.xml"/>
  <Override ContentType="application/vnd.openxmlformats-officedocument.presentationml.slide+xml" PartName="/ppt/slides/slide63.xml"/>
  <Override ContentType="application/vnd.openxmlformats-officedocument.presentationml.slide+xml" PartName="/ppt/slides/slide131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144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133.xml"/>
  <Override ContentType="application/vnd.openxmlformats-officedocument.presentationml.slide+xml" PartName="/ppt/slides/slide91.xml"/>
  <Override ContentType="application/vnd.openxmlformats-officedocument.presentationml.slide+xml" PartName="/ppt/slides/slide114.xml"/>
  <Override ContentType="application/vnd.openxmlformats-officedocument.presentationml.slide+xml" PartName="/ppt/slides/slide31.xml"/>
  <Override ContentType="application/vnd.openxmlformats-officedocument.presentationml.slide+xml" PartName="/ppt/slides/slide127.xml"/>
  <Override ContentType="application/vnd.openxmlformats-officedocument.presentationml.slide+xml" PartName="/ppt/slides/slide146.xml"/>
  <Override ContentType="application/vnd.openxmlformats-officedocument.presentationml.slide+xml" PartName="/ppt/slides/slide150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39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22.xml"/>
  <Override ContentType="application/vnd.openxmlformats-officedocument.presentationml.slide+xml" PartName="/ppt/slides/slide130.xml"/>
  <Override ContentType="application/vnd.openxmlformats-officedocument.presentationml.slide+xml" PartName="/ppt/slides/slide147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40.xml"/>
  <Override ContentType="application/vnd.openxmlformats-officedocument.presentationml.slide+xml" PartName="/ppt/slides/slide11.xml"/>
  <Override ContentType="application/vnd.openxmlformats-officedocument.presentationml.slide+xml" PartName="/ppt/slides/slide137.xml"/>
  <Override ContentType="application/vnd.openxmlformats-officedocument.presentationml.slide+xml" PartName="/ppt/slides/slide110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149.xml"/>
  <Override ContentType="application/vnd.openxmlformats-officedocument.presentationml.slide+xml" PartName="/ppt/slides/slide49.xml"/>
  <Override ContentType="application/vnd.openxmlformats-officedocument.presentationml.slide+xml" PartName="/ppt/slides/slide124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126.xml"/>
  <Override ContentType="application/vnd.openxmlformats-officedocument.presentationml.slide+xml" PartName="/ppt/slides/slide151.xml"/>
  <Override ContentType="application/vnd.openxmlformats-officedocument.presentationml.slide+xml" PartName="/ppt/slides/slide109.xml"/>
  <Override ContentType="application/vnd.openxmlformats-officedocument.presentationml.slide+xml" PartName="/ppt/slides/slide134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143.xml"/>
  <Override ContentType="application/vnd.openxmlformats-officedocument.presentationml.slide+xml" PartName="/ppt/slides/slide117.xml"/>
  <Override ContentType="application/vnd.openxmlformats-officedocument.presentationml.slide+xml" PartName="/ppt/slides/slide145.xml"/>
  <Override ContentType="application/vnd.openxmlformats-officedocument.presentationml.slide+xml" PartName="/ppt/slides/slide132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128.xml"/>
  <Override ContentType="application/vnd.openxmlformats-officedocument.presentationml.slide+xml" PartName="/ppt/slides/slide92.xml"/>
  <Override ContentType="application/vnd.openxmlformats-officedocument.presentationml.slide+xml" PartName="/ppt/slides/slide115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</p:sldIdLst>
  <p:sldSz cy="5143500" cx="9144000"/>
  <p:notesSz cx="6858000" cy="9144000"/>
  <p:embeddedFontLst>
    <p:embeddedFont>
      <p:font typeface="Space Mono"/>
      <p:regular r:id="rId159"/>
      <p:bold r:id="rId160"/>
      <p:italic r:id="rId161"/>
      <p:boldItalic r:id="rId162"/>
    </p:embeddedFont>
    <p:embeddedFont>
      <p:font typeface="Roboto"/>
      <p:regular r:id="rId163"/>
      <p:bold r:id="rId164"/>
      <p:italic r:id="rId165"/>
      <p:boldItalic r:id="rId166"/>
    </p:embeddedFont>
    <p:embeddedFont>
      <p:font typeface="Montserrat"/>
      <p:regular r:id="rId167"/>
      <p:bold r:id="rId168"/>
      <p:italic r:id="rId169"/>
      <p:boldItalic r:id="rId170"/>
    </p:embeddedFont>
    <p:embeddedFont>
      <p:font typeface="Montserrat Medium"/>
      <p:regular r:id="rId171"/>
      <p:bold r:id="rId172"/>
      <p:italic r:id="rId173"/>
      <p:boldItalic r:id="rId174"/>
    </p:embeddedFont>
    <p:embeddedFont>
      <p:font typeface="Montserrat Thin"/>
      <p:regular r:id="rId175"/>
      <p:bold r:id="rId176"/>
      <p:italic r:id="rId177"/>
      <p:boldItalic r:id="rId17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660BCE2-2714-4049-8B74-3E60B48309CE}">
  <a:tblStyle styleId="{3660BCE2-2714-4049-8B74-3E60B48309C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07" Type="http://schemas.openxmlformats.org/officeDocument/2006/relationships/slide" Target="slides/slide101.xml"/><Relationship Id="rId106" Type="http://schemas.openxmlformats.org/officeDocument/2006/relationships/slide" Target="slides/slide100.xml"/><Relationship Id="rId105" Type="http://schemas.openxmlformats.org/officeDocument/2006/relationships/slide" Target="slides/slide99.xml"/><Relationship Id="rId104" Type="http://schemas.openxmlformats.org/officeDocument/2006/relationships/slide" Target="slides/slide98.xml"/><Relationship Id="rId109" Type="http://schemas.openxmlformats.org/officeDocument/2006/relationships/slide" Target="slides/slide103.xml"/><Relationship Id="rId108" Type="http://schemas.openxmlformats.org/officeDocument/2006/relationships/slide" Target="slides/slide102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103" Type="http://schemas.openxmlformats.org/officeDocument/2006/relationships/slide" Target="slides/slide97.xml"/><Relationship Id="rId102" Type="http://schemas.openxmlformats.org/officeDocument/2006/relationships/slide" Target="slides/slide96.xml"/><Relationship Id="rId101" Type="http://schemas.openxmlformats.org/officeDocument/2006/relationships/slide" Target="slides/slide95.xml"/><Relationship Id="rId100" Type="http://schemas.openxmlformats.org/officeDocument/2006/relationships/slide" Target="slides/slide94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176" Type="http://schemas.openxmlformats.org/officeDocument/2006/relationships/font" Target="fonts/MontserratThin-bold.fntdata"/><Relationship Id="rId36" Type="http://schemas.openxmlformats.org/officeDocument/2006/relationships/slide" Target="slides/slide30.xml"/><Relationship Id="rId175" Type="http://schemas.openxmlformats.org/officeDocument/2006/relationships/font" Target="fonts/MontserratThin-regular.fntdata"/><Relationship Id="rId39" Type="http://schemas.openxmlformats.org/officeDocument/2006/relationships/slide" Target="slides/slide33.xml"/><Relationship Id="rId174" Type="http://schemas.openxmlformats.org/officeDocument/2006/relationships/font" Target="fonts/MontserratMedium-boldItalic.fntdata"/><Relationship Id="rId38" Type="http://schemas.openxmlformats.org/officeDocument/2006/relationships/slide" Target="slides/slide32.xml"/><Relationship Id="rId173" Type="http://schemas.openxmlformats.org/officeDocument/2006/relationships/font" Target="fonts/MontserratMedium-italic.fntdata"/><Relationship Id="rId178" Type="http://schemas.openxmlformats.org/officeDocument/2006/relationships/font" Target="fonts/MontserratThin-boldItalic.fntdata"/><Relationship Id="rId177" Type="http://schemas.openxmlformats.org/officeDocument/2006/relationships/font" Target="fonts/MontserratThin-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29" Type="http://schemas.openxmlformats.org/officeDocument/2006/relationships/slide" Target="slides/slide123.xml"/><Relationship Id="rId128" Type="http://schemas.openxmlformats.org/officeDocument/2006/relationships/slide" Target="slides/slide122.xml"/><Relationship Id="rId127" Type="http://schemas.openxmlformats.org/officeDocument/2006/relationships/slide" Target="slides/slide121.xml"/><Relationship Id="rId126" Type="http://schemas.openxmlformats.org/officeDocument/2006/relationships/slide" Target="slides/slide120.xml"/><Relationship Id="rId26" Type="http://schemas.openxmlformats.org/officeDocument/2006/relationships/slide" Target="slides/slide20.xml"/><Relationship Id="rId121" Type="http://schemas.openxmlformats.org/officeDocument/2006/relationships/slide" Target="slides/slide115.xml"/><Relationship Id="rId25" Type="http://schemas.openxmlformats.org/officeDocument/2006/relationships/slide" Target="slides/slide19.xml"/><Relationship Id="rId120" Type="http://schemas.openxmlformats.org/officeDocument/2006/relationships/slide" Target="slides/slide114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125" Type="http://schemas.openxmlformats.org/officeDocument/2006/relationships/slide" Target="slides/slide119.xml"/><Relationship Id="rId29" Type="http://schemas.openxmlformats.org/officeDocument/2006/relationships/slide" Target="slides/slide23.xml"/><Relationship Id="rId124" Type="http://schemas.openxmlformats.org/officeDocument/2006/relationships/slide" Target="slides/slide118.xml"/><Relationship Id="rId123" Type="http://schemas.openxmlformats.org/officeDocument/2006/relationships/slide" Target="slides/slide117.xml"/><Relationship Id="rId122" Type="http://schemas.openxmlformats.org/officeDocument/2006/relationships/slide" Target="slides/slide116.xml"/><Relationship Id="rId95" Type="http://schemas.openxmlformats.org/officeDocument/2006/relationships/slide" Target="slides/slide89.xml"/><Relationship Id="rId94" Type="http://schemas.openxmlformats.org/officeDocument/2006/relationships/slide" Target="slides/slide88.xml"/><Relationship Id="rId97" Type="http://schemas.openxmlformats.org/officeDocument/2006/relationships/slide" Target="slides/slide91.xml"/><Relationship Id="rId96" Type="http://schemas.openxmlformats.org/officeDocument/2006/relationships/slide" Target="slides/slide90.xml"/><Relationship Id="rId11" Type="http://schemas.openxmlformats.org/officeDocument/2006/relationships/slide" Target="slides/slide5.xml"/><Relationship Id="rId99" Type="http://schemas.openxmlformats.org/officeDocument/2006/relationships/slide" Target="slides/slide93.xml"/><Relationship Id="rId10" Type="http://schemas.openxmlformats.org/officeDocument/2006/relationships/slide" Target="slides/slide4.xml"/><Relationship Id="rId98" Type="http://schemas.openxmlformats.org/officeDocument/2006/relationships/slide" Target="slides/slide92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18" Type="http://schemas.openxmlformats.org/officeDocument/2006/relationships/slide" Target="slides/slide112.xml"/><Relationship Id="rId117" Type="http://schemas.openxmlformats.org/officeDocument/2006/relationships/slide" Target="slides/slide111.xml"/><Relationship Id="rId116" Type="http://schemas.openxmlformats.org/officeDocument/2006/relationships/slide" Target="slides/slide110.xml"/><Relationship Id="rId115" Type="http://schemas.openxmlformats.org/officeDocument/2006/relationships/slide" Target="slides/slide109.xml"/><Relationship Id="rId119" Type="http://schemas.openxmlformats.org/officeDocument/2006/relationships/slide" Target="slides/slide113.xml"/><Relationship Id="rId15" Type="http://schemas.openxmlformats.org/officeDocument/2006/relationships/slide" Target="slides/slide9.xml"/><Relationship Id="rId110" Type="http://schemas.openxmlformats.org/officeDocument/2006/relationships/slide" Target="slides/slide104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14" Type="http://schemas.openxmlformats.org/officeDocument/2006/relationships/slide" Target="slides/slide108.xml"/><Relationship Id="rId18" Type="http://schemas.openxmlformats.org/officeDocument/2006/relationships/slide" Target="slides/slide12.xml"/><Relationship Id="rId113" Type="http://schemas.openxmlformats.org/officeDocument/2006/relationships/slide" Target="slides/slide107.xml"/><Relationship Id="rId112" Type="http://schemas.openxmlformats.org/officeDocument/2006/relationships/slide" Target="slides/slide106.xml"/><Relationship Id="rId111" Type="http://schemas.openxmlformats.org/officeDocument/2006/relationships/slide" Target="slides/slide105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150" Type="http://schemas.openxmlformats.org/officeDocument/2006/relationships/slide" Target="slides/slide144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149" Type="http://schemas.openxmlformats.org/officeDocument/2006/relationships/slide" Target="slides/slide143.xml"/><Relationship Id="rId4" Type="http://schemas.openxmlformats.org/officeDocument/2006/relationships/tableStyles" Target="tableStyles.xml"/><Relationship Id="rId148" Type="http://schemas.openxmlformats.org/officeDocument/2006/relationships/slide" Target="slides/slide142.xml"/><Relationship Id="rId9" Type="http://schemas.openxmlformats.org/officeDocument/2006/relationships/slide" Target="slides/slide3.xml"/><Relationship Id="rId143" Type="http://schemas.openxmlformats.org/officeDocument/2006/relationships/slide" Target="slides/slide137.xml"/><Relationship Id="rId142" Type="http://schemas.openxmlformats.org/officeDocument/2006/relationships/slide" Target="slides/slide136.xml"/><Relationship Id="rId141" Type="http://schemas.openxmlformats.org/officeDocument/2006/relationships/slide" Target="slides/slide135.xml"/><Relationship Id="rId140" Type="http://schemas.openxmlformats.org/officeDocument/2006/relationships/slide" Target="slides/slide134.xml"/><Relationship Id="rId5" Type="http://schemas.openxmlformats.org/officeDocument/2006/relationships/slideMaster" Target="slideMasters/slideMaster1.xml"/><Relationship Id="rId147" Type="http://schemas.openxmlformats.org/officeDocument/2006/relationships/slide" Target="slides/slide141.xml"/><Relationship Id="rId6" Type="http://schemas.openxmlformats.org/officeDocument/2006/relationships/notesMaster" Target="notesMasters/notesMaster1.xml"/><Relationship Id="rId146" Type="http://schemas.openxmlformats.org/officeDocument/2006/relationships/slide" Target="slides/slide140.xml"/><Relationship Id="rId7" Type="http://schemas.openxmlformats.org/officeDocument/2006/relationships/slide" Target="slides/slide1.xml"/><Relationship Id="rId145" Type="http://schemas.openxmlformats.org/officeDocument/2006/relationships/slide" Target="slides/slide139.xml"/><Relationship Id="rId8" Type="http://schemas.openxmlformats.org/officeDocument/2006/relationships/slide" Target="slides/slide2.xml"/><Relationship Id="rId144" Type="http://schemas.openxmlformats.org/officeDocument/2006/relationships/slide" Target="slides/slide138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139" Type="http://schemas.openxmlformats.org/officeDocument/2006/relationships/slide" Target="slides/slide133.xml"/><Relationship Id="rId138" Type="http://schemas.openxmlformats.org/officeDocument/2006/relationships/slide" Target="slides/slide132.xml"/><Relationship Id="rId137" Type="http://schemas.openxmlformats.org/officeDocument/2006/relationships/slide" Target="slides/slide131.xml"/><Relationship Id="rId132" Type="http://schemas.openxmlformats.org/officeDocument/2006/relationships/slide" Target="slides/slide126.xml"/><Relationship Id="rId131" Type="http://schemas.openxmlformats.org/officeDocument/2006/relationships/slide" Target="slides/slide125.xml"/><Relationship Id="rId130" Type="http://schemas.openxmlformats.org/officeDocument/2006/relationships/slide" Target="slides/slide124.xml"/><Relationship Id="rId136" Type="http://schemas.openxmlformats.org/officeDocument/2006/relationships/slide" Target="slides/slide130.xml"/><Relationship Id="rId135" Type="http://schemas.openxmlformats.org/officeDocument/2006/relationships/slide" Target="slides/slide129.xml"/><Relationship Id="rId134" Type="http://schemas.openxmlformats.org/officeDocument/2006/relationships/slide" Target="slides/slide128.xml"/><Relationship Id="rId133" Type="http://schemas.openxmlformats.org/officeDocument/2006/relationships/slide" Target="slides/slide127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172" Type="http://schemas.openxmlformats.org/officeDocument/2006/relationships/font" Target="fonts/MontserratMedium-bold.fntdata"/><Relationship Id="rId65" Type="http://schemas.openxmlformats.org/officeDocument/2006/relationships/slide" Target="slides/slide59.xml"/><Relationship Id="rId171" Type="http://schemas.openxmlformats.org/officeDocument/2006/relationships/font" Target="fonts/MontserratMedium-regular.fntdata"/><Relationship Id="rId68" Type="http://schemas.openxmlformats.org/officeDocument/2006/relationships/slide" Target="slides/slide62.xml"/><Relationship Id="rId170" Type="http://schemas.openxmlformats.org/officeDocument/2006/relationships/font" Target="fonts/Montserrat-boldItalic.fntdata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165" Type="http://schemas.openxmlformats.org/officeDocument/2006/relationships/font" Target="fonts/Roboto-italic.fntdata"/><Relationship Id="rId69" Type="http://schemas.openxmlformats.org/officeDocument/2006/relationships/slide" Target="slides/slide63.xml"/><Relationship Id="rId164" Type="http://schemas.openxmlformats.org/officeDocument/2006/relationships/font" Target="fonts/Roboto-bold.fntdata"/><Relationship Id="rId163" Type="http://schemas.openxmlformats.org/officeDocument/2006/relationships/font" Target="fonts/Roboto-regular.fntdata"/><Relationship Id="rId162" Type="http://schemas.openxmlformats.org/officeDocument/2006/relationships/font" Target="fonts/SpaceMono-boldItalic.fntdata"/><Relationship Id="rId169" Type="http://schemas.openxmlformats.org/officeDocument/2006/relationships/font" Target="fonts/Montserrat-italic.fntdata"/><Relationship Id="rId168" Type="http://schemas.openxmlformats.org/officeDocument/2006/relationships/font" Target="fonts/Montserrat-bold.fntdata"/><Relationship Id="rId167" Type="http://schemas.openxmlformats.org/officeDocument/2006/relationships/font" Target="fonts/Montserrat-regular.fntdata"/><Relationship Id="rId166" Type="http://schemas.openxmlformats.org/officeDocument/2006/relationships/font" Target="fonts/Roboto-boldItalic.fntdata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161" Type="http://schemas.openxmlformats.org/officeDocument/2006/relationships/font" Target="fonts/SpaceMono-italic.fntdata"/><Relationship Id="rId54" Type="http://schemas.openxmlformats.org/officeDocument/2006/relationships/slide" Target="slides/slide48.xml"/><Relationship Id="rId160" Type="http://schemas.openxmlformats.org/officeDocument/2006/relationships/font" Target="fonts/SpaceMono-bold.fntdata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159" Type="http://schemas.openxmlformats.org/officeDocument/2006/relationships/font" Target="fonts/SpaceMono-regular.fntdata"/><Relationship Id="rId59" Type="http://schemas.openxmlformats.org/officeDocument/2006/relationships/slide" Target="slides/slide53.xml"/><Relationship Id="rId154" Type="http://schemas.openxmlformats.org/officeDocument/2006/relationships/slide" Target="slides/slide148.xml"/><Relationship Id="rId58" Type="http://schemas.openxmlformats.org/officeDocument/2006/relationships/slide" Target="slides/slide52.xml"/><Relationship Id="rId153" Type="http://schemas.openxmlformats.org/officeDocument/2006/relationships/slide" Target="slides/slide147.xml"/><Relationship Id="rId152" Type="http://schemas.openxmlformats.org/officeDocument/2006/relationships/slide" Target="slides/slide146.xml"/><Relationship Id="rId151" Type="http://schemas.openxmlformats.org/officeDocument/2006/relationships/slide" Target="slides/slide145.xml"/><Relationship Id="rId158" Type="http://schemas.openxmlformats.org/officeDocument/2006/relationships/slide" Target="slides/slide152.xml"/><Relationship Id="rId157" Type="http://schemas.openxmlformats.org/officeDocument/2006/relationships/slide" Target="slides/slide151.xml"/><Relationship Id="rId156" Type="http://schemas.openxmlformats.org/officeDocument/2006/relationships/slide" Target="slides/slide150.xml"/><Relationship Id="rId155" Type="http://schemas.openxmlformats.org/officeDocument/2006/relationships/slide" Target="slides/slide149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596c9e71e9_0_7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596c9e71e9_0_7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596c9e71e9_0_7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1596c9e71e9_0_7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596c9e71e9_0_8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1596c9e71e9_0_8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596c9e71e9_0_8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1596c9e71e9_0_8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596c9e71e9_0_8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1596c9e71e9_0_8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596c9e71e9_0_8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1596c9e71e9_0_8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1596c9e71e9_0_9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1596c9e71e9_0_9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1596c9e71e9_0_9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1596c9e71e9_0_9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1596c9e71e9_0_9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1596c9e71e9_0_9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1596c9e71e9_0_10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1596c9e71e9_0_10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1596c9e71e9_0_10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1596c9e71e9_0_10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1596c9e71e9_0_10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1596c9e71e9_0_10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1596c9e71e9_0_10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1596c9e71e9_0_10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1596c9e71e9_0_10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1596c9e71e9_0_10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1596c9e71e9_0_1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1596c9e71e9_0_1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1596c9e71e9_0_1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1596c9e71e9_0_1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1596c9e71e9_0_1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1596c9e71e9_0_1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1596c9e71e9_0_1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1596c9e71e9_0_1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1596c9e71e9_0_1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1596c9e71e9_0_1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1596c9e71e9_0_1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1596c9e71e9_0_1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1596c9e71e9_0_1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1596c9e71e9_0_1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1596c9e71e9_0_1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1596c9e71e9_0_1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1596c9e71e9_0_1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1596c9e71e9_0_1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1596c9e71e9_0_1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1596c9e71e9_0_1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1596c9e71e9_0_13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1596c9e71e9_0_1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1596c9e71e9_0_13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1596c9e71e9_0_1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1596c9e71e9_0_13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1596c9e71e9_0_13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1596c9e71e9_0_1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1596c9e71e9_0_1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1596c9e71e9_0_13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1596c9e71e9_0_1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1596c9e71e9_0_13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1596c9e71e9_0_13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1596c9e71e9_0_13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1596c9e71e9_0_13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1596c9e71e9_0_14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1596c9e71e9_0_1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1596c9e71e9_0_1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4" name="Google Shape;564;g1596c9e71e9_0_1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1596c9e71e9_0_14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1596c9e71e9_0_14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1157cc4e87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1157cc4e87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1143c782e42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" name="Google Shape;586;g1143c782e42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1157cc4e873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5" name="Google Shape;595;g1157cc4e873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1157cc4e873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" name="Google Shape;607;g1157cc4e873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1157cc4e873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1157cc4e873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1157fb8223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3" name="Google Shape;623;g1157fb8223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3898b6d278a_8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1" name="Google Shape;631;g3898b6d278a_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3898b6d278a_8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3898b6d278a_8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389c9a5f26e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7" name="Google Shape;647;g389c9a5f26e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1144eb7f80d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5" name="Google Shape;655;g1144eb7f80d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1144eb7f80d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g1144eb7f80d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1144eb7f80d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0" name="Google Shape;670;g1144eb7f80d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1144eb7f80d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8" name="Google Shape;678;g1144eb7f80d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1396c4996c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2" name="Google Shape;712;g1396c4996c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3b5ab2dae3a_4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0" name="Google Shape;720;g3b5ab2dae3a_4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g1396c4996c7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8" name="Google Shape;728;g1396c4996c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1157fb82238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6" name="Google Shape;736;g1157fb82238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89c9a5f26e_1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4" name="Google Shape;744;g389c9a5f26e_1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3d791604a60_5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3d791604a60_5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3d791604a60_5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3d791604a60_5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3d791604a60_5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9" name="Google Shape;779;g3d791604a60_5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g3d258e59b79_2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9" name="Google Shape;789;g3d258e59b79_2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g1157fb82238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6" name="Google Shape;796;g1157fb8223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1158e020b13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4" name="Google Shape;804;g1158e020b13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1143c782e42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2" name="Google Shape;812;g1143c782e42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11559c06ed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0" name="Google Shape;830;g11559c06ed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1157cc4e87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8" name="Google Shape;838;g1157cc4e87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d1efaa86f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5" name="Google Shape;845;gd1efaa86f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gd1efaa86f9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3" name="Google Shape;853;gd1efaa86f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g1143c782e42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0" name="Google Shape;860;g1143c782e42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1147c73b64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0" name="Google Shape;870;g1147c73b64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g1157cc4e873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1" name="Google Shape;901;g1157cc4e873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g3a8c6934b2e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9" name="Google Shape;909;g3a8c6934b2e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g1147c73b645_1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9" name="Google Shape;919;g1147c73b645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g1147c73b645_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6" name="Google Shape;926;g1147c73b645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g1147c73b645_1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4" name="Google Shape;934;g1147c73b645_1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g115e0125cc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2" name="Google Shape;942;g115e0125cc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g115e0125cc1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9" name="Google Shape;949;g115e0125cc1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g115e0125cc1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7" name="Google Shape;957;g115e0125cc1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g115e0125cc1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5" name="Google Shape;965;g115e0125cc1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g115e0125cc1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3" name="Google Shape;973;g115e0125cc1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g115e0125cc1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1" name="Google Shape;981;g115e0125cc1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g115e0125cc1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9" name="Google Shape;989;g115e0125cc1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g115e0125cc1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7" name="Google Shape;997;g115e0125cc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g1148e02fbc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5" name="Google Shape;1005;g1148e02fbc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g38a1b6f84f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2" name="Google Shape;1012;g38a1b6f84f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g38a1b6f84f0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0" name="Google Shape;1020;g38a1b6f84f0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8a1b6f84f0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8a1b6f84f0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g1148e02fbc4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6" name="Google Shape;1036;g1148e02fbc4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g3e79132664e_9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4" name="Google Shape;1044;g3e79132664e_9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g1160266288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2" name="Google Shape;1052;g1160266288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g1160266288c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9" name="Google Shape;1059;g1160266288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g38ca9f0a35a_17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7" name="Google Shape;1067;g38ca9f0a35a_17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g38ca9f0a35a_17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5" name="Google Shape;1075;g38ca9f0a35a_17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g38ca9f0a35a_17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3" name="Google Shape;1083;g38ca9f0a35a_17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g38ca9f0a35a_17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1" name="Google Shape;1091;g38ca9f0a35a_17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g1160266288c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9" name="Google Shape;1099;g1160266288c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g38ca9f0a35a_17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7" name="Google Shape;1107;g38ca9f0a35a_17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g38ca9f0a35a_17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5" name="Google Shape;1115;g38ca9f0a35a_17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g38ca9f0a35a_17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3" name="Google Shape;1123;g38ca9f0a35a_17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38ca9f0a35a_17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1" name="Google Shape;1131;g38ca9f0a35a_17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g38ca9f0a35a_17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9" name="Google Shape;1139;g38ca9f0a35a_17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g38ca9f0a35a_1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7" name="Google Shape;1147;g38ca9f0a35a_1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g38ca9f0a35a_17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4" name="Google Shape;1154;g38ca9f0a35a_17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g38ca9f0a35a_17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2" name="Google Shape;1162;g38ca9f0a35a_17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8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g114923c7971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0" name="Google Shape;1170;g114923c7971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g114923c7971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7" name="Google Shape;1177;g114923c7971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g114923c7971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5" name="Google Shape;1185;g114923c7971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g116338b988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3" name="Google Shape;1193;g116338b988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g116338b988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0" name="Google Shape;1200;g116338b988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6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g116338b988c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8" name="Google Shape;1208;g116338b988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4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g3e69f0b9cf0_5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6" name="Google Shape;1216;g3e69f0b9cf0_5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g3d91414d612_39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3" name="Google Shape;1223;g3d91414d612_39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0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g3d91414d612_39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2" name="Google Shape;1232;g3d91414d612_39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g3d91414d612_39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3" name="Google Shape;1243;g3d91414d612_39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g3e79132664e_9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3" name="Google Shape;1253;g3e79132664e_9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g3d91414d612_39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0" name="Google Shape;1260;g3d91414d612_3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8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g3d91414d612_39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0" name="Google Shape;1270;g3d91414d612_39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9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Google Shape;1280;g3d91414d612_39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1" name="Google Shape;1281;g3d91414d612_39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9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g3e7aef55994_15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1" name="Google Shape;1291;g3e7aef55994_15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6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Google Shape;1297;g3e648c21d9e_3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8" name="Google Shape;1298;g3e648c21d9e_3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6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Google Shape;1307;g3e648c21d9e_3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8" name="Google Shape;1308;g3e648c21d9e_3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6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Google Shape;1317;g3e648c21d9e_3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8" name="Google Shape;1318;g3e648c21d9e_3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g3e7aef55994_1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8" name="Google Shape;1328;g3e7aef55994_1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6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Google Shape;1337;g3e648c21d9e_3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8" name="Google Shape;1338;g3e648c21d9e_3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3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g3e648c21d9e_3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5" name="Google Shape;1345;g3e648c21d9e_3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3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g3e10c5d0cc6_3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5" name="Google Shape;1355;g3e10c5d0cc6_3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3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Google Shape;1364;g3e648c21d9e_3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5" name="Google Shape;1365;g3e648c21d9e_3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3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Google Shape;1374;g3e648c21d9e_3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5" name="Google Shape;1375;g3e648c21d9e_3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5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g3e0aeaf6b53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7" name="Google Shape;1387;g3e0aeaf6b5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5" name="Shape 1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Google Shape;1396;g3e648c21d9e_3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7" name="Google Shape;1397;g3e648c21d9e_3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5" name="Shape 1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6" name="Google Shape;1406;g3d91414d612_39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7" name="Google Shape;1407;g3d91414d612_39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5" name="Shape 1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Google Shape;1416;g3e648c21d9e_3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7" name="Google Shape;1417;g3e648c21d9e_3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5" name="Shape 1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6" name="Google Shape;1426;g3e648c21d9e_3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7" name="Google Shape;1427;g3e648c21d9e_3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6" name="Shape 1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" name="Google Shape;1437;g3d91414d612_39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8" name="Google Shape;1438;g3d91414d612_39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6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" name="Google Shape;1447;g3e2d30b1296_2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8" name="Google Shape;1448;g3e2d30b1296_2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g3e648c21d9e_3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8" name="Google Shape;1458;g3e648c21d9e_3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6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7" name="Google Shape;1467;g3e2d30b1296_27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8" name="Google Shape;1468;g3e2d30b1296_27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7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" name="Google Shape;1478;g3877acba583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9" name="Google Shape;1479;g3877acba583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4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Google Shape;1485;g3877acba583_3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6" name="Google Shape;1486;g3877acba583_3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3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g3877acba583_3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5" name="Google Shape;1495;g3877acba583_3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1" name="Shape 1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" name="Google Shape;1502;g3877acba583_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3" name="Google Shape;1503;g3877acba583_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8" name="Shape 1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" name="Google Shape;1509;g3877acba583_7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0" name="Google Shape;1510;g3877acba583_7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8" name="Shape 1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9" name="Google Shape;1519;g3877acba583_7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0" name="Google Shape;1520;g3877acba583_7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8" name="Shape 1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9" name="Google Shape;1529;g3877acba583_7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0" name="Google Shape;1530;g3877acba583_7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8" name="Shape 1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" name="Google Shape;1539;g3877acba583_7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0" name="Google Shape;1540;g3877acba583_7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8" name="Shape 1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" name="Google Shape;1549;g3877acba583_1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0" name="Google Shape;1550;g3877acba583_1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9" name="Shape 1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0" name="Google Shape;1560;g3877acba583_2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1" name="Google Shape;1561;g3877acba583_2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9" name="Shape 1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0" name="Google Shape;1570;g155144a08d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1" name="Google Shape;1571;g155144a08d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6" name="Shape 1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" name="Google Shape;1577;g28b4d685c1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8" name="Google Shape;1578;g28b4d685c1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3" name="Shape 1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4" name="Google Shape;1584;g28b4d685c1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5" name="Google Shape;1585;g28b4d685c1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5" name="Shape 1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6" name="Google Shape;1596;g2afb83c130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7" name="Google Shape;1597;g2afb83c130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3" name="Shape 1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4" name="Google Shape;1604;g2afb83c130e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5" name="Google Shape;1605;g2afb83c130e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2" name="Shape 1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3" name="Google Shape;1613;g2afb83c130e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4" name="Google Shape;1614;g2afb83c130e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1" name="Shape 1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2" name="Google Shape;1622;g3d791604a60_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3" name="Google Shape;1623;g3d791604a60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1" name="Shape 1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2" name="Google Shape;1632;g38e81beea43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3" name="Google Shape;1633;g38e81beea43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8" name="Shape 1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" name="Google Shape;1639;g38e81beea4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0" name="Google Shape;1640;g38e81beea4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0.png"/><Relationship Id="rId4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0.png"/><Relationship Id="rId4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11" Type="http://schemas.openxmlformats.org/officeDocument/2006/relationships/image" Target="../media/image3.png"/><Relationship Id="rId10" Type="http://schemas.openxmlformats.org/officeDocument/2006/relationships/image" Target="../media/image2.png"/><Relationship Id="rId9" Type="http://schemas.openxmlformats.org/officeDocument/2006/relationships/image" Target="../media/image8.png"/><Relationship Id="rId5" Type="http://schemas.openxmlformats.org/officeDocument/2006/relationships/image" Target="../media/image1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5.png"/><Relationship Id="rId4" Type="http://schemas.openxmlformats.org/officeDocument/2006/relationships/image" Target="../media/image24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6.png"/><Relationship Id="rId4" Type="http://schemas.openxmlformats.org/officeDocument/2006/relationships/image" Target="../media/image2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7.png"/><Relationship Id="rId4" Type="http://schemas.openxmlformats.org/officeDocument/2006/relationships/image" Target="../media/image28.png"/><Relationship Id="rId5" Type="http://schemas.openxmlformats.org/officeDocument/2006/relationships/image" Target="../media/image2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7.png"/><Relationship Id="rId4" Type="http://schemas.openxmlformats.org/officeDocument/2006/relationships/image" Target="../media/image20.png"/><Relationship Id="rId5" Type="http://schemas.openxmlformats.org/officeDocument/2006/relationships/image" Target="../media/image26.png"/><Relationship Id="rId6" Type="http://schemas.openxmlformats.org/officeDocument/2006/relationships/image" Target="../media/image31.png"/><Relationship Id="rId7" Type="http://schemas.openxmlformats.org/officeDocument/2006/relationships/image" Target="../media/image3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7.png"/><Relationship Id="rId4" Type="http://schemas.openxmlformats.org/officeDocument/2006/relationships/image" Target="../media/image20.png"/><Relationship Id="rId5" Type="http://schemas.openxmlformats.org/officeDocument/2006/relationships/image" Target="../media/image33.png"/><Relationship Id="rId6" Type="http://schemas.openxmlformats.org/officeDocument/2006/relationships/image" Target="../media/image29.png"/><Relationship Id="rId7" Type="http://schemas.openxmlformats.org/officeDocument/2006/relationships/image" Target="../media/image3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4.png"/><Relationship Id="rId4" Type="http://schemas.openxmlformats.org/officeDocument/2006/relationships/image" Target="../media/image50.png"/><Relationship Id="rId5" Type="http://schemas.openxmlformats.org/officeDocument/2006/relationships/image" Target="../media/image34.png"/><Relationship Id="rId6" Type="http://schemas.openxmlformats.org/officeDocument/2006/relationships/image" Target="../media/image32.png"/><Relationship Id="rId7" Type="http://schemas.openxmlformats.org/officeDocument/2006/relationships/image" Target="../media/image39.png"/><Relationship Id="rId8" Type="http://schemas.openxmlformats.org/officeDocument/2006/relationships/image" Target="../media/image3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0.png"/><Relationship Id="rId4" Type="http://schemas.openxmlformats.org/officeDocument/2006/relationships/image" Target="../media/image65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0.png"/><Relationship Id="rId4" Type="http://schemas.openxmlformats.org/officeDocument/2006/relationships/image" Target="../media/image40.png"/><Relationship Id="rId5" Type="http://schemas.openxmlformats.org/officeDocument/2006/relationships/image" Target="../media/image45.png"/><Relationship Id="rId6" Type="http://schemas.openxmlformats.org/officeDocument/2006/relationships/image" Target="../media/image4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0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0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0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0.png"/><Relationship Id="rId4" Type="http://schemas.openxmlformats.org/officeDocument/2006/relationships/image" Target="../media/image6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0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64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0.png"/><Relationship Id="rId4" Type="http://schemas.openxmlformats.org/officeDocument/2006/relationships/image" Target="../media/image60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0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0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0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30.png"/><Relationship Id="rId4" Type="http://schemas.openxmlformats.org/officeDocument/2006/relationships/hyperlink" Target="http://altimate.ai" TargetMode="Externa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30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30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30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30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30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30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30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30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30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30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30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30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30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30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30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30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30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30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30.pn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30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30.pn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30.pn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30.pn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30.pn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30.png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30.pn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30.pn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30.pn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30.png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30.png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30.png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9.xml"/><Relationship Id="rId3" Type="http://schemas.openxmlformats.org/officeDocument/2006/relationships/image" Target="../media/image30.png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30.png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30.png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30.png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30.png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6.xml"/><Relationship Id="rId3" Type="http://schemas.openxmlformats.org/officeDocument/2006/relationships/image" Target="../media/image30.png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8.xml"/><Relationship Id="rId3" Type="http://schemas.openxmlformats.org/officeDocument/2006/relationships/image" Target="../media/image30.png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9.xml"/><Relationship Id="rId3" Type="http://schemas.openxmlformats.org/officeDocument/2006/relationships/image" Target="../media/image30.png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0.xml"/><Relationship Id="rId3" Type="http://schemas.openxmlformats.org/officeDocument/2006/relationships/image" Target="../media/image30.png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2.xml"/><Relationship Id="rId3" Type="http://schemas.openxmlformats.org/officeDocument/2006/relationships/image" Target="../media/image30.png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3.xml"/><Relationship Id="rId3" Type="http://schemas.openxmlformats.org/officeDocument/2006/relationships/image" Target="../media/image30.png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4.xml"/><Relationship Id="rId3" Type="http://schemas.openxmlformats.org/officeDocument/2006/relationships/image" Target="../media/image30.png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6.xml"/><Relationship Id="rId3" Type="http://schemas.openxmlformats.org/officeDocument/2006/relationships/image" Target="../media/image30.png"/><Relationship Id="rId4" Type="http://schemas.openxmlformats.org/officeDocument/2006/relationships/image" Target="../media/image51.png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7.xml"/><Relationship Id="rId3" Type="http://schemas.openxmlformats.org/officeDocument/2006/relationships/image" Target="../media/image30.png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8.xml"/><Relationship Id="rId3" Type="http://schemas.openxmlformats.org/officeDocument/2006/relationships/image" Target="../media/image30.png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9.xml"/><Relationship Id="rId3" Type="http://schemas.openxmlformats.org/officeDocument/2006/relationships/image" Target="../media/image30.png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1.xml"/><Relationship Id="rId3" Type="http://schemas.openxmlformats.org/officeDocument/2006/relationships/image" Target="../media/image30.png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2.xml"/><Relationship Id="rId3" Type="http://schemas.openxmlformats.org/officeDocument/2006/relationships/image" Target="../media/image30.png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3.xml"/><Relationship Id="rId3" Type="http://schemas.openxmlformats.org/officeDocument/2006/relationships/image" Target="../media/image30.png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4.xml"/><Relationship Id="rId3" Type="http://schemas.openxmlformats.org/officeDocument/2006/relationships/image" Target="../media/image30.png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5.xml"/><Relationship Id="rId3" Type="http://schemas.openxmlformats.org/officeDocument/2006/relationships/image" Target="../media/image30.png"/></Relationships>
</file>

<file path=ppt/slides/_rels/slide1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6.xml"/><Relationship Id="rId3" Type="http://schemas.openxmlformats.org/officeDocument/2006/relationships/image" Target="../media/image30.png"/></Relationships>
</file>

<file path=ppt/slides/_rels/slide1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7.xml"/><Relationship Id="rId3" Type="http://schemas.openxmlformats.org/officeDocument/2006/relationships/image" Target="../media/image30.png"/></Relationships>
</file>

<file path=ppt/slides/_rels/slide1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8.xml"/><Relationship Id="rId3" Type="http://schemas.openxmlformats.org/officeDocument/2006/relationships/image" Target="../media/image30.png"/></Relationships>
</file>

<file path=ppt/slides/_rels/slide1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9.xml"/><Relationship Id="rId3" Type="http://schemas.openxmlformats.org/officeDocument/2006/relationships/image" Target="../media/image30.png"/></Relationships>
</file>

<file path=ppt/slides/_rels/slide1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0.xml"/><Relationship Id="rId3" Type="http://schemas.openxmlformats.org/officeDocument/2006/relationships/image" Target="../media/image30.png"/></Relationships>
</file>

<file path=ppt/slides/_rels/slide1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1.xml"/><Relationship Id="rId3" Type="http://schemas.openxmlformats.org/officeDocument/2006/relationships/image" Target="../media/image30.png"/><Relationship Id="rId4" Type="http://schemas.openxmlformats.org/officeDocument/2006/relationships/image" Target="../media/image42.png"/></Relationships>
</file>

<file path=ppt/slides/_rels/slide1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2.xml"/><Relationship Id="rId3" Type="http://schemas.openxmlformats.org/officeDocument/2006/relationships/image" Target="../media/image30.png"/></Relationships>
</file>

<file path=ppt/slides/_rels/slide1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3.xml"/><Relationship Id="rId3" Type="http://schemas.openxmlformats.org/officeDocument/2006/relationships/image" Target="../media/image30.png"/><Relationship Id="rId4" Type="http://schemas.openxmlformats.org/officeDocument/2006/relationships/image" Target="../media/image63.png"/></Relationships>
</file>

<file path=ppt/slides/_rels/slide1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5.xml"/><Relationship Id="rId3" Type="http://schemas.openxmlformats.org/officeDocument/2006/relationships/image" Target="../media/image30.png"/><Relationship Id="rId4" Type="http://schemas.openxmlformats.org/officeDocument/2006/relationships/image" Target="../media/image47.gif"/></Relationships>
</file>

<file path=ppt/slides/_rels/slide1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6.xml"/><Relationship Id="rId3" Type="http://schemas.openxmlformats.org/officeDocument/2006/relationships/image" Target="../media/image30.png"/></Relationships>
</file>

<file path=ppt/slides/_rels/slide1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8.xml"/><Relationship Id="rId3" Type="http://schemas.openxmlformats.org/officeDocument/2006/relationships/image" Target="../media/image30.png"/><Relationship Id="rId4" Type="http://schemas.openxmlformats.org/officeDocument/2006/relationships/hyperlink" Target="https://docs.getdbt.com/blog/faster-project-parsing-with-rust" TargetMode="External"/><Relationship Id="rId5" Type="http://schemas.openxmlformats.org/officeDocument/2006/relationships/image" Target="../media/image58.png"/></Relationships>
</file>

<file path=ppt/slides/_rels/slide1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9.xml"/><Relationship Id="rId3" Type="http://schemas.openxmlformats.org/officeDocument/2006/relationships/image" Target="../media/image30.png"/><Relationship Id="rId4" Type="http://schemas.openxmlformats.org/officeDocument/2006/relationships/image" Target="../media/image57.png"/><Relationship Id="rId5" Type="http://schemas.openxmlformats.org/officeDocument/2006/relationships/hyperlink" Target="https://docs.getdbt.com/blog/faster-project-parsing-with-rust" TargetMode="External"/></Relationships>
</file>

<file path=ppt/slides/_rels/slide1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0.xml"/><Relationship Id="rId3" Type="http://schemas.openxmlformats.org/officeDocument/2006/relationships/image" Target="../media/image30.png"/><Relationship Id="rId4" Type="http://schemas.openxmlformats.org/officeDocument/2006/relationships/hyperlink" Target="https://docs.getdbt.com/blog/faster-project-parsing-with-rust" TargetMode="External"/><Relationship Id="rId5" Type="http://schemas.openxmlformats.org/officeDocument/2006/relationships/image" Target="../media/image48.png"/></Relationships>
</file>

<file path=ppt/slides/_rels/slide1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1.xml"/><Relationship Id="rId3" Type="http://schemas.openxmlformats.org/officeDocument/2006/relationships/image" Target="../media/image30.png"/><Relationship Id="rId4" Type="http://schemas.openxmlformats.org/officeDocument/2006/relationships/hyperlink" Target="https://docs.getdbt.com/blog/faster-project-parsing-with-rust" TargetMode="External"/><Relationship Id="rId5" Type="http://schemas.openxmlformats.org/officeDocument/2006/relationships/image" Target="../media/image52.png"/></Relationships>
</file>

<file path=ppt/slides/_rels/slide1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2.xml"/><Relationship Id="rId3" Type="http://schemas.openxmlformats.org/officeDocument/2006/relationships/image" Target="../media/image30.png"/><Relationship Id="rId4" Type="http://schemas.openxmlformats.org/officeDocument/2006/relationships/hyperlink" Target="https://www.getdbt.com/licenses-faq" TargetMode="External"/></Relationships>
</file>

<file path=ppt/slides/_rels/slide1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3.xml"/><Relationship Id="rId3" Type="http://schemas.openxmlformats.org/officeDocument/2006/relationships/image" Target="../media/image30.png"/></Relationships>
</file>

<file path=ppt/slides/_rels/slide1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/Relationships>
</file>

<file path=ppt/slides/_rels/slide1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6.xml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3.png"/><Relationship Id="rId6" Type="http://schemas.openxmlformats.org/officeDocument/2006/relationships/image" Target="../media/image59.png"/><Relationship Id="rId7" Type="http://schemas.openxmlformats.org/officeDocument/2006/relationships/image" Target="../media/image62.png"/></Relationships>
</file>

<file path=ppt/slides/_rels/slide1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7.xml"/><Relationship Id="rId3" Type="http://schemas.openxmlformats.org/officeDocument/2006/relationships/image" Target="../media/image67.png"/></Relationships>
</file>

<file path=ppt/slides/_rels/slide1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8.xml"/><Relationship Id="rId3" Type="http://schemas.openxmlformats.org/officeDocument/2006/relationships/image" Target="../media/image54.png"/><Relationship Id="rId4" Type="http://schemas.openxmlformats.org/officeDocument/2006/relationships/image" Target="../media/image56.png"/></Relationships>
</file>

<file path=ppt/slides/_rels/slide1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9.xml"/><Relationship Id="rId3" Type="http://schemas.openxmlformats.org/officeDocument/2006/relationships/image" Target="../media/image54.png"/><Relationship Id="rId4" Type="http://schemas.openxmlformats.org/officeDocument/2006/relationships/image" Target="../media/image66.png"/></Relationships>
</file>

<file path=ppt/slides/_rels/slide1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0.xml"/><Relationship Id="rId3" Type="http://schemas.openxmlformats.org/officeDocument/2006/relationships/image" Target="../media/image30.png"/><Relationship Id="rId4" Type="http://schemas.openxmlformats.org/officeDocument/2006/relationships/hyperlink" Target="https://share.nordquant.com/dbt-airstats-solutions.zip" TargetMode="External"/><Relationship Id="rId5" Type="http://schemas.openxmlformats.org/officeDocument/2006/relationships/hyperlink" Target="http://dbtsetup.nordquant.com" TargetMode="External"/></Relationships>
</file>

<file path=ppt/slides/_rels/slide1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/Relationships>
</file>

<file path=ppt/slides/_rels/slide1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0"/>
            <a:ext cx="9144000" cy="4471500"/>
          </a:xfrm>
          <a:prstGeom prst="rect">
            <a:avLst/>
          </a:prstGeom>
          <a:solidFill>
            <a:srgbClr val="ED68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5859966" y="738256"/>
            <a:ext cx="18282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0">
                <a:solidFill>
                  <a:srgbClr val="FD927D"/>
                </a:solidFill>
              </a:rPr>
              <a:t>#</a:t>
            </a:r>
            <a:endParaRPr sz="20000">
              <a:solidFill>
                <a:srgbClr val="FD927D"/>
              </a:solidFill>
            </a:endParaRPr>
          </a:p>
        </p:txBody>
      </p:sp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1996100"/>
            <a:ext cx="8520600" cy="9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538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Course Introduction</a:t>
            </a:r>
            <a:endParaRPr b="1" sz="5380">
              <a:solidFill>
                <a:schemeClr val="lt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223" y="416325"/>
            <a:ext cx="3551200" cy="366985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/>
          <p:nvPr>
            <p:ph type="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OBJECTIVES</a:t>
            </a:r>
            <a:endParaRPr b="1" sz="3200">
              <a:solidFill>
                <a:srgbClr val="ED684E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429850" y="1397425"/>
            <a:ext cx="8402700" cy="29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Data-maturity model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dbt and  data architectures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Data warehouses, data lakes, and lakehouses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ETL and ELT procedures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dbt fundamentals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Analytics Engineering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4" name="Google Shape;64;p14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oogle Shape;69;p15"/>
          <p:cNvGrpSpPr/>
          <p:nvPr/>
        </p:nvGrpSpPr>
        <p:grpSpPr>
          <a:xfrm>
            <a:off x="5151700" y="3086060"/>
            <a:ext cx="2469661" cy="1384500"/>
            <a:chOff x="6038025" y="2598925"/>
            <a:chExt cx="2469661" cy="1384500"/>
          </a:xfrm>
        </p:grpSpPr>
        <p:cxnSp>
          <p:nvCxnSpPr>
            <p:cNvPr id="70" name="Google Shape;70;p15"/>
            <p:cNvCxnSpPr/>
            <p:nvPr/>
          </p:nvCxnSpPr>
          <p:spPr>
            <a:xfrm>
              <a:off x="6038025" y="3312550"/>
              <a:ext cx="582000" cy="0"/>
            </a:xfrm>
            <a:prstGeom prst="straightConnector1">
              <a:avLst/>
            </a:prstGeom>
            <a:noFill/>
            <a:ln cap="flat" cmpd="sng" w="9525">
              <a:solidFill>
                <a:srgbClr val="C2C2C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1" name="Google Shape;71;p15"/>
            <p:cNvSpPr txBox="1"/>
            <p:nvPr/>
          </p:nvSpPr>
          <p:spPr>
            <a:xfrm>
              <a:off x="6640486" y="2598925"/>
              <a:ext cx="1867200" cy="138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latin typeface="Roboto"/>
                  <a:ea typeface="Roboto"/>
                  <a:cs typeface="Roboto"/>
                  <a:sym typeface="Roboto"/>
                </a:rPr>
                <a:t>Project</a:t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2" name="Google Shape;72;p15"/>
            <p:cNvSpPr/>
            <p:nvPr/>
          </p:nvSpPr>
          <p:spPr>
            <a:xfrm>
              <a:off x="6424027" y="3212150"/>
              <a:ext cx="198600" cy="198300"/>
            </a:xfrm>
            <a:prstGeom prst="ellipse">
              <a:avLst/>
            </a:pr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5"/>
            <p:cNvSpPr txBox="1"/>
            <p:nvPr/>
          </p:nvSpPr>
          <p:spPr>
            <a:xfrm>
              <a:off x="6399017" y="3156109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4" name="Google Shape;74;p15"/>
          <p:cNvGrpSpPr/>
          <p:nvPr/>
        </p:nvGrpSpPr>
        <p:grpSpPr>
          <a:xfrm>
            <a:off x="643046" y="2192728"/>
            <a:ext cx="2994729" cy="1384500"/>
            <a:chOff x="636321" y="1844098"/>
            <a:chExt cx="2994729" cy="1384500"/>
          </a:xfrm>
        </p:grpSpPr>
        <p:sp>
          <p:nvSpPr>
            <p:cNvPr id="75" name="Google Shape;75;p15"/>
            <p:cNvSpPr txBox="1"/>
            <p:nvPr/>
          </p:nvSpPr>
          <p:spPr>
            <a:xfrm>
              <a:off x="636321" y="1844098"/>
              <a:ext cx="1867200" cy="138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latin typeface="Roboto"/>
                  <a:ea typeface="Roboto"/>
                  <a:cs typeface="Roboto"/>
                  <a:sym typeface="Roboto"/>
                </a:rPr>
                <a:t>Practice</a:t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76" name="Google Shape;76;p15"/>
            <p:cNvCxnSpPr/>
            <p:nvPr/>
          </p:nvCxnSpPr>
          <p:spPr>
            <a:xfrm rot="10800000">
              <a:off x="2587350" y="2536350"/>
              <a:ext cx="1043700" cy="0"/>
            </a:xfrm>
            <a:prstGeom prst="straightConnector1">
              <a:avLst/>
            </a:prstGeom>
            <a:noFill/>
            <a:ln cap="flat" cmpd="sng" w="9525">
              <a:solidFill>
                <a:srgbClr val="C2C2C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7" name="Google Shape;77;p15"/>
            <p:cNvSpPr/>
            <p:nvPr/>
          </p:nvSpPr>
          <p:spPr>
            <a:xfrm>
              <a:off x="2523501" y="2431050"/>
              <a:ext cx="198600" cy="198300"/>
            </a:xfrm>
            <a:prstGeom prst="ellipse">
              <a:avLst/>
            </a:prstGeom>
            <a:solidFill>
              <a:srgbClr val="4141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5"/>
            <p:cNvSpPr txBox="1"/>
            <p:nvPr/>
          </p:nvSpPr>
          <p:spPr>
            <a:xfrm>
              <a:off x="2498491" y="2373759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9" name="Google Shape;79;p15"/>
          <p:cNvGrpSpPr/>
          <p:nvPr/>
        </p:nvGrpSpPr>
        <p:grpSpPr>
          <a:xfrm>
            <a:off x="4908100" y="841645"/>
            <a:ext cx="3599586" cy="1384500"/>
            <a:chOff x="4908100" y="889950"/>
            <a:chExt cx="3599586" cy="1384500"/>
          </a:xfrm>
        </p:grpSpPr>
        <p:cxnSp>
          <p:nvCxnSpPr>
            <p:cNvPr id="80" name="Google Shape;80;p15"/>
            <p:cNvCxnSpPr/>
            <p:nvPr/>
          </p:nvCxnSpPr>
          <p:spPr>
            <a:xfrm>
              <a:off x="4908100" y="1593250"/>
              <a:ext cx="1715100" cy="0"/>
            </a:xfrm>
            <a:prstGeom prst="straightConnector1">
              <a:avLst/>
            </a:prstGeom>
            <a:noFill/>
            <a:ln cap="flat" cmpd="sng" w="9525">
              <a:solidFill>
                <a:srgbClr val="C2C2C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1" name="Google Shape;81;p15"/>
            <p:cNvSpPr txBox="1"/>
            <p:nvPr/>
          </p:nvSpPr>
          <p:spPr>
            <a:xfrm>
              <a:off x="6640486" y="889950"/>
              <a:ext cx="1867200" cy="138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latin typeface="Roboto"/>
                  <a:ea typeface="Roboto"/>
                  <a:cs typeface="Roboto"/>
                  <a:sym typeface="Roboto"/>
                </a:rPr>
                <a:t>Theory</a:t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2" name="Google Shape;82;p15"/>
            <p:cNvSpPr/>
            <p:nvPr/>
          </p:nvSpPr>
          <p:spPr>
            <a:xfrm>
              <a:off x="6427830" y="1493307"/>
              <a:ext cx="198600" cy="198300"/>
            </a:xfrm>
            <a:prstGeom prst="ellipse">
              <a:avLst/>
            </a:prstGeom>
            <a:solidFill>
              <a:srgbClr val="3D3D3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5"/>
            <p:cNvSpPr txBox="1"/>
            <p:nvPr/>
          </p:nvSpPr>
          <p:spPr>
            <a:xfrm>
              <a:off x="6402820" y="1436790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4" name="Google Shape;84;p15"/>
          <p:cNvGrpSpPr/>
          <p:nvPr/>
        </p:nvGrpSpPr>
        <p:grpSpPr>
          <a:xfrm rot="10800000">
            <a:off x="2814594" y="1049850"/>
            <a:ext cx="3514811" cy="3252003"/>
            <a:chOff x="2991269" y="1153325"/>
            <a:chExt cx="3514811" cy="3252003"/>
          </a:xfrm>
        </p:grpSpPr>
        <p:sp>
          <p:nvSpPr>
            <p:cNvPr id="85" name="Google Shape;85;p15"/>
            <p:cNvSpPr/>
            <p:nvPr/>
          </p:nvSpPr>
          <p:spPr>
            <a:xfrm>
              <a:off x="3477586" y="2585458"/>
              <a:ext cx="2541910" cy="950456"/>
            </a:xfrm>
            <a:custGeom>
              <a:rect b="b" l="l" r="r" t="t"/>
              <a:pathLst>
                <a:path extrusionOk="0" h="43529" w="126826">
                  <a:moveTo>
                    <a:pt x="0" y="20002"/>
                  </a:moveTo>
                  <a:lnTo>
                    <a:pt x="63389" y="43529"/>
                  </a:lnTo>
                  <a:lnTo>
                    <a:pt x="126826" y="19907"/>
                  </a:lnTo>
                  <a:lnTo>
                    <a:pt x="63580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86" name="Google Shape;86;p15"/>
            <p:cNvSpPr/>
            <p:nvPr/>
          </p:nvSpPr>
          <p:spPr>
            <a:xfrm>
              <a:off x="2991269" y="3020977"/>
              <a:ext cx="1758228" cy="1384350"/>
            </a:xfrm>
            <a:custGeom>
              <a:rect b="b" l="l" r="r" t="t"/>
              <a:pathLst>
                <a:path extrusionOk="0" h="63817" w="87725">
                  <a:moveTo>
                    <a:pt x="24288" y="0"/>
                  </a:moveTo>
                  <a:lnTo>
                    <a:pt x="0" y="29908"/>
                  </a:lnTo>
                  <a:lnTo>
                    <a:pt x="87725" y="63817"/>
                  </a:lnTo>
                  <a:lnTo>
                    <a:pt x="87725" y="42291"/>
                  </a:lnTo>
                  <a:lnTo>
                    <a:pt x="87725" y="23526"/>
                  </a:lnTo>
                  <a:close/>
                </a:path>
              </a:pathLst>
            </a:custGeom>
            <a:solidFill>
              <a:srgbClr val="2F2F2F"/>
            </a:solidFill>
            <a:ln>
              <a:noFill/>
            </a:ln>
          </p:spPr>
        </p:sp>
        <p:sp>
          <p:nvSpPr>
            <p:cNvPr id="87" name="Google Shape;87;p15"/>
            <p:cNvSpPr/>
            <p:nvPr/>
          </p:nvSpPr>
          <p:spPr>
            <a:xfrm flipH="1">
              <a:off x="4747852" y="3020977"/>
              <a:ext cx="1758228" cy="1384350"/>
            </a:xfrm>
            <a:custGeom>
              <a:rect b="b" l="l" r="r" t="t"/>
              <a:pathLst>
                <a:path extrusionOk="0" h="63817" w="87725">
                  <a:moveTo>
                    <a:pt x="24288" y="0"/>
                  </a:moveTo>
                  <a:lnTo>
                    <a:pt x="0" y="29908"/>
                  </a:lnTo>
                  <a:lnTo>
                    <a:pt x="87725" y="63817"/>
                  </a:lnTo>
                  <a:lnTo>
                    <a:pt x="87725" y="42291"/>
                  </a:lnTo>
                  <a:lnTo>
                    <a:pt x="87725" y="23526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</p:sp>
        <p:sp>
          <p:nvSpPr>
            <p:cNvPr id="88" name="Google Shape;88;p15"/>
            <p:cNvSpPr/>
            <p:nvPr/>
          </p:nvSpPr>
          <p:spPr>
            <a:xfrm>
              <a:off x="3969199" y="2001324"/>
              <a:ext cx="1565850" cy="585863"/>
            </a:xfrm>
            <a:custGeom>
              <a:rect b="b" l="l" r="r" t="t"/>
              <a:pathLst>
                <a:path extrusionOk="0" h="8150" w="24053">
                  <a:moveTo>
                    <a:pt x="0" y="3827"/>
                  </a:moveTo>
                  <a:lnTo>
                    <a:pt x="11976" y="8150"/>
                  </a:lnTo>
                  <a:lnTo>
                    <a:pt x="24053" y="3827"/>
                  </a:lnTo>
                  <a:lnTo>
                    <a:pt x="12126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89" name="Google Shape;89;p15"/>
            <p:cNvSpPr/>
            <p:nvPr/>
          </p:nvSpPr>
          <p:spPr>
            <a:xfrm>
              <a:off x="3563255" y="2275837"/>
              <a:ext cx="1189300" cy="1015326"/>
            </a:xfrm>
            <a:custGeom>
              <a:rect b="b" l="l" r="r" t="t"/>
              <a:pathLst>
                <a:path extrusionOk="0" h="14114" w="18238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2F2F2F"/>
            </a:solidFill>
            <a:ln>
              <a:noFill/>
            </a:ln>
          </p:spPr>
        </p:sp>
        <p:sp>
          <p:nvSpPr>
            <p:cNvPr id="90" name="Google Shape;90;p15"/>
            <p:cNvSpPr/>
            <p:nvPr/>
          </p:nvSpPr>
          <p:spPr>
            <a:xfrm flipH="1">
              <a:off x="4749365" y="2275837"/>
              <a:ext cx="1189300" cy="1015326"/>
            </a:xfrm>
            <a:custGeom>
              <a:rect b="b" l="l" r="r" t="t"/>
              <a:pathLst>
                <a:path extrusionOk="0" h="14114" w="18238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414141"/>
            </a:solidFill>
            <a:ln>
              <a:noFill/>
            </a:ln>
          </p:spPr>
        </p:sp>
        <p:sp>
          <p:nvSpPr>
            <p:cNvPr id="91" name="Google Shape;91;p15"/>
            <p:cNvSpPr/>
            <p:nvPr/>
          </p:nvSpPr>
          <p:spPr>
            <a:xfrm>
              <a:off x="4059061" y="1153325"/>
              <a:ext cx="693508" cy="1201140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2F2F2F"/>
            </a:solidFill>
            <a:ln>
              <a:noFill/>
            </a:ln>
          </p:spPr>
        </p:sp>
        <p:sp>
          <p:nvSpPr>
            <p:cNvPr id="92" name="Google Shape;92;p15"/>
            <p:cNvSpPr/>
            <p:nvPr/>
          </p:nvSpPr>
          <p:spPr>
            <a:xfrm flipH="1">
              <a:off x="4749350" y="1153325"/>
              <a:ext cx="693508" cy="1201140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</p:sp>
      </p:grpSp>
      <p:sp>
        <p:nvSpPr>
          <p:cNvPr id="93" name="Google Shape;93;p15"/>
          <p:cNvSpPr txBox="1"/>
          <p:nvPr/>
        </p:nvSpPr>
        <p:spPr>
          <a:xfrm>
            <a:off x="50625" y="852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b="1" lang="en" sz="3200">
                <a:solidFill>
                  <a:srgbClr val="313131"/>
                </a:solidFill>
                <a:latin typeface="Space Mono"/>
                <a:ea typeface="Space Mono"/>
                <a:cs typeface="Space Mono"/>
                <a:sym typeface="Space Mono"/>
              </a:rPr>
              <a:t>TOP-DOWN</a:t>
            </a:r>
            <a:endParaRPr sz="2800">
              <a:solidFill>
                <a:srgbClr val="31313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16"/>
          <p:cNvGrpSpPr/>
          <p:nvPr/>
        </p:nvGrpSpPr>
        <p:grpSpPr>
          <a:xfrm>
            <a:off x="6038025" y="2515310"/>
            <a:ext cx="2469661" cy="1384500"/>
            <a:chOff x="6038025" y="2598925"/>
            <a:chExt cx="2469661" cy="1384500"/>
          </a:xfrm>
        </p:grpSpPr>
        <p:cxnSp>
          <p:nvCxnSpPr>
            <p:cNvPr id="99" name="Google Shape;99;p16"/>
            <p:cNvCxnSpPr/>
            <p:nvPr/>
          </p:nvCxnSpPr>
          <p:spPr>
            <a:xfrm>
              <a:off x="6038025" y="3312550"/>
              <a:ext cx="582000" cy="0"/>
            </a:xfrm>
            <a:prstGeom prst="straightConnector1">
              <a:avLst/>
            </a:prstGeom>
            <a:noFill/>
            <a:ln cap="flat" cmpd="sng" w="9525">
              <a:solidFill>
                <a:srgbClr val="C2C2C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0" name="Google Shape;100;p16"/>
            <p:cNvSpPr txBox="1"/>
            <p:nvPr/>
          </p:nvSpPr>
          <p:spPr>
            <a:xfrm>
              <a:off x="6640486" y="2598925"/>
              <a:ext cx="1867200" cy="138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latin typeface="Roboto"/>
                  <a:ea typeface="Roboto"/>
                  <a:cs typeface="Roboto"/>
                  <a:sym typeface="Roboto"/>
                </a:rPr>
                <a:t>Practice</a:t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1" name="Google Shape;101;p16"/>
            <p:cNvSpPr/>
            <p:nvPr/>
          </p:nvSpPr>
          <p:spPr>
            <a:xfrm>
              <a:off x="6424027" y="3212150"/>
              <a:ext cx="198600" cy="198300"/>
            </a:xfrm>
            <a:prstGeom prst="ellipse">
              <a:avLst/>
            </a:pr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6"/>
            <p:cNvSpPr txBox="1"/>
            <p:nvPr/>
          </p:nvSpPr>
          <p:spPr>
            <a:xfrm>
              <a:off x="6399017" y="3156109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3" name="Google Shape;103;p16"/>
          <p:cNvGrpSpPr/>
          <p:nvPr/>
        </p:nvGrpSpPr>
        <p:grpSpPr>
          <a:xfrm>
            <a:off x="4908100" y="841645"/>
            <a:ext cx="3599586" cy="1384500"/>
            <a:chOff x="4908100" y="889950"/>
            <a:chExt cx="3599586" cy="1384500"/>
          </a:xfrm>
        </p:grpSpPr>
        <p:cxnSp>
          <p:nvCxnSpPr>
            <p:cNvPr id="104" name="Google Shape;104;p16"/>
            <p:cNvCxnSpPr/>
            <p:nvPr/>
          </p:nvCxnSpPr>
          <p:spPr>
            <a:xfrm>
              <a:off x="4908100" y="1593250"/>
              <a:ext cx="1715100" cy="0"/>
            </a:xfrm>
            <a:prstGeom prst="straightConnector1">
              <a:avLst/>
            </a:prstGeom>
            <a:noFill/>
            <a:ln cap="flat" cmpd="sng" w="9525">
              <a:solidFill>
                <a:srgbClr val="C2C2C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5" name="Google Shape;105;p16"/>
            <p:cNvSpPr txBox="1"/>
            <p:nvPr/>
          </p:nvSpPr>
          <p:spPr>
            <a:xfrm>
              <a:off x="6640486" y="889950"/>
              <a:ext cx="1867200" cy="138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latin typeface="Roboto"/>
                  <a:ea typeface="Roboto"/>
                  <a:cs typeface="Roboto"/>
                  <a:sym typeface="Roboto"/>
                </a:rPr>
                <a:t>Theory</a:t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6" name="Google Shape;106;p16"/>
            <p:cNvSpPr/>
            <p:nvPr/>
          </p:nvSpPr>
          <p:spPr>
            <a:xfrm>
              <a:off x="6427830" y="1493307"/>
              <a:ext cx="198600" cy="198300"/>
            </a:xfrm>
            <a:prstGeom prst="ellipse">
              <a:avLst/>
            </a:prstGeom>
            <a:solidFill>
              <a:srgbClr val="3D3D3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6"/>
            <p:cNvSpPr txBox="1"/>
            <p:nvPr/>
          </p:nvSpPr>
          <p:spPr>
            <a:xfrm>
              <a:off x="6402820" y="1436790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8" name="Google Shape;108;p16"/>
          <p:cNvGrpSpPr/>
          <p:nvPr/>
        </p:nvGrpSpPr>
        <p:grpSpPr>
          <a:xfrm>
            <a:off x="2814594" y="1049850"/>
            <a:ext cx="3514811" cy="3252003"/>
            <a:chOff x="2991269" y="1153325"/>
            <a:chExt cx="3514811" cy="3252003"/>
          </a:xfrm>
        </p:grpSpPr>
        <p:sp>
          <p:nvSpPr>
            <p:cNvPr id="109" name="Google Shape;109;p16"/>
            <p:cNvSpPr/>
            <p:nvPr/>
          </p:nvSpPr>
          <p:spPr>
            <a:xfrm>
              <a:off x="3477586" y="2585458"/>
              <a:ext cx="2541910" cy="950456"/>
            </a:xfrm>
            <a:custGeom>
              <a:rect b="b" l="l" r="r" t="t"/>
              <a:pathLst>
                <a:path extrusionOk="0" h="43529" w="126826">
                  <a:moveTo>
                    <a:pt x="0" y="20002"/>
                  </a:moveTo>
                  <a:lnTo>
                    <a:pt x="63389" y="43529"/>
                  </a:lnTo>
                  <a:lnTo>
                    <a:pt x="126826" y="19907"/>
                  </a:lnTo>
                  <a:lnTo>
                    <a:pt x="63580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110" name="Google Shape;110;p16"/>
            <p:cNvSpPr/>
            <p:nvPr/>
          </p:nvSpPr>
          <p:spPr>
            <a:xfrm>
              <a:off x="2991269" y="3020977"/>
              <a:ext cx="1758228" cy="1384350"/>
            </a:xfrm>
            <a:custGeom>
              <a:rect b="b" l="l" r="r" t="t"/>
              <a:pathLst>
                <a:path extrusionOk="0" h="63817" w="87725">
                  <a:moveTo>
                    <a:pt x="24288" y="0"/>
                  </a:moveTo>
                  <a:lnTo>
                    <a:pt x="0" y="29908"/>
                  </a:lnTo>
                  <a:lnTo>
                    <a:pt x="87725" y="63817"/>
                  </a:lnTo>
                  <a:lnTo>
                    <a:pt x="87725" y="42291"/>
                  </a:lnTo>
                  <a:lnTo>
                    <a:pt x="87725" y="23526"/>
                  </a:lnTo>
                  <a:close/>
                </a:path>
              </a:pathLst>
            </a:custGeom>
            <a:solidFill>
              <a:srgbClr val="2F2F2F"/>
            </a:solidFill>
            <a:ln>
              <a:noFill/>
            </a:ln>
          </p:spPr>
        </p:sp>
        <p:sp>
          <p:nvSpPr>
            <p:cNvPr id="111" name="Google Shape;111;p16"/>
            <p:cNvSpPr/>
            <p:nvPr/>
          </p:nvSpPr>
          <p:spPr>
            <a:xfrm flipH="1">
              <a:off x="4747852" y="3020977"/>
              <a:ext cx="1758228" cy="1384350"/>
            </a:xfrm>
            <a:custGeom>
              <a:rect b="b" l="l" r="r" t="t"/>
              <a:pathLst>
                <a:path extrusionOk="0" h="63817" w="87725">
                  <a:moveTo>
                    <a:pt x="24288" y="0"/>
                  </a:moveTo>
                  <a:lnTo>
                    <a:pt x="0" y="29908"/>
                  </a:lnTo>
                  <a:lnTo>
                    <a:pt x="87725" y="63817"/>
                  </a:lnTo>
                  <a:lnTo>
                    <a:pt x="87725" y="42291"/>
                  </a:lnTo>
                  <a:lnTo>
                    <a:pt x="87725" y="23526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</p:sp>
        <p:sp>
          <p:nvSpPr>
            <p:cNvPr id="112" name="Google Shape;112;p16"/>
            <p:cNvSpPr/>
            <p:nvPr/>
          </p:nvSpPr>
          <p:spPr>
            <a:xfrm>
              <a:off x="3969199" y="2001324"/>
              <a:ext cx="1565850" cy="585863"/>
            </a:xfrm>
            <a:custGeom>
              <a:rect b="b" l="l" r="r" t="t"/>
              <a:pathLst>
                <a:path extrusionOk="0" h="8150" w="24053">
                  <a:moveTo>
                    <a:pt x="0" y="3827"/>
                  </a:moveTo>
                  <a:lnTo>
                    <a:pt x="11976" y="8150"/>
                  </a:lnTo>
                  <a:lnTo>
                    <a:pt x="24053" y="3827"/>
                  </a:lnTo>
                  <a:lnTo>
                    <a:pt x="12126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113" name="Google Shape;113;p16"/>
            <p:cNvSpPr/>
            <p:nvPr/>
          </p:nvSpPr>
          <p:spPr>
            <a:xfrm>
              <a:off x="3563255" y="2275837"/>
              <a:ext cx="1189300" cy="1015326"/>
            </a:xfrm>
            <a:custGeom>
              <a:rect b="b" l="l" r="r" t="t"/>
              <a:pathLst>
                <a:path extrusionOk="0" h="14114" w="18238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2F2F2F"/>
            </a:solidFill>
            <a:ln>
              <a:noFill/>
            </a:ln>
          </p:spPr>
        </p:sp>
        <p:sp>
          <p:nvSpPr>
            <p:cNvPr id="114" name="Google Shape;114;p16"/>
            <p:cNvSpPr/>
            <p:nvPr/>
          </p:nvSpPr>
          <p:spPr>
            <a:xfrm flipH="1">
              <a:off x="4749365" y="2275837"/>
              <a:ext cx="1189300" cy="1015326"/>
            </a:xfrm>
            <a:custGeom>
              <a:rect b="b" l="l" r="r" t="t"/>
              <a:pathLst>
                <a:path extrusionOk="0" h="14114" w="18238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414141"/>
            </a:solidFill>
            <a:ln>
              <a:noFill/>
            </a:ln>
          </p:spPr>
        </p:sp>
        <p:sp>
          <p:nvSpPr>
            <p:cNvPr id="115" name="Google Shape;115;p16"/>
            <p:cNvSpPr/>
            <p:nvPr/>
          </p:nvSpPr>
          <p:spPr>
            <a:xfrm>
              <a:off x="4059061" y="1153325"/>
              <a:ext cx="693508" cy="1201140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2F2F2F"/>
            </a:solidFill>
            <a:ln>
              <a:noFill/>
            </a:ln>
          </p:spPr>
        </p:sp>
        <p:sp>
          <p:nvSpPr>
            <p:cNvPr id="116" name="Google Shape;116;p16"/>
            <p:cNvSpPr/>
            <p:nvPr/>
          </p:nvSpPr>
          <p:spPr>
            <a:xfrm flipH="1">
              <a:off x="4749350" y="1153325"/>
              <a:ext cx="693508" cy="1201140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</p:sp>
      </p:grpSp>
      <p:sp>
        <p:nvSpPr>
          <p:cNvPr id="117" name="Google Shape;117;p16"/>
          <p:cNvSpPr txBox="1"/>
          <p:nvPr/>
        </p:nvSpPr>
        <p:spPr>
          <a:xfrm>
            <a:off x="50625" y="852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b="1" lang="en" sz="320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BOTTOM-UP</a:t>
            </a:r>
            <a:endParaRPr sz="2800">
              <a:solidFill>
                <a:schemeClr val="dk1"/>
              </a:solidFill>
            </a:endParaRPr>
          </a:p>
        </p:txBody>
      </p:sp>
      <p:grpSp>
        <p:nvGrpSpPr>
          <p:cNvPr id="118" name="Google Shape;118;p16"/>
          <p:cNvGrpSpPr/>
          <p:nvPr/>
        </p:nvGrpSpPr>
        <p:grpSpPr>
          <a:xfrm>
            <a:off x="636321" y="1742828"/>
            <a:ext cx="2994729" cy="1384500"/>
            <a:chOff x="636321" y="1844098"/>
            <a:chExt cx="2994729" cy="1384500"/>
          </a:xfrm>
        </p:grpSpPr>
        <p:sp>
          <p:nvSpPr>
            <p:cNvPr id="119" name="Google Shape;119;p16"/>
            <p:cNvSpPr txBox="1"/>
            <p:nvPr/>
          </p:nvSpPr>
          <p:spPr>
            <a:xfrm>
              <a:off x="636321" y="1844098"/>
              <a:ext cx="1867200" cy="138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latin typeface="Roboto"/>
                  <a:ea typeface="Roboto"/>
                  <a:cs typeface="Roboto"/>
                  <a:sym typeface="Roboto"/>
                </a:rPr>
                <a:t>Project</a:t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20" name="Google Shape;120;p16"/>
            <p:cNvCxnSpPr/>
            <p:nvPr/>
          </p:nvCxnSpPr>
          <p:spPr>
            <a:xfrm rot="10800000">
              <a:off x="2587350" y="2536350"/>
              <a:ext cx="1043700" cy="0"/>
            </a:xfrm>
            <a:prstGeom prst="straightConnector1">
              <a:avLst/>
            </a:prstGeom>
            <a:noFill/>
            <a:ln cap="flat" cmpd="sng" w="9525">
              <a:solidFill>
                <a:srgbClr val="C2C2C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1" name="Google Shape;121;p16"/>
            <p:cNvSpPr/>
            <p:nvPr/>
          </p:nvSpPr>
          <p:spPr>
            <a:xfrm>
              <a:off x="2523501" y="2431050"/>
              <a:ext cx="198600" cy="198300"/>
            </a:xfrm>
            <a:prstGeom prst="ellipse">
              <a:avLst/>
            </a:prstGeom>
            <a:solidFill>
              <a:srgbClr val="4141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6"/>
            <p:cNvSpPr txBox="1"/>
            <p:nvPr/>
          </p:nvSpPr>
          <p:spPr>
            <a:xfrm>
              <a:off x="2498491" y="2373759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7"/>
          <p:cNvSpPr/>
          <p:nvPr/>
        </p:nvSpPr>
        <p:spPr>
          <a:xfrm>
            <a:off x="0" y="0"/>
            <a:ext cx="9144000" cy="4471500"/>
          </a:xfrm>
          <a:prstGeom prst="rect">
            <a:avLst/>
          </a:prstGeom>
          <a:solidFill>
            <a:srgbClr val="ED68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7"/>
          <p:cNvSpPr txBox="1"/>
          <p:nvPr/>
        </p:nvSpPr>
        <p:spPr>
          <a:xfrm>
            <a:off x="5859966" y="738256"/>
            <a:ext cx="18282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0">
                <a:solidFill>
                  <a:srgbClr val="FD927D"/>
                </a:solidFill>
              </a:rPr>
              <a:t>#</a:t>
            </a:r>
            <a:endParaRPr sz="20000">
              <a:solidFill>
                <a:srgbClr val="FD927D"/>
              </a:solidFill>
            </a:endParaRPr>
          </a:p>
        </p:txBody>
      </p:sp>
      <p:sp>
        <p:nvSpPr>
          <p:cNvPr id="129" name="Google Shape;129;p17"/>
          <p:cNvSpPr txBox="1"/>
          <p:nvPr>
            <p:ph type="ctrTitle"/>
          </p:nvPr>
        </p:nvSpPr>
        <p:spPr>
          <a:xfrm>
            <a:off x="311700" y="1996100"/>
            <a:ext cx="8520600" cy="9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538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Data Maturity Model</a:t>
            </a:r>
            <a:endParaRPr b="1" sz="5380">
              <a:solidFill>
                <a:schemeClr val="lt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8"/>
          <p:cNvSpPr txBox="1"/>
          <p:nvPr/>
        </p:nvSpPr>
        <p:spPr>
          <a:xfrm>
            <a:off x="50625" y="852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b="1" lang="en" sz="320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Maslow's Hierarchy of Needs</a:t>
            </a:r>
            <a:endParaRPr sz="2800">
              <a:solidFill>
                <a:schemeClr val="dk1"/>
              </a:solidFill>
            </a:endParaRPr>
          </a:p>
        </p:txBody>
      </p:sp>
      <p:grpSp>
        <p:nvGrpSpPr>
          <p:cNvPr id="135" name="Google Shape;135;p18"/>
          <p:cNvGrpSpPr/>
          <p:nvPr/>
        </p:nvGrpSpPr>
        <p:grpSpPr>
          <a:xfrm>
            <a:off x="4725662" y="880732"/>
            <a:ext cx="3820529" cy="747300"/>
            <a:chOff x="4530625" y="1206568"/>
            <a:chExt cx="3820529" cy="747300"/>
          </a:xfrm>
        </p:grpSpPr>
        <p:cxnSp>
          <p:nvCxnSpPr>
            <p:cNvPr id="136" name="Google Shape;136;p18"/>
            <p:cNvCxnSpPr/>
            <p:nvPr/>
          </p:nvCxnSpPr>
          <p:spPr>
            <a:xfrm>
              <a:off x="4530625" y="1582195"/>
              <a:ext cx="16527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7" name="Google Shape;137;p18"/>
            <p:cNvSpPr/>
            <p:nvPr/>
          </p:nvSpPr>
          <p:spPr>
            <a:xfrm>
              <a:off x="6014671" y="1481782"/>
              <a:ext cx="198600" cy="198300"/>
            </a:xfrm>
            <a:prstGeom prst="ellipse">
              <a:avLst/>
            </a:prstGeom>
            <a:solidFill>
              <a:srgbClr val="1B786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8"/>
            <p:cNvSpPr txBox="1"/>
            <p:nvPr/>
          </p:nvSpPr>
          <p:spPr>
            <a:xfrm>
              <a:off x="5990215" y="142376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39" name="Google Shape;139;p18"/>
            <p:cNvSpPr txBox="1"/>
            <p:nvPr/>
          </p:nvSpPr>
          <p:spPr>
            <a:xfrm>
              <a:off x="6223854" y="1206568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latin typeface="Roboto"/>
                  <a:ea typeface="Roboto"/>
                  <a:cs typeface="Roboto"/>
                  <a:sym typeface="Roboto"/>
                </a:rPr>
                <a:t>Self-actualization</a:t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0" name="Google Shape;140;p18"/>
          <p:cNvGrpSpPr/>
          <p:nvPr/>
        </p:nvGrpSpPr>
        <p:grpSpPr>
          <a:xfrm>
            <a:off x="5259488" y="1813550"/>
            <a:ext cx="3936515" cy="747300"/>
            <a:chOff x="5064450" y="2086430"/>
            <a:chExt cx="3936515" cy="747300"/>
          </a:xfrm>
        </p:grpSpPr>
        <p:cxnSp>
          <p:nvCxnSpPr>
            <p:cNvPr id="141" name="Google Shape;141;p18"/>
            <p:cNvCxnSpPr/>
            <p:nvPr/>
          </p:nvCxnSpPr>
          <p:spPr>
            <a:xfrm>
              <a:off x="5064450" y="2460069"/>
              <a:ext cx="11190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2" name="Google Shape;142;p18"/>
            <p:cNvSpPr/>
            <p:nvPr/>
          </p:nvSpPr>
          <p:spPr>
            <a:xfrm>
              <a:off x="6014671" y="2353882"/>
              <a:ext cx="198600" cy="198300"/>
            </a:xfrm>
            <a:prstGeom prst="ellipse">
              <a:avLst/>
            </a:prstGeom>
            <a:solidFill>
              <a:srgbClr val="1D7E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8"/>
            <p:cNvSpPr txBox="1"/>
            <p:nvPr/>
          </p:nvSpPr>
          <p:spPr>
            <a:xfrm>
              <a:off x="5991690" y="2295028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44" name="Google Shape;144;p18"/>
            <p:cNvSpPr txBox="1"/>
            <p:nvPr/>
          </p:nvSpPr>
          <p:spPr>
            <a:xfrm>
              <a:off x="6223865" y="2086430"/>
              <a:ext cx="27771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latin typeface="Roboto"/>
                  <a:ea typeface="Roboto"/>
                  <a:cs typeface="Roboto"/>
                  <a:sym typeface="Roboto"/>
                </a:rPr>
                <a:t>Belongingness &amp; Love Needs</a:t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5" name="Google Shape;145;p18"/>
          <p:cNvGrpSpPr/>
          <p:nvPr/>
        </p:nvGrpSpPr>
        <p:grpSpPr>
          <a:xfrm>
            <a:off x="5769188" y="2892976"/>
            <a:ext cx="2777004" cy="747300"/>
            <a:chOff x="5574150" y="3083456"/>
            <a:chExt cx="2777004" cy="747300"/>
          </a:xfrm>
        </p:grpSpPr>
        <p:cxnSp>
          <p:nvCxnSpPr>
            <p:cNvPr id="146" name="Google Shape;146;p18"/>
            <p:cNvCxnSpPr/>
            <p:nvPr/>
          </p:nvCxnSpPr>
          <p:spPr>
            <a:xfrm>
              <a:off x="5574150" y="3449448"/>
              <a:ext cx="6093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7" name="Google Shape;147;p18"/>
            <p:cNvSpPr/>
            <p:nvPr/>
          </p:nvSpPr>
          <p:spPr>
            <a:xfrm>
              <a:off x="6014671" y="3349032"/>
              <a:ext cx="198600" cy="198300"/>
            </a:xfrm>
            <a:prstGeom prst="ellipse">
              <a:avLst/>
            </a:prstGeom>
            <a:solidFill>
              <a:srgbClr val="249C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8"/>
            <p:cNvSpPr txBox="1"/>
            <p:nvPr/>
          </p:nvSpPr>
          <p:spPr>
            <a:xfrm>
              <a:off x="5991690" y="329111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49" name="Google Shape;149;p18"/>
            <p:cNvSpPr txBox="1"/>
            <p:nvPr/>
          </p:nvSpPr>
          <p:spPr>
            <a:xfrm>
              <a:off x="6223854" y="3083456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latin typeface="Roboto"/>
                  <a:ea typeface="Roboto"/>
                  <a:cs typeface="Roboto"/>
                  <a:sym typeface="Roboto"/>
                </a:rPr>
                <a:t>Physiological</a:t>
              </a:r>
              <a:r>
                <a:rPr b="1" lang="en" sz="1200">
                  <a:latin typeface="Roboto"/>
                  <a:ea typeface="Roboto"/>
                  <a:cs typeface="Roboto"/>
                  <a:sym typeface="Roboto"/>
                </a:rPr>
                <a:t> Needs</a:t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0" name="Google Shape;150;p18"/>
          <p:cNvGrpSpPr/>
          <p:nvPr/>
        </p:nvGrpSpPr>
        <p:grpSpPr>
          <a:xfrm>
            <a:off x="597814" y="1381868"/>
            <a:ext cx="3468724" cy="717600"/>
            <a:chOff x="744101" y="1672393"/>
            <a:chExt cx="3468724" cy="717600"/>
          </a:xfrm>
        </p:grpSpPr>
        <p:cxnSp>
          <p:nvCxnSpPr>
            <p:cNvPr id="151" name="Google Shape;151;p18"/>
            <p:cNvCxnSpPr/>
            <p:nvPr/>
          </p:nvCxnSpPr>
          <p:spPr>
            <a:xfrm rot="10800000">
              <a:off x="2921325" y="2046050"/>
              <a:ext cx="12915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2" name="Google Shape;152;p18"/>
            <p:cNvSpPr/>
            <p:nvPr/>
          </p:nvSpPr>
          <p:spPr>
            <a:xfrm>
              <a:off x="2874851" y="1943786"/>
              <a:ext cx="198600" cy="198300"/>
            </a:xfrm>
            <a:prstGeom prst="ellipse">
              <a:avLst/>
            </a:prstGeom>
            <a:solidFill>
              <a:srgbClr val="1B786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8"/>
            <p:cNvSpPr txBox="1"/>
            <p:nvPr/>
          </p:nvSpPr>
          <p:spPr>
            <a:xfrm>
              <a:off x="2849841" y="1884747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54" name="Google Shape;154;p18"/>
            <p:cNvSpPr txBox="1"/>
            <p:nvPr/>
          </p:nvSpPr>
          <p:spPr>
            <a:xfrm>
              <a:off x="744101" y="1672393"/>
              <a:ext cx="2039100" cy="7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latin typeface="Roboto"/>
                  <a:ea typeface="Roboto"/>
                  <a:cs typeface="Roboto"/>
                  <a:sym typeface="Roboto"/>
                </a:rPr>
                <a:t>Esteem Needs</a:t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5" name="Google Shape;155;p18"/>
          <p:cNvGrpSpPr/>
          <p:nvPr/>
        </p:nvGrpSpPr>
        <p:grpSpPr>
          <a:xfrm>
            <a:off x="597814" y="2299444"/>
            <a:ext cx="3021694" cy="747300"/>
            <a:chOff x="744101" y="2507609"/>
            <a:chExt cx="3021694" cy="747300"/>
          </a:xfrm>
        </p:grpSpPr>
        <p:cxnSp>
          <p:nvCxnSpPr>
            <p:cNvPr id="156" name="Google Shape;156;p18"/>
            <p:cNvCxnSpPr/>
            <p:nvPr/>
          </p:nvCxnSpPr>
          <p:spPr>
            <a:xfrm rot="10800000">
              <a:off x="2915895" y="2881250"/>
              <a:ext cx="8499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7" name="Google Shape;157;p18"/>
            <p:cNvSpPr/>
            <p:nvPr/>
          </p:nvSpPr>
          <p:spPr>
            <a:xfrm>
              <a:off x="2874851" y="2780836"/>
              <a:ext cx="198600" cy="198300"/>
            </a:xfrm>
            <a:prstGeom prst="ellipse">
              <a:avLst/>
            </a:prstGeom>
            <a:solidFill>
              <a:srgbClr val="1F88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8"/>
            <p:cNvSpPr txBox="1"/>
            <p:nvPr/>
          </p:nvSpPr>
          <p:spPr>
            <a:xfrm>
              <a:off x="2849841" y="272479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59" name="Google Shape;159;p18"/>
            <p:cNvSpPr txBox="1"/>
            <p:nvPr/>
          </p:nvSpPr>
          <p:spPr>
            <a:xfrm>
              <a:off x="744101" y="2507609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latin typeface="Roboto"/>
                  <a:ea typeface="Roboto"/>
                  <a:cs typeface="Roboto"/>
                  <a:sym typeface="Roboto"/>
                </a:rPr>
                <a:t>Safety Needs</a:t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60" name="Google Shape;160;p18"/>
          <p:cNvGrpSpPr/>
          <p:nvPr/>
        </p:nvGrpSpPr>
        <p:grpSpPr>
          <a:xfrm>
            <a:off x="2811521" y="1005577"/>
            <a:ext cx="3509178" cy="3257208"/>
            <a:chOff x="3318063" y="1368287"/>
            <a:chExt cx="2408000" cy="2993482"/>
          </a:xfrm>
        </p:grpSpPr>
        <p:sp>
          <p:nvSpPr>
            <p:cNvPr id="161" name="Google Shape;161;p18"/>
            <p:cNvSpPr/>
            <p:nvPr/>
          </p:nvSpPr>
          <p:spPr>
            <a:xfrm>
              <a:off x="3595785" y="2775241"/>
              <a:ext cx="1853168" cy="919151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162" name="Google Shape;162;p18"/>
            <p:cNvSpPr/>
            <p:nvPr/>
          </p:nvSpPr>
          <p:spPr>
            <a:xfrm>
              <a:off x="3318063" y="3194383"/>
              <a:ext cx="1203867" cy="1167385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155B54"/>
            </a:solidFill>
            <a:ln>
              <a:noFill/>
            </a:ln>
          </p:spPr>
        </p:sp>
        <p:sp>
          <p:nvSpPr>
            <p:cNvPr id="163" name="Google Shape;163;p18"/>
            <p:cNvSpPr/>
            <p:nvPr/>
          </p:nvSpPr>
          <p:spPr>
            <a:xfrm flipH="1">
              <a:off x="4522196" y="3194383"/>
              <a:ext cx="1203867" cy="1167385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249C90"/>
            </a:solidFill>
            <a:ln>
              <a:noFill/>
            </a:ln>
          </p:spPr>
        </p:sp>
        <p:sp>
          <p:nvSpPr>
            <p:cNvPr id="164" name="Google Shape;164;p18"/>
            <p:cNvSpPr/>
            <p:nvPr/>
          </p:nvSpPr>
          <p:spPr>
            <a:xfrm>
              <a:off x="3844034" y="2401368"/>
              <a:ext cx="1356545" cy="672851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165" name="Google Shape;165;p18"/>
            <p:cNvSpPr/>
            <p:nvPr/>
          </p:nvSpPr>
          <p:spPr>
            <a:xfrm>
              <a:off x="3930892" y="2272397"/>
              <a:ext cx="1175304" cy="581421"/>
            </a:xfrm>
            <a:custGeom>
              <a:rect b="b" l="l" r="r" t="t"/>
              <a:pathLst>
                <a:path extrusionOk="0" h="16300" w="49248">
                  <a:moveTo>
                    <a:pt x="0" y="7554"/>
                  </a:moveTo>
                  <a:lnTo>
                    <a:pt x="24649" y="16300"/>
                  </a:lnTo>
                  <a:lnTo>
                    <a:pt x="49248" y="7604"/>
                  </a:lnTo>
                  <a:lnTo>
                    <a:pt x="24599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166" name="Google Shape;166;p18"/>
            <p:cNvSpPr/>
            <p:nvPr/>
          </p:nvSpPr>
          <p:spPr>
            <a:xfrm>
              <a:off x="4052837" y="2081437"/>
              <a:ext cx="931314" cy="460727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167" name="Google Shape;167;p18"/>
            <p:cNvSpPr/>
            <p:nvPr/>
          </p:nvSpPr>
          <p:spPr>
            <a:xfrm>
              <a:off x="4233144" y="1787006"/>
              <a:ext cx="573183" cy="289305"/>
            </a:xfrm>
            <a:custGeom>
              <a:rect b="b" l="l" r="r" t="t"/>
              <a:pathLst>
                <a:path extrusionOk="0" h="8150" w="24053">
                  <a:moveTo>
                    <a:pt x="0" y="3827"/>
                  </a:moveTo>
                  <a:lnTo>
                    <a:pt x="11976" y="8150"/>
                  </a:lnTo>
                  <a:lnTo>
                    <a:pt x="24053" y="3827"/>
                  </a:lnTo>
                  <a:lnTo>
                    <a:pt x="12126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168" name="Google Shape;168;p18"/>
            <p:cNvSpPr/>
            <p:nvPr/>
          </p:nvSpPr>
          <p:spPr>
            <a:xfrm>
              <a:off x="3640743" y="2708179"/>
              <a:ext cx="881371" cy="854431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155B54"/>
            </a:solidFill>
            <a:ln>
              <a:noFill/>
            </a:ln>
          </p:spPr>
        </p:sp>
        <p:sp>
          <p:nvSpPr>
            <p:cNvPr id="169" name="Google Shape;169;p18"/>
            <p:cNvSpPr/>
            <p:nvPr/>
          </p:nvSpPr>
          <p:spPr>
            <a:xfrm>
              <a:off x="3964720" y="2291507"/>
              <a:ext cx="555203" cy="453658"/>
            </a:xfrm>
            <a:custGeom>
              <a:rect b="b" l="l" r="r" t="t"/>
              <a:pathLst>
                <a:path extrusionOk="0" h="12771" w="23257">
                  <a:moveTo>
                    <a:pt x="3727" y="0"/>
                  </a:moveTo>
                  <a:lnTo>
                    <a:pt x="0" y="4522"/>
                  </a:lnTo>
                  <a:lnTo>
                    <a:pt x="23257" y="12771"/>
                  </a:lnTo>
                  <a:lnTo>
                    <a:pt x="23257" y="7056"/>
                  </a:lnTo>
                  <a:close/>
                </a:path>
              </a:pathLst>
            </a:custGeom>
            <a:gradFill>
              <a:gsLst>
                <a:gs pos="0">
                  <a:srgbClr val="FFCA37"/>
                </a:gs>
                <a:gs pos="100000">
                  <a:srgbClr val="AD8107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170" name="Google Shape;170;p18"/>
            <p:cNvSpPr/>
            <p:nvPr/>
          </p:nvSpPr>
          <p:spPr>
            <a:xfrm flipH="1">
              <a:off x="4518736" y="2291507"/>
              <a:ext cx="555203" cy="453658"/>
            </a:xfrm>
            <a:custGeom>
              <a:rect b="b" l="l" r="r" t="t"/>
              <a:pathLst>
                <a:path extrusionOk="0" h="12771" w="23257">
                  <a:moveTo>
                    <a:pt x="3727" y="0"/>
                  </a:moveTo>
                  <a:lnTo>
                    <a:pt x="0" y="4522"/>
                  </a:lnTo>
                  <a:lnTo>
                    <a:pt x="23257" y="12771"/>
                  </a:lnTo>
                  <a:lnTo>
                    <a:pt x="23257" y="7056"/>
                  </a:lnTo>
                  <a:close/>
                </a:path>
              </a:pathLst>
            </a:custGeom>
            <a:solidFill>
              <a:srgbClr val="F4B400"/>
            </a:solidFill>
            <a:ln>
              <a:noFill/>
            </a:ln>
          </p:spPr>
        </p:sp>
        <p:sp>
          <p:nvSpPr>
            <p:cNvPr id="171" name="Google Shape;171;p18"/>
            <p:cNvSpPr/>
            <p:nvPr/>
          </p:nvSpPr>
          <p:spPr>
            <a:xfrm>
              <a:off x="4084537" y="1922553"/>
              <a:ext cx="435387" cy="501365"/>
            </a:xfrm>
            <a:custGeom>
              <a:rect b="b" l="l" r="r" t="t"/>
              <a:pathLst>
                <a:path extrusionOk="0" h="14114" w="18238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155B54"/>
            </a:solidFill>
            <a:ln>
              <a:noFill/>
            </a:ln>
          </p:spPr>
        </p:sp>
        <p:sp>
          <p:nvSpPr>
            <p:cNvPr id="172" name="Google Shape;172;p18"/>
            <p:cNvSpPr/>
            <p:nvPr/>
          </p:nvSpPr>
          <p:spPr>
            <a:xfrm flipH="1">
              <a:off x="4518735" y="1922553"/>
              <a:ext cx="435387" cy="501365"/>
            </a:xfrm>
            <a:custGeom>
              <a:rect b="b" l="l" r="r" t="t"/>
              <a:pathLst>
                <a:path extrusionOk="0" h="14114" w="18238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1B786E"/>
            </a:solidFill>
            <a:ln>
              <a:noFill/>
            </a:ln>
          </p:spPr>
        </p:sp>
        <p:sp>
          <p:nvSpPr>
            <p:cNvPr id="173" name="Google Shape;173;p18"/>
            <p:cNvSpPr/>
            <p:nvPr/>
          </p:nvSpPr>
          <p:spPr>
            <a:xfrm>
              <a:off x="4266040" y="1368287"/>
              <a:ext cx="253884" cy="593119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155B54"/>
            </a:solidFill>
            <a:ln>
              <a:noFill/>
            </a:ln>
          </p:spPr>
        </p:sp>
        <p:sp>
          <p:nvSpPr>
            <p:cNvPr id="174" name="Google Shape;174;p18"/>
            <p:cNvSpPr/>
            <p:nvPr/>
          </p:nvSpPr>
          <p:spPr>
            <a:xfrm flipH="1">
              <a:off x="4518734" y="1368287"/>
              <a:ext cx="253884" cy="593119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1B786E"/>
            </a:solidFill>
            <a:ln>
              <a:noFill/>
            </a:ln>
          </p:spPr>
        </p:sp>
        <p:sp>
          <p:nvSpPr>
            <p:cNvPr id="175" name="Google Shape;175;p18"/>
            <p:cNvSpPr/>
            <p:nvPr/>
          </p:nvSpPr>
          <p:spPr>
            <a:xfrm>
              <a:off x="3877348" y="2290728"/>
              <a:ext cx="642683" cy="657851"/>
            </a:xfrm>
            <a:custGeom>
              <a:rect b="b" l="l" r="r" t="t"/>
              <a:pathLst>
                <a:path extrusionOk="0" h="46623" w="65016">
                  <a:moveTo>
                    <a:pt x="17858" y="0"/>
                  </a:moveTo>
                  <a:lnTo>
                    <a:pt x="0" y="22135"/>
                  </a:lnTo>
                  <a:lnTo>
                    <a:pt x="65016" y="46623"/>
                  </a:lnTo>
                  <a:lnTo>
                    <a:pt x="65016" y="17537"/>
                  </a:lnTo>
                  <a:close/>
                </a:path>
              </a:pathLst>
            </a:custGeom>
            <a:solidFill>
              <a:srgbClr val="155B54"/>
            </a:solidFill>
            <a:ln>
              <a:noFill/>
            </a:ln>
          </p:spPr>
        </p:sp>
        <p:sp>
          <p:nvSpPr>
            <p:cNvPr id="176" name="Google Shape;176;p18"/>
            <p:cNvSpPr/>
            <p:nvPr/>
          </p:nvSpPr>
          <p:spPr>
            <a:xfrm flipH="1">
              <a:off x="4518572" y="2291772"/>
              <a:ext cx="642683" cy="657851"/>
            </a:xfrm>
            <a:custGeom>
              <a:rect b="b" l="l" r="r" t="t"/>
              <a:pathLst>
                <a:path extrusionOk="0" h="46623" w="65016">
                  <a:moveTo>
                    <a:pt x="17858" y="0"/>
                  </a:moveTo>
                  <a:lnTo>
                    <a:pt x="0" y="22135"/>
                  </a:lnTo>
                  <a:lnTo>
                    <a:pt x="65016" y="46623"/>
                  </a:lnTo>
                  <a:lnTo>
                    <a:pt x="65016" y="17537"/>
                  </a:lnTo>
                  <a:close/>
                </a:path>
              </a:pathLst>
            </a:custGeom>
            <a:solidFill>
              <a:srgbClr val="1D7E74"/>
            </a:solidFill>
            <a:ln>
              <a:noFill/>
            </a:ln>
          </p:spPr>
        </p:sp>
        <p:sp>
          <p:nvSpPr>
            <p:cNvPr id="177" name="Google Shape;177;p18"/>
            <p:cNvSpPr/>
            <p:nvPr/>
          </p:nvSpPr>
          <p:spPr>
            <a:xfrm flipH="1">
              <a:off x="4522009" y="2708179"/>
              <a:ext cx="881371" cy="854431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1F887E"/>
            </a:solidFill>
            <a:ln>
              <a:noFill/>
            </a:ln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9"/>
          <p:cNvSpPr txBox="1"/>
          <p:nvPr/>
        </p:nvSpPr>
        <p:spPr>
          <a:xfrm>
            <a:off x="50625" y="852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b="1" lang="en" sz="320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Data-Maturity Model</a:t>
            </a:r>
            <a:endParaRPr sz="2800">
              <a:solidFill>
                <a:schemeClr val="dk1"/>
              </a:solidFill>
            </a:endParaRPr>
          </a:p>
        </p:txBody>
      </p:sp>
      <p:grpSp>
        <p:nvGrpSpPr>
          <p:cNvPr id="183" name="Google Shape;183;p19"/>
          <p:cNvGrpSpPr/>
          <p:nvPr/>
        </p:nvGrpSpPr>
        <p:grpSpPr>
          <a:xfrm>
            <a:off x="4725662" y="880732"/>
            <a:ext cx="3820529" cy="747300"/>
            <a:chOff x="4530625" y="1206568"/>
            <a:chExt cx="3820529" cy="747300"/>
          </a:xfrm>
        </p:grpSpPr>
        <p:cxnSp>
          <p:nvCxnSpPr>
            <p:cNvPr id="184" name="Google Shape;184;p19"/>
            <p:cNvCxnSpPr/>
            <p:nvPr/>
          </p:nvCxnSpPr>
          <p:spPr>
            <a:xfrm>
              <a:off x="4530625" y="1582195"/>
              <a:ext cx="16527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85" name="Google Shape;185;p19"/>
            <p:cNvSpPr/>
            <p:nvPr/>
          </p:nvSpPr>
          <p:spPr>
            <a:xfrm>
              <a:off x="6014671" y="1481782"/>
              <a:ext cx="198600" cy="198300"/>
            </a:xfrm>
            <a:prstGeom prst="ellipse">
              <a:avLst/>
            </a:prstGeom>
            <a:solidFill>
              <a:srgbClr val="1B786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9"/>
            <p:cNvSpPr txBox="1"/>
            <p:nvPr/>
          </p:nvSpPr>
          <p:spPr>
            <a:xfrm>
              <a:off x="5990215" y="142376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87" name="Google Shape;187;p19"/>
            <p:cNvSpPr txBox="1"/>
            <p:nvPr/>
          </p:nvSpPr>
          <p:spPr>
            <a:xfrm>
              <a:off x="6223854" y="1206568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latin typeface="Roboto"/>
                  <a:ea typeface="Roboto"/>
                  <a:cs typeface="Roboto"/>
                  <a:sym typeface="Roboto"/>
                </a:rPr>
                <a:t>Artificial Intelligence</a:t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88" name="Google Shape;188;p19"/>
          <p:cNvGrpSpPr/>
          <p:nvPr/>
        </p:nvGrpSpPr>
        <p:grpSpPr>
          <a:xfrm>
            <a:off x="5259487" y="1813539"/>
            <a:ext cx="3286704" cy="747300"/>
            <a:chOff x="5064450" y="2086419"/>
            <a:chExt cx="3286704" cy="747300"/>
          </a:xfrm>
        </p:grpSpPr>
        <p:cxnSp>
          <p:nvCxnSpPr>
            <p:cNvPr id="189" name="Google Shape;189;p19"/>
            <p:cNvCxnSpPr/>
            <p:nvPr/>
          </p:nvCxnSpPr>
          <p:spPr>
            <a:xfrm>
              <a:off x="5064450" y="2460069"/>
              <a:ext cx="11190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90" name="Google Shape;190;p19"/>
            <p:cNvSpPr/>
            <p:nvPr/>
          </p:nvSpPr>
          <p:spPr>
            <a:xfrm>
              <a:off x="6014671" y="2353882"/>
              <a:ext cx="198600" cy="198300"/>
            </a:xfrm>
            <a:prstGeom prst="ellipse">
              <a:avLst/>
            </a:prstGeom>
            <a:solidFill>
              <a:srgbClr val="1D7E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9"/>
            <p:cNvSpPr txBox="1"/>
            <p:nvPr/>
          </p:nvSpPr>
          <p:spPr>
            <a:xfrm>
              <a:off x="5991690" y="2295028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92" name="Google Shape;192;p19"/>
            <p:cNvSpPr txBox="1"/>
            <p:nvPr/>
          </p:nvSpPr>
          <p:spPr>
            <a:xfrm>
              <a:off x="6223854" y="2086419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latin typeface="Roboto"/>
                  <a:ea typeface="Roboto"/>
                  <a:cs typeface="Roboto"/>
                  <a:sym typeface="Roboto"/>
                </a:rPr>
                <a:t>Data Integration</a:t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93" name="Google Shape;193;p19"/>
          <p:cNvGrpSpPr/>
          <p:nvPr/>
        </p:nvGrpSpPr>
        <p:grpSpPr>
          <a:xfrm>
            <a:off x="5769188" y="2892976"/>
            <a:ext cx="2777004" cy="747300"/>
            <a:chOff x="5574150" y="3083456"/>
            <a:chExt cx="2777004" cy="747300"/>
          </a:xfrm>
        </p:grpSpPr>
        <p:cxnSp>
          <p:nvCxnSpPr>
            <p:cNvPr id="194" name="Google Shape;194;p19"/>
            <p:cNvCxnSpPr/>
            <p:nvPr/>
          </p:nvCxnSpPr>
          <p:spPr>
            <a:xfrm>
              <a:off x="5574150" y="3449448"/>
              <a:ext cx="6093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95" name="Google Shape;195;p19"/>
            <p:cNvSpPr/>
            <p:nvPr/>
          </p:nvSpPr>
          <p:spPr>
            <a:xfrm>
              <a:off x="6014671" y="3349032"/>
              <a:ext cx="198600" cy="198300"/>
            </a:xfrm>
            <a:prstGeom prst="ellipse">
              <a:avLst/>
            </a:prstGeom>
            <a:solidFill>
              <a:srgbClr val="249C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9"/>
            <p:cNvSpPr txBox="1"/>
            <p:nvPr/>
          </p:nvSpPr>
          <p:spPr>
            <a:xfrm>
              <a:off x="5991690" y="329111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97" name="Google Shape;197;p19"/>
            <p:cNvSpPr txBox="1"/>
            <p:nvPr/>
          </p:nvSpPr>
          <p:spPr>
            <a:xfrm>
              <a:off x="6223854" y="3083456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latin typeface="Roboto"/>
                  <a:ea typeface="Roboto"/>
                  <a:cs typeface="Roboto"/>
                  <a:sym typeface="Roboto"/>
                </a:rPr>
                <a:t>Data Collection</a:t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98" name="Google Shape;198;p19"/>
          <p:cNvGrpSpPr/>
          <p:nvPr/>
        </p:nvGrpSpPr>
        <p:grpSpPr>
          <a:xfrm>
            <a:off x="597814" y="1381868"/>
            <a:ext cx="3468724" cy="747300"/>
            <a:chOff x="744101" y="1672393"/>
            <a:chExt cx="3468724" cy="747300"/>
          </a:xfrm>
        </p:grpSpPr>
        <p:cxnSp>
          <p:nvCxnSpPr>
            <p:cNvPr id="199" name="Google Shape;199;p19"/>
            <p:cNvCxnSpPr/>
            <p:nvPr/>
          </p:nvCxnSpPr>
          <p:spPr>
            <a:xfrm rot="10800000">
              <a:off x="2921325" y="2046050"/>
              <a:ext cx="12915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00" name="Google Shape;200;p19"/>
            <p:cNvSpPr/>
            <p:nvPr/>
          </p:nvSpPr>
          <p:spPr>
            <a:xfrm>
              <a:off x="2874851" y="1943786"/>
              <a:ext cx="198600" cy="198300"/>
            </a:xfrm>
            <a:prstGeom prst="ellipse">
              <a:avLst/>
            </a:prstGeom>
            <a:solidFill>
              <a:srgbClr val="1B786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9"/>
            <p:cNvSpPr txBox="1"/>
            <p:nvPr/>
          </p:nvSpPr>
          <p:spPr>
            <a:xfrm>
              <a:off x="2849841" y="1884747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202" name="Google Shape;202;p19"/>
            <p:cNvSpPr txBox="1"/>
            <p:nvPr/>
          </p:nvSpPr>
          <p:spPr>
            <a:xfrm>
              <a:off x="744101" y="1672393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latin typeface="Roboto"/>
                  <a:ea typeface="Roboto"/>
                  <a:cs typeface="Roboto"/>
                  <a:sym typeface="Roboto"/>
                </a:rPr>
                <a:t>BI and Analytics</a:t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03" name="Google Shape;203;p19"/>
          <p:cNvGrpSpPr/>
          <p:nvPr/>
        </p:nvGrpSpPr>
        <p:grpSpPr>
          <a:xfrm>
            <a:off x="597814" y="2299444"/>
            <a:ext cx="3021694" cy="747300"/>
            <a:chOff x="744101" y="2507609"/>
            <a:chExt cx="3021694" cy="747300"/>
          </a:xfrm>
        </p:grpSpPr>
        <p:cxnSp>
          <p:nvCxnSpPr>
            <p:cNvPr id="204" name="Google Shape;204;p19"/>
            <p:cNvCxnSpPr/>
            <p:nvPr/>
          </p:nvCxnSpPr>
          <p:spPr>
            <a:xfrm rot="10800000">
              <a:off x="2915895" y="2881250"/>
              <a:ext cx="8499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05" name="Google Shape;205;p19"/>
            <p:cNvSpPr/>
            <p:nvPr/>
          </p:nvSpPr>
          <p:spPr>
            <a:xfrm>
              <a:off x="2874851" y="2780836"/>
              <a:ext cx="198600" cy="198300"/>
            </a:xfrm>
            <a:prstGeom prst="ellipse">
              <a:avLst/>
            </a:prstGeom>
            <a:solidFill>
              <a:srgbClr val="1F88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19"/>
            <p:cNvSpPr txBox="1"/>
            <p:nvPr/>
          </p:nvSpPr>
          <p:spPr>
            <a:xfrm>
              <a:off x="2849841" y="272479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207" name="Google Shape;207;p19"/>
            <p:cNvSpPr txBox="1"/>
            <p:nvPr/>
          </p:nvSpPr>
          <p:spPr>
            <a:xfrm>
              <a:off x="744101" y="2507609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latin typeface="Roboto"/>
                  <a:ea typeface="Roboto"/>
                  <a:cs typeface="Roboto"/>
                  <a:sym typeface="Roboto"/>
                </a:rPr>
                <a:t>Data Wrangling</a:t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08" name="Google Shape;208;p19"/>
          <p:cNvGrpSpPr/>
          <p:nvPr/>
        </p:nvGrpSpPr>
        <p:grpSpPr>
          <a:xfrm>
            <a:off x="2811521" y="1005577"/>
            <a:ext cx="3509178" cy="3257208"/>
            <a:chOff x="3318063" y="1368287"/>
            <a:chExt cx="2408000" cy="2993482"/>
          </a:xfrm>
        </p:grpSpPr>
        <p:sp>
          <p:nvSpPr>
            <p:cNvPr id="209" name="Google Shape;209;p19"/>
            <p:cNvSpPr/>
            <p:nvPr/>
          </p:nvSpPr>
          <p:spPr>
            <a:xfrm>
              <a:off x="3595785" y="2775241"/>
              <a:ext cx="1853168" cy="919151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10" name="Google Shape;210;p19"/>
            <p:cNvSpPr/>
            <p:nvPr/>
          </p:nvSpPr>
          <p:spPr>
            <a:xfrm>
              <a:off x="3318063" y="3194383"/>
              <a:ext cx="1203867" cy="1167385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155B54"/>
            </a:solidFill>
            <a:ln>
              <a:noFill/>
            </a:ln>
          </p:spPr>
        </p:sp>
        <p:sp>
          <p:nvSpPr>
            <p:cNvPr id="211" name="Google Shape;211;p19"/>
            <p:cNvSpPr/>
            <p:nvPr/>
          </p:nvSpPr>
          <p:spPr>
            <a:xfrm flipH="1">
              <a:off x="4522196" y="3194383"/>
              <a:ext cx="1203867" cy="1167385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249C90"/>
            </a:solidFill>
            <a:ln>
              <a:noFill/>
            </a:ln>
          </p:spPr>
        </p:sp>
        <p:sp>
          <p:nvSpPr>
            <p:cNvPr id="212" name="Google Shape;212;p19"/>
            <p:cNvSpPr/>
            <p:nvPr/>
          </p:nvSpPr>
          <p:spPr>
            <a:xfrm>
              <a:off x="3844034" y="2401368"/>
              <a:ext cx="1356545" cy="672851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13" name="Google Shape;213;p19"/>
            <p:cNvSpPr/>
            <p:nvPr/>
          </p:nvSpPr>
          <p:spPr>
            <a:xfrm>
              <a:off x="3930892" y="2272397"/>
              <a:ext cx="1175304" cy="581421"/>
            </a:xfrm>
            <a:custGeom>
              <a:rect b="b" l="l" r="r" t="t"/>
              <a:pathLst>
                <a:path extrusionOk="0" h="16300" w="49248">
                  <a:moveTo>
                    <a:pt x="0" y="7554"/>
                  </a:moveTo>
                  <a:lnTo>
                    <a:pt x="24649" y="16300"/>
                  </a:lnTo>
                  <a:lnTo>
                    <a:pt x="49248" y="7604"/>
                  </a:lnTo>
                  <a:lnTo>
                    <a:pt x="24599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14" name="Google Shape;214;p19"/>
            <p:cNvSpPr/>
            <p:nvPr/>
          </p:nvSpPr>
          <p:spPr>
            <a:xfrm>
              <a:off x="4052837" y="2081437"/>
              <a:ext cx="931314" cy="460727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15" name="Google Shape;215;p19"/>
            <p:cNvSpPr/>
            <p:nvPr/>
          </p:nvSpPr>
          <p:spPr>
            <a:xfrm>
              <a:off x="4233144" y="1787006"/>
              <a:ext cx="573183" cy="289305"/>
            </a:xfrm>
            <a:custGeom>
              <a:rect b="b" l="l" r="r" t="t"/>
              <a:pathLst>
                <a:path extrusionOk="0" h="8150" w="24053">
                  <a:moveTo>
                    <a:pt x="0" y="3827"/>
                  </a:moveTo>
                  <a:lnTo>
                    <a:pt x="11976" y="8150"/>
                  </a:lnTo>
                  <a:lnTo>
                    <a:pt x="24053" y="3827"/>
                  </a:lnTo>
                  <a:lnTo>
                    <a:pt x="12126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16" name="Google Shape;216;p19"/>
            <p:cNvSpPr/>
            <p:nvPr/>
          </p:nvSpPr>
          <p:spPr>
            <a:xfrm>
              <a:off x="3640743" y="2708179"/>
              <a:ext cx="881371" cy="854431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155B54"/>
            </a:solidFill>
            <a:ln>
              <a:noFill/>
            </a:ln>
          </p:spPr>
        </p:sp>
        <p:sp>
          <p:nvSpPr>
            <p:cNvPr id="217" name="Google Shape;217;p19"/>
            <p:cNvSpPr/>
            <p:nvPr/>
          </p:nvSpPr>
          <p:spPr>
            <a:xfrm>
              <a:off x="3964720" y="2291507"/>
              <a:ext cx="555203" cy="453658"/>
            </a:xfrm>
            <a:custGeom>
              <a:rect b="b" l="l" r="r" t="t"/>
              <a:pathLst>
                <a:path extrusionOk="0" h="12771" w="23257">
                  <a:moveTo>
                    <a:pt x="3727" y="0"/>
                  </a:moveTo>
                  <a:lnTo>
                    <a:pt x="0" y="4522"/>
                  </a:lnTo>
                  <a:lnTo>
                    <a:pt x="23257" y="12771"/>
                  </a:lnTo>
                  <a:lnTo>
                    <a:pt x="23257" y="7056"/>
                  </a:lnTo>
                  <a:close/>
                </a:path>
              </a:pathLst>
            </a:custGeom>
            <a:gradFill>
              <a:gsLst>
                <a:gs pos="0">
                  <a:srgbClr val="FFCA37"/>
                </a:gs>
                <a:gs pos="100000">
                  <a:srgbClr val="AD8107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218" name="Google Shape;218;p19"/>
            <p:cNvSpPr/>
            <p:nvPr/>
          </p:nvSpPr>
          <p:spPr>
            <a:xfrm flipH="1">
              <a:off x="4518736" y="2291507"/>
              <a:ext cx="555203" cy="453658"/>
            </a:xfrm>
            <a:custGeom>
              <a:rect b="b" l="l" r="r" t="t"/>
              <a:pathLst>
                <a:path extrusionOk="0" h="12771" w="23257">
                  <a:moveTo>
                    <a:pt x="3727" y="0"/>
                  </a:moveTo>
                  <a:lnTo>
                    <a:pt x="0" y="4522"/>
                  </a:lnTo>
                  <a:lnTo>
                    <a:pt x="23257" y="12771"/>
                  </a:lnTo>
                  <a:lnTo>
                    <a:pt x="23257" y="7056"/>
                  </a:lnTo>
                  <a:close/>
                </a:path>
              </a:pathLst>
            </a:custGeom>
            <a:solidFill>
              <a:srgbClr val="F4B400"/>
            </a:solidFill>
            <a:ln>
              <a:noFill/>
            </a:ln>
          </p:spPr>
        </p:sp>
        <p:sp>
          <p:nvSpPr>
            <p:cNvPr id="219" name="Google Shape;219;p19"/>
            <p:cNvSpPr/>
            <p:nvPr/>
          </p:nvSpPr>
          <p:spPr>
            <a:xfrm>
              <a:off x="4084537" y="1922553"/>
              <a:ext cx="435387" cy="501365"/>
            </a:xfrm>
            <a:custGeom>
              <a:rect b="b" l="l" r="r" t="t"/>
              <a:pathLst>
                <a:path extrusionOk="0" h="14114" w="18238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155B54"/>
            </a:solidFill>
            <a:ln>
              <a:noFill/>
            </a:ln>
          </p:spPr>
        </p:sp>
        <p:sp>
          <p:nvSpPr>
            <p:cNvPr id="220" name="Google Shape;220;p19"/>
            <p:cNvSpPr/>
            <p:nvPr/>
          </p:nvSpPr>
          <p:spPr>
            <a:xfrm flipH="1">
              <a:off x="4518735" y="1922553"/>
              <a:ext cx="435387" cy="501365"/>
            </a:xfrm>
            <a:custGeom>
              <a:rect b="b" l="l" r="r" t="t"/>
              <a:pathLst>
                <a:path extrusionOk="0" h="14114" w="18238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1B786E"/>
            </a:solidFill>
            <a:ln>
              <a:noFill/>
            </a:ln>
          </p:spPr>
        </p:sp>
        <p:sp>
          <p:nvSpPr>
            <p:cNvPr id="221" name="Google Shape;221;p19"/>
            <p:cNvSpPr/>
            <p:nvPr/>
          </p:nvSpPr>
          <p:spPr>
            <a:xfrm>
              <a:off x="4266040" y="1368287"/>
              <a:ext cx="253884" cy="593119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155B54"/>
            </a:solidFill>
            <a:ln>
              <a:noFill/>
            </a:ln>
          </p:spPr>
        </p:sp>
        <p:sp>
          <p:nvSpPr>
            <p:cNvPr id="222" name="Google Shape;222;p19"/>
            <p:cNvSpPr/>
            <p:nvPr/>
          </p:nvSpPr>
          <p:spPr>
            <a:xfrm flipH="1">
              <a:off x="4518734" y="1368287"/>
              <a:ext cx="253884" cy="593119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1B786E"/>
            </a:solidFill>
            <a:ln>
              <a:noFill/>
            </a:ln>
          </p:spPr>
        </p:sp>
        <p:sp>
          <p:nvSpPr>
            <p:cNvPr id="223" name="Google Shape;223;p19"/>
            <p:cNvSpPr/>
            <p:nvPr/>
          </p:nvSpPr>
          <p:spPr>
            <a:xfrm>
              <a:off x="3877348" y="2290728"/>
              <a:ext cx="642683" cy="657851"/>
            </a:xfrm>
            <a:custGeom>
              <a:rect b="b" l="l" r="r" t="t"/>
              <a:pathLst>
                <a:path extrusionOk="0" h="46623" w="65016">
                  <a:moveTo>
                    <a:pt x="17858" y="0"/>
                  </a:moveTo>
                  <a:lnTo>
                    <a:pt x="0" y="22135"/>
                  </a:lnTo>
                  <a:lnTo>
                    <a:pt x="65016" y="46623"/>
                  </a:lnTo>
                  <a:lnTo>
                    <a:pt x="65016" y="17537"/>
                  </a:lnTo>
                  <a:close/>
                </a:path>
              </a:pathLst>
            </a:custGeom>
            <a:solidFill>
              <a:srgbClr val="155B54"/>
            </a:solidFill>
            <a:ln>
              <a:noFill/>
            </a:ln>
          </p:spPr>
        </p:sp>
        <p:sp>
          <p:nvSpPr>
            <p:cNvPr id="224" name="Google Shape;224;p19"/>
            <p:cNvSpPr/>
            <p:nvPr/>
          </p:nvSpPr>
          <p:spPr>
            <a:xfrm flipH="1">
              <a:off x="4518572" y="2291772"/>
              <a:ext cx="642683" cy="657851"/>
            </a:xfrm>
            <a:custGeom>
              <a:rect b="b" l="l" r="r" t="t"/>
              <a:pathLst>
                <a:path extrusionOk="0" h="46623" w="65016">
                  <a:moveTo>
                    <a:pt x="17858" y="0"/>
                  </a:moveTo>
                  <a:lnTo>
                    <a:pt x="0" y="22135"/>
                  </a:lnTo>
                  <a:lnTo>
                    <a:pt x="65016" y="46623"/>
                  </a:lnTo>
                  <a:lnTo>
                    <a:pt x="65016" y="17537"/>
                  </a:lnTo>
                  <a:close/>
                </a:path>
              </a:pathLst>
            </a:custGeom>
            <a:solidFill>
              <a:srgbClr val="1D7E74"/>
            </a:solidFill>
            <a:ln>
              <a:noFill/>
            </a:ln>
          </p:spPr>
        </p:sp>
        <p:sp>
          <p:nvSpPr>
            <p:cNvPr id="225" name="Google Shape;225;p19"/>
            <p:cNvSpPr/>
            <p:nvPr/>
          </p:nvSpPr>
          <p:spPr>
            <a:xfrm flipH="1">
              <a:off x="4522009" y="2708179"/>
              <a:ext cx="881371" cy="854431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1F887E"/>
            </a:solidFill>
            <a:ln>
              <a:noFill/>
            </a:ln>
          </p:spPr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0"/>
          <p:cNvSpPr txBox="1"/>
          <p:nvPr/>
        </p:nvSpPr>
        <p:spPr>
          <a:xfrm>
            <a:off x="50625" y="852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b="1" lang="en" sz="320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Typical Data Architecture</a:t>
            </a:r>
            <a:endParaRPr sz="2800">
              <a:solidFill>
                <a:schemeClr val="dk1"/>
              </a:solidFill>
            </a:endParaRPr>
          </a:p>
        </p:txBody>
      </p:sp>
      <p:grpSp>
        <p:nvGrpSpPr>
          <p:cNvPr id="231" name="Google Shape;231;p20"/>
          <p:cNvGrpSpPr/>
          <p:nvPr/>
        </p:nvGrpSpPr>
        <p:grpSpPr>
          <a:xfrm>
            <a:off x="5259487" y="1813539"/>
            <a:ext cx="3286704" cy="747300"/>
            <a:chOff x="5064450" y="2086419"/>
            <a:chExt cx="3286704" cy="747300"/>
          </a:xfrm>
        </p:grpSpPr>
        <p:cxnSp>
          <p:nvCxnSpPr>
            <p:cNvPr id="232" name="Google Shape;232;p20"/>
            <p:cNvCxnSpPr/>
            <p:nvPr/>
          </p:nvCxnSpPr>
          <p:spPr>
            <a:xfrm>
              <a:off x="5064450" y="2460069"/>
              <a:ext cx="11190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33" name="Google Shape;233;p20"/>
            <p:cNvSpPr/>
            <p:nvPr/>
          </p:nvSpPr>
          <p:spPr>
            <a:xfrm>
              <a:off x="6014671" y="2353882"/>
              <a:ext cx="198600" cy="198300"/>
            </a:xfrm>
            <a:prstGeom prst="ellipse">
              <a:avLst/>
            </a:prstGeom>
            <a:solidFill>
              <a:srgbClr val="1D7E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20"/>
            <p:cNvSpPr txBox="1"/>
            <p:nvPr/>
          </p:nvSpPr>
          <p:spPr>
            <a:xfrm>
              <a:off x="5991690" y="2295028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235" name="Google Shape;235;p20"/>
            <p:cNvSpPr txBox="1"/>
            <p:nvPr/>
          </p:nvSpPr>
          <p:spPr>
            <a:xfrm>
              <a:off x="6223854" y="2086419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latin typeface="Roboto"/>
                  <a:ea typeface="Roboto"/>
                  <a:cs typeface="Roboto"/>
                  <a:sym typeface="Roboto"/>
                </a:rPr>
                <a:t>Data Integration</a:t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36" name="Google Shape;236;p20"/>
          <p:cNvGrpSpPr/>
          <p:nvPr/>
        </p:nvGrpSpPr>
        <p:grpSpPr>
          <a:xfrm>
            <a:off x="6044363" y="2892976"/>
            <a:ext cx="2777004" cy="747300"/>
            <a:chOff x="5574150" y="3083456"/>
            <a:chExt cx="2777004" cy="747300"/>
          </a:xfrm>
        </p:grpSpPr>
        <p:cxnSp>
          <p:nvCxnSpPr>
            <p:cNvPr id="237" name="Google Shape;237;p20"/>
            <p:cNvCxnSpPr/>
            <p:nvPr/>
          </p:nvCxnSpPr>
          <p:spPr>
            <a:xfrm>
              <a:off x="5574150" y="3449448"/>
              <a:ext cx="6093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38" name="Google Shape;238;p20"/>
            <p:cNvSpPr/>
            <p:nvPr/>
          </p:nvSpPr>
          <p:spPr>
            <a:xfrm>
              <a:off x="6014671" y="3349032"/>
              <a:ext cx="198600" cy="198300"/>
            </a:xfrm>
            <a:prstGeom prst="ellipse">
              <a:avLst/>
            </a:prstGeom>
            <a:solidFill>
              <a:srgbClr val="249C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20"/>
            <p:cNvSpPr txBox="1"/>
            <p:nvPr/>
          </p:nvSpPr>
          <p:spPr>
            <a:xfrm>
              <a:off x="5991690" y="329111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240" name="Google Shape;240;p20"/>
            <p:cNvSpPr txBox="1"/>
            <p:nvPr/>
          </p:nvSpPr>
          <p:spPr>
            <a:xfrm>
              <a:off x="6223854" y="3083456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latin typeface="Roboto"/>
                  <a:ea typeface="Roboto"/>
                  <a:cs typeface="Roboto"/>
                  <a:sym typeface="Roboto"/>
                </a:rPr>
                <a:t>Data Collection</a:t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41" name="Google Shape;241;p20"/>
          <p:cNvGrpSpPr/>
          <p:nvPr/>
        </p:nvGrpSpPr>
        <p:grpSpPr>
          <a:xfrm>
            <a:off x="597814" y="2299444"/>
            <a:ext cx="3021694" cy="747300"/>
            <a:chOff x="744101" y="2507609"/>
            <a:chExt cx="3021694" cy="747300"/>
          </a:xfrm>
        </p:grpSpPr>
        <p:cxnSp>
          <p:nvCxnSpPr>
            <p:cNvPr id="242" name="Google Shape;242;p20"/>
            <p:cNvCxnSpPr/>
            <p:nvPr/>
          </p:nvCxnSpPr>
          <p:spPr>
            <a:xfrm rot="10800000">
              <a:off x="2915895" y="2881250"/>
              <a:ext cx="8499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43" name="Google Shape;243;p20"/>
            <p:cNvSpPr/>
            <p:nvPr/>
          </p:nvSpPr>
          <p:spPr>
            <a:xfrm>
              <a:off x="2874851" y="2780836"/>
              <a:ext cx="198600" cy="198300"/>
            </a:xfrm>
            <a:prstGeom prst="ellipse">
              <a:avLst/>
            </a:prstGeom>
            <a:solidFill>
              <a:srgbClr val="1F88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20"/>
            <p:cNvSpPr txBox="1"/>
            <p:nvPr/>
          </p:nvSpPr>
          <p:spPr>
            <a:xfrm>
              <a:off x="2849841" y="272479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245" name="Google Shape;245;p20"/>
            <p:cNvSpPr txBox="1"/>
            <p:nvPr/>
          </p:nvSpPr>
          <p:spPr>
            <a:xfrm>
              <a:off x="744101" y="2507609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latin typeface="Roboto"/>
                  <a:ea typeface="Roboto"/>
                  <a:cs typeface="Roboto"/>
                  <a:sym typeface="Roboto"/>
                </a:rPr>
                <a:t>Data Wrangling</a:t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46" name="Google Shape;246;p20"/>
          <p:cNvGrpSpPr/>
          <p:nvPr/>
        </p:nvGrpSpPr>
        <p:grpSpPr>
          <a:xfrm>
            <a:off x="2811521" y="1781556"/>
            <a:ext cx="3509178" cy="2481229"/>
            <a:chOff x="3318063" y="2081437"/>
            <a:chExt cx="2408000" cy="2280332"/>
          </a:xfrm>
        </p:grpSpPr>
        <p:sp>
          <p:nvSpPr>
            <p:cNvPr id="247" name="Google Shape;247;p20"/>
            <p:cNvSpPr/>
            <p:nvPr/>
          </p:nvSpPr>
          <p:spPr>
            <a:xfrm>
              <a:off x="3595785" y="2775241"/>
              <a:ext cx="1853168" cy="919151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48" name="Google Shape;248;p20"/>
            <p:cNvSpPr/>
            <p:nvPr/>
          </p:nvSpPr>
          <p:spPr>
            <a:xfrm>
              <a:off x="3318063" y="3194383"/>
              <a:ext cx="1203867" cy="1167385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155B54"/>
            </a:solidFill>
            <a:ln>
              <a:noFill/>
            </a:ln>
          </p:spPr>
        </p:sp>
        <p:sp>
          <p:nvSpPr>
            <p:cNvPr id="249" name="Google Shape;249;p20"/>
            <p:cNvSpPr/>
            <p:nvPr/>
          </p:nvSpPr>
          <p:spPr>
            <a:xfrm flipH="1">
              <a:off x="4522196" y="3194383"/>
              <a:ext cx="1203867" cy="1167385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249C90"/>
            </a:solidFill>
            <a:ln>
              <a:noFill/>
            </a:ln>
          </p:spPr>
        </p:sp>
        <p:sp>
          <p:nvSpPr>
            <p:cNvPr id="250" name="Google Shape;250;p20"/>
            <p:cNvSpPr/>
            <p:nvPr/>
          </p:nvSpPr>
          <p:spPr>
            <a:xfrm>
              <a:off x="3844034" y="2401368"/>
              <a:ext cx="1356545" cy="672851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51" name="Google Shape;251;p20"/>
            <p:cNvSpPr/>
            <p:nvPr/>
          </p:nvSpPr>
          <p:spPr>
            <a:xfrm>
              <a:off x="3930892" y="2272397"/>
              <a:ext cx="1175304" cy="581421"/>
            </a:xfrm>
            <a:custGeom>
              <a:rect b="b" l="l" r="r" t="t"/>
              <a:pathLst>
                <a:path extrusionOk="0" h="16300" w="49248">
                  <a:moveTo>
                    <a:pt x="0" y="7554"/>
                  </a:moveTo>
                  <a:lnTo>
                    <a:pt x="24649" y="16300"/>
                  </a:lnTo>
                  <a:lnTo>
                    <a:pt x="49248" y="7604"/>
                  </a:lnTo>
                  <a:lnTo>
                    <a:pt x="24599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52" name="Google Shape;252;p20"/>
            <p:cNvSpPr/>
            <p:nvPr/>
          </p:nvSpPr>
          <p:spPr>
            <a:xfrm>
              <a:off x="4052837" y="2081437"/>
              <a:ext cx="931314" cy="460727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53" name="Google Shape;253;p20"/>
            <p:cNvSpPr/>
            <p:nvPr/>
          </p:nvSpPr>
          <p:spPr>
            <a:xfrm>
              <a:off x="3640743" y="2708179"/>
              <a:ext cx="881371" cy="854431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155B54"/>
            </a:solidFill>
            <a:ln>
              <a:noFill/>
            </a:ln>
          </p:spPr>
        </p:sp>
        <p:sp>
          <p:nvSpPr>
            <p:cNvPr id="254" name="Google Shape;254;p20"/>
            <p:cNvSpPr/>
            <p:nvPr/>
          </p:nvSpPr>
          <p:spPr>
            <a:xfrm>
              <a:off x="3964720" y="2291507"/>
              <a:ext cx="555203" cy="453658"/>
            </a:xfrm>
            <a:custGeom>
              <a:rect b="b" l="l" r="r" t="t"/>
              <a:pathLst>
                <a:path extrusionOk="0" h="12771" w="23257">
                  <a:moveTo>
                    <a:pt x="3727" y="0"/>
                  </a:moveTo>
                  <a:lnTo>
                    <a:pt x="0" y="4522"/>
                  </a:lnTo>
                  <a:lnTo>
                    <a:pt x="23257" y="12771"/>
                  </a:lnTo>
                  <a:lnTo>
                    <a:pt x="23257" y="7056"/>
                  </a:lnTo>
                  <a:close/>
                </a:path>
              </a:pathLst>
            </a:custGeom>
            <a:gradFill>
              <a:gsLst>
                <a:gs pos="0">
                  <a:srgbClr val="FFCA37"/>
                </a:gs>
                <a:gs pos="100000">
                  <a:srgbClr val="AD8107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255" name="Google Shape;255;p20"/>
            <p:cNvSpPr/>
            <p:nvPr/>
          </p:nvSpPr>
          <p:spPr>
            <a:xfrm flipH="1">
              <a:off x="4518736" y="2291507"/>
              <a:ext cx="555203" cy="453658"/>
            </a:xfrm>
            <a:custGeom>
              <a:rect b="b" l="l" r="r" t="t"/>
              <a:pathLst>
                <a:path extrusionOk="0" h="12771" w="23257">
                  <a:moveTo>
                    <a:pt x="3727" y="0"/>
                  </a:moveTo>
                  <a:lnTo>
                    <a:pt x="0" y="4522"/>
                  </a:lnTo>
                  <a:lnTo>
                    <a:pt x="23257" y="12771"/>
                  </a:lnTo>
                  <a:lnTo>
                    <a:pt x="23257" y="7056"/>
                  </a:lnTo>
                  <a:close/>
                </a:path>
              </a:pathLst>
            </a:custGeom>
            <a:solidFill>
              <a:srgbClr val="F4B400"/>
            </a:solidFill>
            <a:ln>
              <a:noFill/>
            </a:ln>
          </p:spPr>
        </p:sp>
        <p:sp>
          <p:nvSpPr>
            <p:cNvPr id="256" name="Google Shape;256;p20"/>
            <p:cNvSpPr/>
            <p:nvPr/>
          </p:nvSpPr>
          <p:spPr>
            <a:xfrm>
              <a:off x="3877348" y="2290728"/>
              <a:ext cx="642683" cy="657851"/>
            </a:xfrm>
            <a:custGeom>
              <a:rect b="b" l="l" r="r" t="t"/>
              <a:pathLst>
                <a:path extrusionOk="0" h="46623" w="65016">
                  <a:moveTo>
                    <a:pt x="17858" y="0"/>
                  </a:moveTo>
                  <a:lnTo>
                    <a:pt x="0" y="22135"/>
                  </a:lnTo>
                  <a:lnTo>
                    <a:pt x="65016" y="46623"/>
                  </a:lnTo>
                  <a:lnTo>
                    <a:pt x="65016" y="17537"/>
                  </a:lnTo>
                  <a:close/>
                </a:path>
              </a:pathLst>
            </a:custGeom>
            <a:solidFill>
              <a:srgbClr val="155B54"/>
            </a:solidFill>
            <a:ln>
              <a:noFill/>
            </a:ln>
          </p:spPr>
        </p:sp>
        <p:sp>
          <p:nvSpPr>
            <p:cNvPr id="257" name="Google Shape;257;p20"/>
            <p:cNvSpPr/>
            <p:nvPr/>
          </p:nvSpPr>
          <p:spPr>
            <a:xfrm flipH="1">
              <a:off x="4518572" y="2291772"/>
              <a:ext cx="642683" cy="657851"/>
            </a:xfrm>
            <a:custGeom>
              <a:rect b="b" l="l" r="r" t="t"/>
              <a:pathLst>
                <a:path extrusionOk="0" h="46623" w="65016">
                  <a:moveTo>
                    <a:pt x="17858" y="0"/>
                  </a:moveTo>
                  <a:lnTo>
                    <a:pt x="0" y="22135"/>
                  </a:lnTo>
                  <a:lnTo>
                    <a:pt x="65016" y="46623"/>
                  </a:lnTo>
                  <a:lnTo>
                    <a:pt x="65016" y="17537"/>
                  </a:lnTo>
                  <a:close/>
                </a:path>
              </a:pathLst>
            </a:custGeom>
            <a:solidFill>
              <a:srgbClr val="1D7E74"/>
            </a:solidFill>
            <a:ln>
              <a:noFill/>
            </a:ln>
          </p:spPr>
        </p:sp>
        <p:sp>
          <p:nvSpPr>
            <p:cNvPr id="258" name="Google Shape;258;p20"/>
            <p:cNvSpPr/>
            <p:nvPr/>
          </p:nvSpPr>
          <p:spPr>
            <a:xfrm flipH="1">
              <a:off x="4522009" y="2708179"/>
              <a:ext cx="881371" cy="854431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1F887E"/>
            </a:solidFill>
            <a:ln>
              <a:noFill/>
            </a:ln>
          </p:spPr>
        </p:sp>
      </p:grpSp>
      <p:grpSp>
        <p:nvGrpSpPr>
          <p:cNvPr id="259" name="Google Shape;259;p20"/>
          <p:cNvGrpSpPr/>
          <p:nvPr/>
        </p:nvGrpSpPr>
        <p:grpSpPr>
          <a:xfrm>
            <a:off x="3965750" y="790121"/>
            <a:ext cx="1200721" cy="991421"/>
            <a:chOff x="4059061" y="1153325"/>
            <a:chExt cx="1383797" cy="1201140"/>
          </a:xfrm>
        </p:grpSpPr>
        <p:sp>
          <p:nvSpPr>
            <p:cNvPr id="260" name="Google Shape;260;p20"/>
            <p:cNvSpPr/>
            <p:nvPr/>
          </p:nvSpPr>
          <p:spPr>
            <a:xfrm>
              <a:off x="4059061" y="1153325"/>
              <a:ext cx="693508" cy="1201140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2F2F2F"/>
            </a:solidFill>
            <a:ln>
              <a:noFill/>
            </a:ln>
          </p:spPr>
        </p:sp>
        <p:sp>
          <p:nvSpPr>
            <p:cNvPr id="261" name="Google Shape;261;p20"/>
            <p:cNvSpPr/>
            <p:nvPr/>
          </p:nvSpPr>
          <p:spPr>
            <a:xfrm flipH="1">
              <a:off x="4749350" y="1153325"/>
              <a:ext cx="693508" cy="1201140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</p:sp>
      </p:grpSp>
      <p:grpSp>
        <p:nvGrpSpPr>
          <p:cNvPr id="262" name="Google Shape;262;p20"/>
          <p:cNvGrpSpPr/>
          <p:nvPr/>
        </p:nvGrpSpPr>
        <p:grpSpPr>
          <a:xfrm>
            <a:off x="5103062" y="499195"/>
            <a:ext cx="3599586" cy="1384500"/>
            <a:chOff x="4908100" y="889950"/>
            <a:chExt cx="3599586" cy="1384500"/>
          </a:xfrm>
        </p:grpSpPr>
        <p:cxnSp>
          <p:nvCxnSpPr>
            <p:cNvPr id="263" name="Google Shape;263;p20"/>
            <p:cNvCxnSpPr/>
            <p:nvPr/>
          </p:nvCxnSpPr>
          <p:spPr>
            <a:xfrm>
              <a:off x="4908100" y="1593250"/>
              <a:ext cx="1715100" cy="0"/>
            </a:xfrm>
            <a:prstGeom prst="straightConnector1">
              <a:avLst/>
            </a:prstGeom>
            <a:noFill/>
            <a:ln cap="flat" cmpd="sng" w="9525">
              <a:solidFill>
                <a:srgbClr val="C2C2C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64" name="Google Shape;264;p20"/>
            <p:cNvSpPr txBox="1"/>
            <p:nvPr/>
          </p:nvSpPr>
          <p:spPr>
            <a:xfrm>
              <a:off x="6640486" y="889950"/>
              <a:ext cx="1867200" cy="138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latin typeface="Roboto"/>
                  <a:ea typeface="Roboto"/>
                  <a:cs typeface="Roboto"/>
                  <a:sym typeface="Roboto"/>
                </a:rPr>
                <a:t>ML/AI/BI</a:t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5" name="Google Shape;265;p20"/>
            <p:cNvSpPr/>
            <p:nvPr/>
          </p:nvSpPr>
          <p:spPr>
            <a:xfrm>
              <a:off x="6427830" y="1493307"/>
              <a:ext cx="198600" cy="198300"/>
            </a:xfrm>
            <a:prstGeom prst="ellipse">
              <a:avLst/>
            </a:prstGeom>
            <a:solidFill>
              <a:srgbClr val="3D3D3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20"/>
            <p:cNvSpPr txBox="1"/>
            <p:nvPr/>
          </p:nvSpPr>
          <p:spPr>
            <a:xfrm>
              <a:off x="6402820" y="1436790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1"/>
          <p:cNvSpPr txBox="1"/>
          <p:nvPr/>
        </p:nvSpPr>
        <p:spPr>
          <a:xfrm>
            <a:off x="50625" y="852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b="1" lang="en" sz="320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Data Collection</a:t>
            </a:r>
            <a:endParaRPr sz="2800">
              <a:solidFill>
                <a:schemeClr val="dk1"/>
              </a:solidFill>
            </a:endParaRPr>
          </a:p>
        </p:txBody>
      </p:sp>
      <p:grpSp>
        <p:nvGrpSpPr>
          <p:cNvPr id="272" name="Google Shape;272;p21"/>
          <p:cNvGrpSpPr/>
          <p:nvPr/>
        </p:nvGrpSpPr>
        <p:grpSpPr>
          <a:xfrm>
            <a:off x="6044363" y="2892976"/>
            <a:ext cx="2777004" cy="747300"/>
            <a:chOff x="5574150" y="3083456"/>
            <a:chExt cx="2777004" cy="747300"/>
          </a:xfrm>
        </p:grpSpPr>
        <p:cxnSp>
          <p:nvCxnSpPr>
            <p:cNvPr id="273" name="Google Shape;273;p21"/>
            <p:cNvCxnSpPr/>
            <p:nvPr/>
          </p:nvCxnSpPr>
          <p:spPr>
            <a:xfrm>
              <a:off x="5574150" y="3449448"/>
              <a:ext cx="6093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74" name="Google Shape;274;p21"/>
            <p:cNvSpPr/>
            <p:nvPr/>
          </p:nvSpPr>
          <p:spPr>
            <a:xfrm>
              <a:off x="6014671" y="3349032"/>
              <a:ext cx="198600" cy="198300"/>
            </a:xfrm>
            <a:prstGeom prst="ellipse">
              <a:avLst/>
            </a:prstGeom>
            <a:solidFill>
              <a:srgbClr val="249C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21"/>
            <p:cNvSpPr txBox="1"/>
            <p:nvPr/>
          </p:nvSpPr>
          <p:spPr>
            <a:xfrm>
              <a:off x="5991690" y="329111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276" name="Google Shape;276;p21"/>
            <p:cNvSpPr txBox="1"/>
            <p:nvPr/>
          </p:nvSpPr>
          <p:spPr>
            <a:xfrm>
              <a:off x="6223854" y="3083456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latin typeface="Roboto"/>
                  <a:ea typeface="Roboto"/>
                  <a:cs typeface="Roboto"/>
                  <a:sym typeface="Roboto"/>
                </a:rPr>
                <a:t>Data Collection</a:t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77" name="Google Shape;277;p21"/>
          <p:cNvGrpSpPr/>
          <p:nvPr/>
        </p:nvGrpSpPr>
        <p:grpSpPr>
          <a:xfrm>
            <a:off x="2811521" y="2536484"/>
            <a:ext cx="3509178" cy="1726301"/>
            <a:chOff x="3318063" y="2775241"/>
            <a:chExt cx="2408000" cy="1586528"/>
          </a:xfrm>
        </p:grpSpPr>
        <p:sp>
          <p:nvSpPr>
            <p:cNvPr id="278" name="Google Shape;278;p21"/>
            <p:cNvSpPr/>
            <p:nvPr/>
          </p:nvSpPr>
          <p:spPr>
            <a:xfrm>
              <a:off x="3595785" y="2775241"/>
              <a:ext cx="1853168" cy="919151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79" name="Google Shape;279;p21"/>
            <p:cNvSpPr/>
            <p:nvPr/>
          </p:nvSpPr>
          <p:spPr>
            <a:xfrm>
              <a:off x="3318063" y="3194383"/>
              <a:ext cx="1203867" cy="1167385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155B54"/>
            </a:solidFill>
            <a:ln>
              <a:noFill/>
            </a:ln>
          </p:spPr>
        </p:sp>
        <p:sp>
          <p:nvSpPr>
            <p:cNvPr id="280" name="Google Shape;280;p21"/>
            <p:cNvSpPr/>
            <p:nvPr/>
          </p:nvSpPr>
          <p:spPr>
            <a:xfrm flipH="1">
              <a:off x="4522196" y="3194383"/>
              <a:ext cx="1203867" cy="1167385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249C90"/>
            </a:solidFill>
            <a:ln>
              <a:noFill/>
            </a:ln>
          </p:spPr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2"/>
          <p:cNvSpPr txBox="1"/>
          <p:nvPr/>
        </p:nvSpPr>
        <p:spPr>
          <a:xfrm>
            <a:off x="50625" y="852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b="1" lang="en" sz="320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Data Wrangling</a:t>
            </a:r>
            <a:endParaRPr sz="2800">
              <a:solidFill>
                <a:schemeClr val="dk1"/>
              </a:solidFill>
            </a:endParaRPr>
          </a:p>
        </p:txBody>
      </p:sp>
      <p:grpSp>
        <p:nvGrpSpPr>
          <p:cNvPr id="286" name="Google Shape;286;p22"/>
          <p:cNvGrpSpPr/>
          <p:nvPr/>
        </p:nvGrpSpPr>
        <p:grpSpPr>
          <a:xfrm>
            <a:off x="6044363" y="2892976"/>
            <a:ext cx="2777004" cy="747300"/>
            <a:chOff x="5574150" y="3083456"/>
            <a:chExt cx="2777004" cy="747300"/>
          </a:xfrm>
        </p:grpSpPr>
        <p:cxnSp>
          <p:nvCxnSpPr>
            <p:cNvPr id="287" name="Google Shape;287;p22"/>
            <p:cNvCxnSpPr/>
            <p:nvPr/>
          </p:nvCxnSpPr>
          <p:spPr>
            <a:xfrm>
              <a:off x="5574150" y="3449448"/>
              <a:ext cx="6093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88" name="Google Shape;288;p22"/>
            <p:cNvSpPr/>
            <p:nvPr/>
          </p:nvSpPr>
          <p:spPr>
            <a:xfrm>
              <a:off x="6014671" y="3349032"/>
              <a:ext cx="198600" cy="198300"/>
            </a:xfrm>
            <a:prstGeom prst="ellipse">
              <a:avLst/>
            </a:prstGeom>
            <a:solidFill>
              <a:srgbClr val="249C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22"/>
            <p:cNvSpPr txBox="1"/>
            <p:nvPr/>
          </p:nvSpPr>
          <p:spPr>
            <a:xfrm>
              <a:off x="5991690" y="329111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290" name="Google Shape;290;p22"/>
            <p:cNvSpPr txBox="1"/>
            <p:nvPr/>
          </p:nvSpPr>
          <p:spPr>
            <a:xfrm>
              <a:off x="6223854" y="3083456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latin typeface="Roboto"/>
                  <a:ea typeface="Roboto"/>
                  <a:cs typeface="Roboto"/>
                  <a:sym typeface="Roboto"/>
                </a:rPr>
                <a:t>Data Collection</a:t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91" name="Google Shape;291;p22"/>
          <p:cNvGrpSpPr/>
          <p:nvPr/>
        </p:nvGrpSpPr>
        <p:grpSpPr>
          <a:xfrm>
            <a:off x="597814" y="2299444"/>
            <a:ext cx="3021694" cy="747300"/>
            <a:chOff x="744101" y="2507609"/>
            <a:chExt cx="3021694" cy="747300"/>
          </a:xfrm>
        </p:grpSpPr>
        <p:cxnSp>
          <p:nvCxnSpPr>
            <p:cNvPr id="292" name="Google Shape;292;p22"/>
            <p:cNvCxnSpPr/>
            <p:nvPr/>
          </p:nvCxnSpPr>
          <p:spPr>
            <a:xfrm rot="10800000">
              <a:off x="2915895" y="2881250"/>
              <a:ext cx="8499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93" name="Google Shape;293;p22"/>
            <p:cNvSpPr/>
            <p:nvPr/>
          </p:nvSpPr>
          <p:spPr>
            <a:xfrm>
              <a:off x="2874851" y="2780836"/>
              <a:ext cx="198600" cy="198300"/>
            </a:xfrm>
            <a:prstGeom prst="ellipse">
              <a:avLst/>
            </a:prstGeom>
            <a:solidFill>
              <a:srgbClr val="1F88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22"/>
            <p:cNvSpPr txBox="1"/>
            <p:nvPr/>
          </p:nvSpPr>
          <p:spPr>
            <a:xfrm>
              <a:off x="2849841" y="272479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295" name="Google Shape;295;p22"/>
            <p:cNvSpPr txBox="1"/>
            <p:nvPr/>
          </p:nvSpPr>
          <p:spPr>
            <a:xfrm>
              <a:off x="744101" y="2507609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latin typeface="Roboto"/>
                  <a:ea typeface="Roboto"/>
                  <a:cs typeface="Roboto"/>
                  <a:sym typeface="Roboto"/>
                </a:rPr>
                <a:t>Data Wrangling</a:t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96" name="Google Shape;296;p22"/>
          <p:cNvGrpSpPr/>
          <p:nvPr/>
        </p:nvGrpSpPr>
        <p:grpSpPr>
          <a:xfrm>
            <a:off x="2811521" y="2129673"/>
            <a:ext cx="3509178" cy="2133112"/>
            <a:chOff x="3318063" y="2401368"/>
            <a:chExt cx="2408000" cy="1960400"/>
          </a:xfrm>
        </p:grpSpPr>
        <p:sp>
          <p:nvSpPr>
            <p:cNvPr id="297" name="Google Shape;297;p22"/>
            <p:cNvSpPr/>
            <p:nvPr/>
          </p:nvSpPr>
          <p:spPr>
            <a:xfrm>
              <a:off x="3595785" y="2775241"/>
              <a:ext cx="1853168" cy="919151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298" name="Google Shape;298;p22"/>
            <p:cNvSpPr/>
            <p:nvPr/>
          </p:nvSpPr>
          <p:spPr>
            <a:xfrm>
              <a:off x="3318063" y="3194383"/>
              <a:ext cx="1203867" cy="1167385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155B54"/>
            </a:solidFill>
            <a:ln>
              <a:noFill/>
            </a:ln>
          </p:spPr>
        </p:sp>
        <p:sp>
          <p:nvSpPr>
            <p:cNvPr id="299" name="Google Shape;299;p22"/>
            <p:cNvSpPr/>
            <p:nvPr/>
          </p:nvSpPr>
          <p:spPr>
            <a:xfrm flipH="1">
              <a:off x="4522196" y="3194383"/>
              <a:ext cx="1203867" cy="1167385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249C90"/>
            </a:solidFill>
            <a:ln>
              <a:noFill/>
            </a:ln>
          </p:spPr>
        </p:sp>
        <p:sp>
          <p:nvSpPr>
            <p:cNvPr id="300" name="Google Shape;300;p22"/>
            <p:cNvSpPr/>
            <p:nvPr/>
          </p:nvSpPr>
          <p:spPr>
            <a:xfrm>
              <a:off x="3844034" y="2401368"/>
              <a:ext cx="1356545" cy="672851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301" name="Google Shape;301;p22"/>
            <p:cNvSpPr/>
            <p:nvPr/>
          </p:nvSpPr>
          <p:spPr>
            <a:xfrm>
              <a:off x="3640743" y="2708179"/>
              <a:ext cx="881371" cy="854431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155B54"/>
            </a:solidFill>
            <a:ln>
              <a:noFill/>
            </a:ln>
          </p:spPr>
        </p:sp>
        <p:sp>
          <p:nvSpPr>
            <p:cNvPr id="302" name="Google Shape;302;p22"/>
            <p:cNvSpPr/>
            <p:nvPr/>
          </p:nvSpPr>
          <p:spPr>
            <a:xfrm flipH="1">
              <a:off x="4522009" y="2708179"/>
              <a:ext cx="881371" cy="854431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1F887E"/>
            </a:solidFill>
            <a:ln>
              <a:noFill/>
            </a:ln>
          </p:spPr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3"/>
          <p:cNvSpPr txBox="1"/>
          <p:nvPr/>
        </p:nvSpPr>
        <p:spPr>
          <a:xfrm>
            <a:off x="50625" y="852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b="1" lang="en" sz="320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Data Integration</a:t>
            </a:r>
            <a:endParaRPr sz="2800">
              <a:solidFill>
                <a:schemeClr val="dk1"/>
              </a:solidFill>
            </a:endParaRPr>
          </a:p>
        </p:txBody>
      </p:sp>
      <p:grpSp>
        <p:nvGrpSpPr>
          <p:cNvPr id="308" name="Google Shape;308;p23"/>
          <p:cNvGrpSpPr/>
          <p:nvPr/>
        </p:nvGrpSpPr>
        <p:grpSpPr>
          <a:xfrm>
            <a:off x="5259487" y="1813539"/>
            <a:ext cx="3286704" cy="747300"/>
            <a:chOff x="5064450" y="2086419"/>
            <a:chExt cx="3286704" cy="747300"/>
          </a:xfrm>
        </p:grpSpPr>
        <p:cxnSp>
          <p:nvCxnSpPr>
            <p:cNvPr id="309" name="Google Shape;309;p23"/>
            <p:cNvCxnSpPr/>
            <p:nvPr/>
          </p:nvCxnSpPr>
          <p:spPr>
            <a:xfrm>
              <a:off x="5064450" y="2460069"/>
              <a:ext cx="11190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10" name="Google Shape;310;p23"/>
            <p:cNvSpPr/>
            <p:nvPr/>
          </p:nvSpPr>
          <p:spPr>
            <a:xfrm>
              <a:off x="6014671" y="2353882"/>
              <a:ext cx="198600" cy="198300"/>
            </a:xfrm>
            <a:prstGeom prst="ellipse">
              <a:avLst/>
            </a:prstGeom>
            <a:solidFill>
              <a:srgbClr val="1D7E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23"/>
            <p:cNvSpPr txBox="1"/>
            <p:nvPr/>
          </p:nvSpPr>
          <p:spPr>
            <a:xfrm>
              <a:off x="5991690" y="2295028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312" name="Google Shape;312;p23"/>
            <p:cNvSpPr txBox="1"/>
            <p:nvPr/>
          </p:nvSpPr>
          <p:spPr>
            <a:xfrm>
              <a:off x="6223854" y="2086419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latin typeface="Roboto"/>
                  <a:ea typeface="Roboto"/>
                  <a:cs typeface="Roboto"/>
                  <a:sym typeface="Roboto"/>
                </a:rPr>
                <a:t>Data Integration</a:t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13" name="Google Shape;313;p23"/>
          <p:cNvGrpSpPr/>
          <p:nvPr/>
        </p:nvGrpSpPr>
        <p:grpSpPr>
          <a:xfrm>
            <a:off x="6044363" y="2892976"/>
            <a:ext cx="2777004" cy="747300"/>
            <a:chOff x="5574150" y="3083456"/>
            <a:chExt cx="2777004" cy="747300"/>
          </a:xfrm>
        </p:grpSpPr>
        <p:cxnSp>
          <p:nvCxnSpPr>
            <p:cNvPr id="314" name="Google Shape;314;p23"/>
            <p:cNvCxnSpPr/>
            <p:nvPr/>
          </p:nvCxnSpPr>
          <p:spPr>
            <a:xfrm>
              <a:off x="5574150" y="3449448"/>
              <a:ext cx="6093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15" name="Google Shape;315;p23"/>
            <p:cNvSpPr/>
            <p:nvPr/>
          </p:nvSpPr>
          <p:spPr>
            <a:xfrm>
              <a:off x="6014671" y="3349032"/>
              <a:ext cx="198600" cy="198300"/>
            </a:xfrm>
            <a:prstGeom prst="ellipse">
              <a:avLst/>
            </a:prstGeom>
            <a:solidFill>
              <a:srgbClr val="249C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23"/>
            <p:cNvSpPr txBox="1"/>
            <p:nvPr/>
          </p:nvSpPr>
          <p:spPr>
            <a:xfrm>
              <a:off x="5991690" y="329111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317" name="Google Shape;317;p23"/>
            <p:cNvSpPr txBox="1"/>
            <p:nvPr/>
          </p:nvSpPr>
          <p:spPr>
            <a:xfrm>
              <a:off x="6223854" y="3083456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latin typeface="Roboto"/>
                  <a:ea typeface="Roboto"/>
                  <a:cs typeface="Roboto"/>
                  <a:sym typeface="Roboto"/>
                </a:rPr>
                <a:t>Data Collection</a:t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18" name="Google Shape;318;p23"/>
          <p:cNvGrpSpPr/>
          <p:nvPr/>
        </p:nvGrpSpPr>
        <p:grpSpPr>
          <a:xfrm>
            <a:off x="597814" y="2299444"/>
            <a:ext cx="3021694" cy="747300"/>
            <a:chOff x="744101" y="2507609"/>
            <a:chExt cx="3021694" cy="747300"/>
          </a:xfrm>
        </p:grpSpPr>
        <p:cxnSp>
          <p:nvCxnSpPr>
            <p:cNvPr id="319" name="Google Shape;319;p23"/>
            <p:cNvCxnSpPr/>
            <p:nvPr/>
          </p:nvCxnSpPr>
          <p:spPr>
            <a:xfrm rot="10800000">
              <a:off x="2915895" y="2881250"/>
              <a:ext cx="8499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20" name="Google Shape;320;p23"/>
            <p:cNvSpPr/>
            <p:nvPr/>
          </p:nvSpPr>
          <p:spPr>
            <a:xfrm>
              <a:off x="2874851" y="2780836"/>
              <a:ext cx="198600" cy="198300"/>
            </a:xfrm>
            <a:prstGeom prst="ellipse">
              <a:avLst/>
            </a:prstGeom>
            <a:solidFill>
              <a:srgbClr val="1F88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23"/>
            <p:cNvSpPr txBox="1"/>
            <p:nvPr/>
          </p:nvSpPr>
          <p:spPr>
            <a:xfrm>
              <a:off x="2849841" y="272479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322" name="Google Shape;322;p23"/>
            <p:cNvSpPr txBox="1"/>
            <p:nvPr/>
          </p:nvSpPr>
          <p:spPr>
            <a:xfrm>
              <a:off x="744101" y="2507609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latin typeface="Roboto"/>
                  <a:ea typeface="Roboto"/>
                  <a:cs typeface="Roboto"/>
                  <a:sym typeface="Roboto"/>
                </a:rPr>
                <a:t>Data Wrangling</a:t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23" name="Google Shape;323;p23"/>
          <p:cNvGrpSpPr/>
          <p:nvPr/>
        </p:nvGrpSpPr>
        <p:grpSpPr>
          <a:xfrm>
            <a:off x="2811521" y="1781556"/>
            <a:ext cx="3509178" cy="2481229"/>
            <a:chOff x="3318063" y="2081437"/>
            <a:chExt cx="2408000" cy="2280332"/>
          </a:xfrm>
        </p:grpSpPr>
        <p:sp>
          <p:nvSpPr>
            <p:cNvPr id="324" name="Google Shape;324;p23"/>
            <p:cNvSpPr/>
            <p:nvPr/>
          </p:nvSpPr>
          <p:spPr>
            <a:xfrm>
              <a:off x="3595785" y="2775241"/>
              <a:ext cx="1853168" cy="919151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325" name="Google Shape;325;p23"/>
            <p:cNvSpPr/>
            <p:nvPr/>
          </p:nvSpPr>
          <p:spPr>
            <a:xfrm>
              <a:off x="3318063" y="3194383"/>
              <a:ext cx="1203867" cy="1167385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155B54"/>
            </a:solidFill>
            <a:ln>
              <a:noFill/>
            </a:ln>
          </p:spPr>
        </p:sp>
        <p:sp>
          <p:nvSpPr>
            <p:cNvPr id="326" name="Google Shape;326;p23"/>
            <p:cNvSpPr/>
            <p:nvPr/>
          </p:nvSpPr>
          <p:spPr>
            <a:xfrm flipH="1">
              <a:off x="4522196" y="3194383"/>
              <a:ext cx="1203867" cy="1167385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249C90"/>
            </a:solidFill>
            <a:ln>
              <a:noFill/>
            </a:ln>
          </p:spPr>
        </p:sp>
        <p:sp>
          <p:nvSpPr>
            <p:cNvPr id="327" name="Google Shape;327;p23"/>
            <p:cNvSpPr/>
            <p:nvPr/>
          </p:nvSpPr>
          <p:spPr>
            <a:xfrm>
              <a:off x="3844034" y="2401368"/>
              <a:ext cx="1356545" cy="672851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328" name="Google Shape;328;p23"/>
            <p:cNvSpPr/>
            <p:nvPr/>
          </p:nvSpPr>
          <p:spPr>
            <a:xfrm>
              <a:off x="3930892" y="2272397"/>
              <a:ext cx="1175304" cy="581421"/>
            </a:xfrm>
            <a:custGeom>
              <a:rect b="b" l="l" r="r" t="t"/>
              <a:pathLst>
                <a:path extrusionOk="0" h="16300" w="49248">
                  <a:moveTo>
                    <a:pt x="0" y="7554"/>
                  </a:moveTo>
                  <a:lnTo>
                    <a:pt x="24649" y="16300"/>
                  </a:lnTo>
                  <a:lnTo>
                    <a:pt x="49248" y="7604"/>
                  </a:lnTo>
                  <a:lnTo>
                    <a:pt x="24599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329" name="Google Shape;329;p23"/>
            <p:cNvSpPr/>
            <p:nvPr/>
          </p:nvSpPr>
          <p:spPr>
            <a:xfrm>
              <a:off x="4052837" y="2081437"/>
              <a:ext cx="931314" cy="460727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</p:sp>
        <p:sp>
          <p:nvSpPr>
            <p:cNvPr id="330" name="Google Shape;330;p23"/>
            <p:cNvSpPr/>
            <p:nvPr/>
          </p:nvSpPr>
          <p:spPr>
            <a:xfrm>
              <a:off x="3640743" y="2708179"/>
              <a:ext cx="881371" cy="854431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155B54"/>
            </a:solidFill>
            <a:ln>
              <a:noFill/>
            </a:ln>
          </p:spPr>
        </p:sp>
        <p:sp>
          <p:nvSpPr>
            <p:cNvPr id="331" name="Google Shape;331;p23"/>
            <p:cNvSpPr/>
            <p:nvPr/>
          </p:nvSpPr>
          <p:spPr>
            <a:xfrm>
              <a:off x="3964720" y="2291507"/>
              <a:ext cx="555203" cy="453658"/>
            </a:xfrm>
            <a:custGeom>
              <a:rect b="b" l="l" r="r" t="t"/>
              <a:pathLst>
                <a:path extrusionOk="0" h="12771" w="23257">
                  <a:moveTo>
                    <a:pt x="3727" y="0"/>
                  </a:moveTo>
                  <a:lnTo>
                    <a:pt x="0" y="4522"/>
                  </a:lnTo>
                  <a:lnTo>
                    <a:pt x="23257" y="12771"/>
                  </a:lnTo>
                  <a:lnTo>
                    <a:pt x="23257" y="7056"/>
                  </a:lnTo>
                  <a:close/>
                </a:path>
              </a:pathLst>
            </a:custGeom>
            <a:gradFill>
              <a:gsLst>
                <a:gs pos="0">
                  <a:srgbClr val="FFCA37"/>
                </a:gs>
                <a:gs pos="100000">
                  <a:srgbClr val="AD8107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332" name="Google Shape;332;p23"/>
            <p:cNvSpPr/>
            <p:nvPr/>
          </p:nvSpPr>
          <p:spPr>
            <a:xfrm flipH="1">
              <a:off x="4518736" y="2291507"/>
              <a:ext cx="555203" cy="453658"/>
            </a:xfrm>
            <a:custGeom>
              <a:rect b="b" l="l" r="r" t="t"/>
              <a:pathLst>
                <a:path extrusionOk="0" h="12771" w="23257">
                  <a:moveTo>
                    <a:pt x="3727" y="0"/>
                  </a:moveTo>
                  <a:lnTo>
                    <a:pt x="0" y="4522"/>
                  </a:lnTo>
                  <a:lnTo>
                    <a:pt x="23257" y="12771"/>
                  </a:lnTo>
                  <a:lnTo>
                    <a:pt x="23257" y="7056"/>
                  </a:lnTo>
                  <a:close/>
                </a:path>
              </a:pathLst>
            </a:custGeom>
            <a:solidFill>
              <a:srgbClr val="F4B400"/>
            </a:solidFill>
            <a:ln>
              <a:noFill/>
            </a:ln>
          </p:spPr>
        </p:sp>
        <p:sp>
          <p:nvSpPr>
            <p:cNvPr id="333" name="Google Shape;333;p23"/>
            <p:cNvSpPr/>
            <p:nvPr/>
          </p:nvSpPr>
          <p:spPr>
            <a:xfrm>
              <a:off x="3877348" y="2290728"/>
              <a:ext cx="642683" cy="657851"/>
            </a:xfrm>
            <a:custGeom>
              <a:rect b="b" l="l" r="r" t="t"/>
              <a:pathLst>
                <a:path extrusionOk="0" h="46623" w="65016">
                  <a:moveTo>
                    <a:pt x="17858" y="0"/>
                  </a:moveTo>
                  <a:lnTo>
                    <a:pt x="0" y="22135"/>
                  </a:lnTo>
                  <a:lnTo>
                    <a:pt x="65016" y="46623"/>
                  </a:lnTo>
                  <a:lnTo>
                    <a:pt x="65016" y="17537"/>
                  </a:lnTo>
                  <a:close/>
                </a:path>
              </a:pathLst>
            </a:custGeom>
            <a:solidFill>
              <a:srgbClr val="155B54"/>
            </a:solidFill>
            <a:ln>
              <a:noFill/>
            </a:ln>
          </p:spPr>
        </p:sp>
        <p:sp>
          <p:nvSpPr>
            <p:cNvPr id="334" name="Google Shape;334;p23"/>
            <p:cNvSpPr/>
            <p:nvPr/>
          </p:nvSpPr>
          <p:spPr>
            <a:xfrm flipH="1">
              <a:off x="4518572" y="2291772"/>
              <a:ext cx="642683" cy="657851"/>
            </a:xfrm>
            <a:custGeom>
              <a:rect b="b" l="l" r="r" t="t"/>
              <a:pathLst>
                <a:path extrusionOk="0" h="46623" w="65016">
                  <a:moveTo>
                    <a:pt x="17858" y="0"/>
                  </a:moveTo>
                  <a:lnTo>
                    <a:pt x="0" y="22135"/>
                  </a:lnTo>
                  <a:lnTo>
                    <a:pt x="65016" y="46623"/>
                  </a:lnTo>
                  <a:lnTo>
                    <a:pt x="65016" y="17537"/>
                  </a:lnTo>
                  <a:close/>
                </a:path>
              </a:pathLst>
            </a:custGeom>
            <a:solidFill>
              <a:srgbClr val="1D7E74"/>
            </a:solidFill>
            <a:ln>
              <a:noFill/>
            </a:ln>
          </p:spPr>
        </p:sp>
        <p:sp>
          <p:nvSpPr>
            <p:cNvPr id="335" name="Google Shape;335;p23"/>
            <p:cNvSpPr/>
            <p:nvPr/>
          </p:nvSpPr>
          <p:spPr>
            <a:xfrm flipH="1">
              <a:off x="4522009" y="2708179"/>
              <a:ext cx="881371" cy="854431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1F887E"/>
            </a:solidFill>
            <a:ln>
              <a:noFill/>
            </a:ln>
          </p:spPr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4"/>
          <p:cNvSpPr/>
          <p:nvPr/>
        </p:nvSpPr>
        <p:spPr>
          <a:xfrm>
            <a:off x="0" y="0"/>
            <a:ext cx="9144000" cy="4471500"/>
          </a:xfrm>
          <a:prstGeom prst="rect">
            <a:avLst/>
          </a:prstGeom>
          <a:solidFill>
            <a:srgbClr val="ED68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4"/>
          <p:cNvSpPr txBox="1"/>
          <p:nvPr/>
        </p:nvSpPr>
        <p:spPr>
          <a:xfrm>
            <a:off x="5859966" y="738256"/>
            <a:ext cx="18282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0">
                <a:solidFill>
                  <a:srgbClr val="FD927D"/>
                </a:solidFill>
              </a:rPr>
              <a:t>#</a:t>
            </a:r>
            <a:endParaRPr sz="20000">
              <a:solidFill>
                <a:srgbClr val="FD927D"/>
              </a:solidFill>
            </a:endParaRPr>
          </a:p>
        </p:txBody>
      </p:sp>
      <p:sp>
        <p:nvSpPr>
          <p:cNvPr id="342" name="Google Shape;342;p24"/>
          <p:cNvSpPr txBox="1"/>
          <p:nvPr>
            <p:ph type="ctrTitle"/>
          </p:nvPr>
        </p:nvSpPr>
        <p:spPr>
          <a:xfrm>
            <a:off x="311700" y="1996100"/>
            <a:ext cx="8520600" cy="9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538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ETL - ELT</a:t>
            </a:r>
            <a:endParaRPr b="1" sz="5380">
              <a:solidFill>
                <a:schemeClr val="lt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223" y="416325"/>
            <a:ext cx="3551200" cy="366985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25"/>
          <p:cNvSpPr txBox="1"/>
          <p:nvPr>
            <p:ph type="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ETL</a:t>
            </a:r>
            <a:endParaRPr b="1" sz="3200">
              <a:solidFill>
                <a:srgbClr val="ED684E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49" name="Google Shape;349;p25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50" name="Google Shape;350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71601" y="1282446"/>
            <a:ext cx="6400799" cy="25786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223" y="416325"/>
            <a:ext cx="3551200" cy="366985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26"/>
          <p:cNvSpPr txBox="1"/>
          <p:nvPr>
            <p:ph type="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ELT</a:t>
            </a:r>
            <a:endParaRPr b="1" sz="3200">
              <a:solidFill>
                <a:srgbClr val="ED684E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57" name="Google Shape;357;p26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58" name="Google Shape;358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71600" y="1282663"/>
            <a:ext cx="6400800" cy="257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7"/>
          <p:cNvSpPr/>
          <p:nvPr/>
        </p:nvSpPr>
        <p:spPr>
          <a:xfrm>
            <a:off x="0" y="0"/>
            <a:ext cx="9144000" cy="4471500"/>
          </a:xfrm>
          <a:prstGeom prst="rect">
            <a:avLst/>
          </a:prstGeom>
          <a:solidFill>
            <a:srgbClr val="ED68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7"/>
          <p:cNvSpPr txBox="1"/>
          <p:nvPr/>
        </p:nvSpPr>
        <p:spPr>
          <a:xfrm>
            <a:off x="5859966" y="738256"/>
            <a:ext cx="18282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0">
                <a:solidFill>
                  <a:srgbClr val="FD927D"/>
                </a:solidFill>
              </a:rPr>
              <a:t>#</a:t>
            </a:r>
            <a:endParaRPr sz="20000">
              <a:solidFill>
                <a:srgbClr val="FD927D"/>
              </a:solidFill>
            </a:endParaRPr>
          </a:p>
        </p:txBody>
      </p:sp>
      <p:sp>
        <p:nvSpPr>
          <p:cNvPr id="365" name="Google Shape;365;p27"/>
          <p:cNvSpPr txBox="1"/>
          <p:nvPr>
            <p:ph type="ctrTitle"/>
          </p:nvPr>
        </p:nvSpPr>
        <p:spPr>
          <a:xfrm>
            <a:off x="311700" y="1996100"/>
            <a:ext cx="8520600" cy="9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538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Data Warehouse</a:t>
            </a:r>
            <a:endParaRPr b="1" sz="5380">
              <a:solidFill>
                <a:schemeClr val="lt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8"/>
          <p:cNvSpPr/>
          <p:nvPr/>
        </p:nvSpPr>
        <p:spPr>
          <a:xfrm>
            <a:off x="3784950" y="1708500"/>
            <a:ext cx="2283900" cy="1841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28"/>
          <p:cNvSpPr/>
          <p:nvPr/>
        </p:nvSpPr>
        <p:spPr>
          <a:xfrm>
            <a:off x="6548494" y="1708500"/>
            <a:ext cx="2283900" cy="1841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2" name="Google Shape;37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0216" y="1954872"/>
            <a:ext cx="809531" cy="784128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85012" y="1912647"/>
            <a:ext cx="810924" cy="785484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28"/>
          <p:cNvSpPr txBox="1"/>
          <p:nvPr>
            <p:ph type="ctr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Data Warehouse</a:t>
            </a:r>
            <a:endParaRPr/>
          </a:p>
        </p:txBody>
      </p:sp>
      <p:sp>
        <p:nvSpPr>
          <p:cNvPr id="375" name="Google Shape;375;p28"/>
          <p:cNvSpPr txBox="1"/>
          <p:nvPr/>
        </p:nvSpPr>
        <p:spPr>
          <a:xfrm>
            <a:off x="4480264" y="2698118"/>
            <a:ext cx="808200" cy="2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On-Premise</a:t>
            </a:r>
            <a:endParaRPr sz="8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6" name="Google Shape;376;p28"/>
          <p:cNvSpPr txBox="1"/>
          <p:nvPr/>
        </p:nvSpPr>
        <p:spPr>
          <a:xfrm>
            <a:off x="7449145" y="2698126"/>
            <a:ext cx="485100" cy="2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Cloud</a:t>
            </a:r>
            <a:endParaRPr sz="8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77" name="Google Shape;377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8891" y="3122208"/>
            <a:ext cx="483533" cy="182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01608" y="3017082"/>
            <a:ext cx="577736" cy="3726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2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148534" y="3135215"/>
            <a:ext cx="588687" cy="13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2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055312" y="3112064"/>
            <a:ext cx="406262" cy="2213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2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665503" y="3143106"/>
            <a:ext cx="361779" cy="1592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2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231150" y="3157927"/>
            <a:ext cx="483526" cy="90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28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92575" y="1166000"/>
            <a:ext cx="1888651" cy="292608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28"/>
          <p:cNvSpPr/>
          <p:nvPr/>
        </p:nvSpPr>
        <p:spPr>
          <a:xfrm>
            <a:off x="2829650" y="1174825"/>
            <a:ext cx="659100" cy="29262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ED68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28"/>
          <p:cNvSpPr txBox="1"/>
          <p:nvPr/>
        </p:nvSpPr>
        <p:spPr>
          <a:xfrm>
            <a:off x="157600" y="4942925"/>
            <a:ext cx="7221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"/>
              <a:t>PNG Credits: https://databricks.com/wp-content/uploads/2020/01/data-lakehouse-new-1024x538.png</a:t>
            </a:r>
            <a:endParaRPr sz="4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9"/>
          <p:cNvSpPr/>
          <p:nvPr/>
        </p:nvSpPr>
        <p:spPr>
          <a:xfrm>
            <a:off x="0" y="0"/>
            <a:ext cx="9144000" cy="4471500"/>
          </a:xfrm>
          <a:prstGeom prst="rect">
            <a:avLst/>
          </a:prstGeom>
          <a:solidFill>
            <a:srgbClr val="ED68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29"/>
          <p:cNvSpPr txBox="1"/>
          <p:nvPr/>
        </p:nvSpPr>
        <p:spPr>
          <a:xfrm>
            <a:off x="5859966" y="738256"/>
            <a:ext cx="18282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0">
                <a:solidFill>
                  <a:srgbClr val="FD927D"/>
                </a:solidFill>
              </a:rPr>
              <a:t>#</a:t>
            </a:r>
            <a:endParaRPr sz="20000">
              <a:solidFill>
                <a:srgbClr val="FD927D"/>
              </a:solidFill>
            </a:endParaRPr>
          </a:p>
        </p:txBody>
      </p:sp>
      <p:sp>
        <p:nvSpPr>
          <p:cNvPr id="392" name="Google Shape;392;p29"/>
          <p:cNvSpPr txBox="1"/>
          <p:nvPr>
            <p:ph type="ctrTitle"/>
          </p:nvPr>
        </p:nvSpPr>
        <p:spPr>
          <a:xfrm>
            <a:off x="311700" y="1996100"/>
            <a:ext cx="8520600" cy="9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538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External Tables</a:t>
            </a:r>
            <a:endParaRPr b="1" sz="5380">
              <a:solidFill>
                <a:schemeClr val="lt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0"/>
          <p:cNvSpPr txBox="1"/>
          <p:nvPr>
            <p:ph type="ctr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External Tables</a:t>
            </a:r>
            <a:endParaRPr/>
          </a:p>
        </p:txBody>
      </p:sp>
      <p:sp>
        <p:nvSpPr>
          <p:cNvPr id="398" name="Google Shape;398;p30"/>
          <p:cNvSpPr/>
          <p:nvPr/>
        </p:nvSpPr>
        <p:spPr>
          <a:xfrm>
            <a:off x="1461313" y="1558025"/>
            <a:ext cx="1820600" cy="2187350"/>
          </a:xfrm>
          <a:prstGeom prst="flowChartMagneticDisk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9" name="Google Shape;39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2377" y="1799248"/>
            <a:ext cx="1018470" cy="236328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45659" y="2703854"/>
            <a:ext cx="341873" cy="33157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21158" y="2703854"/>
            <a:ext cx="341873" cy="33157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25932" y="2703854"/>
            <a:ext cx="341873" cy="33157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96641" y="2675431"/>
            <a:ext cx="400454" cy="388421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0"/>
          <p:cNvSpPr/>
          <p:nvPr/>
        </p:nvSpPr>
        <p:spPr>
          <a:xfrm>
            <a:off x="3939738" y="3042800"/>
            <a:ext cx="1185000" cy="123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30"/>
          <p:cNvSpPr/>
          <p:nvPr/>
        </p:nvSpPr>
        <p:spPr>
          <a:xfrm>
            <a:off x="3939750" y="2384075"/>
            <a:ext cx="1185000" cy="1236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6" name="Google Shape;406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82583" y="2019075"/>
            <a:ext cx="294125" cy="29413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82583" y="2502150"/>
            <a:ext cx="294125" cy="29413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82583" y="2972063"/>
            <a:ext cx="294125" cy="29413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17908" y="2019075"/>
            <a:ext cx="294125" cy="29413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17908" y="2502150"/>
            <a:ext cx="294125" cy="29413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17908" y="2972063"/>
            <a:ext cx="294125" cy="29413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853233" y="2025663"/>
            <a:ext cx="294125" cy="29413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853233" y="2508738"/>
            <a:ext cx="294125" cy="29413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853233" y="2978650"/>
            <a:ext cx="294125" cy="29413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388558" y="2025663"/>
            <a:ext cx="294125" cy="29413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388558" y="2508738"/>
            <a:ext cx="294125" cy="29413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388558" y="2978650"/>
            <a:ext cx="294125" cy="294139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30"/>
          <p:cNvSpPr txBox="1"/>
          <p:nvPr/>
        </p:nvSpPr>
        <p:spPr>
          <a:xfrm>
            <a:off x="3816237" y="1820550"/>
            <a:ext cx="156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External Tables</a:t>
            </a:r>
            <a:endParaRPr b="1" sz="12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9" name="Google Shape;419;p30"/>
          <p:cNvSpPr txBox="1"/>
          <p:nvPr/>
        </p:nvSpPr>
        <p:spPr>
          <a:xfrm>
            <a:off x="6339576" y="3448575"/>
            <a:ext cx="134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Data Lake</a:t>
            </a:r>
            <a:endParaRPr b="1" sz="12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1"/>
          <p:cNvSpPr/>
          <p:nvPr/>
        </p:nvSpPr>
        <p:spPr>
          <a:xfrm>
            <a:off x="0" y="0"/>
            <a:ext cx="9144000" cy="4471500"/>
          </a:xfrm>
          <a:prstGeom prst="rect">
            <a:avLst/>
          </a:prstGeom>
          <a:solidFill>
            <a:srgbClr val="ED68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31"/>
          <p:cNvSpPr txBox="1"/>
          <p:nvPr/>
        </p:nvSpPr>
        <p:spPr>
          <a:xfrm>
            <a:off x="5859966" y="738256"/>
            <a:ext cx="18282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0">
                <a:solidFill>
                  <a:srgbClr val="FD927D"/>
                </a:solidFill>
              </a:rPr>
              <a:t>#</a:t>
            </a:r>
            <a:endParaRPr sz="20000">
              <a:solidFill>
                <a:srgbClr val="FD927D"/>
              </a:solidFill>
            </a:endParaRPr>
          </a:p>
        </p:txBody>
      </p:sp>
      <p:sp>
        <p:nvSpPr>
          <p:cNvPr id="426" name="Google Shape;426;p31"/>
          <p:cNvSpPr txBox="1"/>
          <p:nvPr>
            <p:ph type="ctrTitle"/>
          </p:nvPr>
        </p:nvSpPr>
        <p:spPr>
          <a:xfrm>
            <a:off x="311700" y="1996100"/>
            <a:ext cx="8520600" cy="9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538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Data Lake</a:t>
            </a:r>
            <a:endParaRPr b="1" sz="5380">
              <a:solidFill>
                <a:schemeClr val="lt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2"/>
          <p:cNvSpPr/>
          <p:nvPr/>
        </p:nvSpPr>
        <p:spPr>
          <a:xfrm>
            <a:off x="5128469" y="1863150"/>
            <a:ext cx="3171600" cy="1692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32"/>
          <p:cNvSpPr txBox="1"/>
          <p:nvPr>
            <p:ph type="ctr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Data Lake</a:t>
            </a:r>
            <a:endParaRPr/>
          </a:p>
        </p:txBody>
      </p:sp>
      <p:pic>
        <p:nvPicPr>
          <p:cNvPr id="433" name="Google Shape;43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9225" y="2496132"/>
            <a:ext cx="999878" cy="520636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32"/>
          <p:cNvSpPr txBox="1"/>
          <p:nvPr/>
        </p:nvSpPr>
        <p:spPr>
          <a:xfrm>
            <a:off x="5489083" y="3248875"/>
            <a:ext cx="24504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Unstructured / Structured / Semi-Structured Data</a:t>
            </a:r>
            <a:endParaRPr sz="800"/>
          </a:p>
        </p:txBody>
      </p:sp>
      <p:pic>
        <p:nvPicPr>
          <p:cNvPr id="435" name="Google Shape;435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98080" y="2530359"/>
            <a:ext cx="1322153" cy="45218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20232" y="2555733"/>
            <a:ext cx="857789" cy="40145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88000" y="1157063"/>
            <a:ext cx="2455666" cy="2907792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2"/>
          <p:cNvSpPr/>
          <p:nvPr/>
        </p:nvSpPr>
        <p:spPr>
          <a:xfrm>
            <a:off x="3796725" y="1147850"/>
            <a:ext cx="659100" cy="29262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ED68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32"/>
          <p:cNvSpPr txBox="1"/>
          <p:nvPr/>
        </p:nvSpPr>
        <p:spPr>
          <a:xfrm>
            <a:off x="157600" y="4942925"/>
            <a:ext cx="7221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"/>
              <a:t>PNG Credits: https://databricks.com/wp-content/uploads/2020/01/data-lakehouse-new-1024x538.png</a:t>
            </a:r>
            <a:endParaRPr sz="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3"/>
          <p:cNvSpPr/>
          <p:nvPr/>
        </p:nvSpPr>
        <p:spPr>
          <a:xfrm>
            <a:off x="0" y="0"/>
            <a:ext cx="9144000" cy="4471500"/>
          </a:xfrm>
          <a:prstGeom prst="rect">
            <a:avLst/>
          </a:prstGeom>
          <a:solidFill>
            <a:srgbClr val="ED68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33"/>
          <p:cNvSpPr txBox="1"/>
          <p:nvPr/>
        </p:nvSpPr>
        <p:spPr>
          <a:xfrm>
            <a:off x="5859966" y="738256"/>
            <a:ext cx="18282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0">
                <a:solidFill>
                  <a:srgbClr val="FD927D"/>
                </a:solidFill>
              </a:rPr>
              <a:t>#</a:t>
            </a:r>
            <a:endParaRPr sz="20000">
              <a:solidFill>
                <a:srgbClr val="FD927D"/>
              </a:solidFill>
            </a:endParaRPr>
          </a:p>
        </p:txBody>
      </p:sp>
      <p:sp>
        <p:nvSpPr>
          <p:cNvPr id="446" name="Google Shape;446;p33"/>
          <p:cNvSpPr txBox="1"/>
          <p:nvPr>
            <p:ph type="ctrTitle"/>
          </p:nvPr>
        </p:nvSpPr>
        <p:spPr>
          <a:xfrm>
            <a:off x="311700" y="1996100"/>
            <a:ext cx="8520600" cy="9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538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Data Lakehouse</a:t>
            </a:r>
            <a:endParaRPr b="1" sz="5380">
              <a:solidFill>
                <a:schemeClr val="lt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4"/>
          <p:cNvSpPr txBox="1"/>
          <p:nvPr>
            <p:ph type="ctrTitle"/>
          </p:nvPr>
        </p:nvSpPr>
        <p:spPr>
          <a:xfrm>
            <a:off x="311400" y="269825"/>
            <a:ext cx="8521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Data Lakehouse</a:t>
            </a:r>
            <a:endParaRPr/>
          </a:p>
        </p:txBody>
      </p:sp>
      <p:pic>
        <p:nvPicPr>
          <p:cNvPr id="452" name="Google Shape;45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5475" y="985263"/>
            <a:ext cx="2373060" cy="3172968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34"/>
          <p:cNvSpPr txBox="1"/>
          <p:nvPr/>
        </p:nvSpPr>
        <p:spPr>
          <a:xfrm>
            <a:off x="157600" y="4942925"/>
            <a:ext cx="7221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"/>
              <a:t>PNG Credits: https://databricks.com/wp-content/uploads/2020/01/data-lakehouse-new-1024x538.png</a:t>
            </a:r>
            <a:endParaRPr sz="4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35"/>
          <p:cNvSpPr/>
          <p:nvPr/>
        </p:nvSpPr>
        <p:spPr>
          <a:xfrm>
            <a:off x="0" y="0"/>
            <a:ext cx="9144000" cy="4471500"/>
          </a:xfrm>
          <a:prstGeom prst="rect">
            <a:avLst/>
          </a:prstGeom>
          <a:solidFill>
            <a:srgbClr val="ED68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5"/>
          <p:cNvSpPr txBox="1"/>
          <p:nvPr/>
        </p:nvSpPr>
        <p:spPr>
          <a:xfrm>
            <a:off x="5859966" y="738256"/>
            <a:ext cx="18282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0">
                <a:solidFill>
                  <a:srgbClr val="FD927D"/>
                </a:solidFill>
              </a:rPr>
              <a:t>#</a:t>
            </a:r>
            <a:endParaRPr sz="20000">
              <a:solidFill>
                <a:srgbClr val="FD927D"/>
              </a:solidFill>
            </a:endParaRPr>
          </a:p>
        </p:txBody>
      </p:sp>
      <p:sp>
        <p:nvSpPr>
          <p:cNvPr id="460" name="Google Shape;460;p35"/>
          <p:cNvSpPr txBox="1"/>
          <p:nvPr>
            <p:ph type="ctrTitle"/>
          </p:nvPr>
        </p:nvSpPr>
        <p:spPr>
          <a:xfrm>
            <a:off x="311700" y="1996100"/>
            <a:ext cx="8520600" cy="9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58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Slowly Changing Dimensions</a:t>
            </a:r>
            <a:endParaRPr b="1" sz="3580">
              <a:solidFill>
                <a:schemeClr val="lt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6"/>
          <p:cNvSpPr txBox="1"/>
          <p:nvPr>
            <p:ph type="ctr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SCD Type 0</a:t>
            </a:r>
            <a:endParaRPr/>
          </a:p>
        </p:txBody>
      </p:sp>
      <p:sp>
        <p:nvSpPr>
          <p:cNvPr id="466" name="Google Shape;466;p36"/>
          <p:cNvSpPr txBox="1"/>
          <p:nvPr/>
        </p:nvSpPr>
        <p:spPr>
          <a:xfrm>
            <a:off x="311200" y="1083650"/>
            <a:ext cx="6604500" cy="5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05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Not updating the DWH table when a Dimension changes</a:t>
            </a:r>
            <a:endParaRPr sz="105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67" name="Google Shape;46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2550" y="2571740"/>
            <a:ext cx="2171668" cy="43893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4022" y="2576043"/>
            <a:ext cx="2171667" cy="43032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69" name="Google Shape;469;p36"/>
          <p:cNvGraphicFramePr/>
          <p:nvPr/>
        </p:nvGraphicFramePr>
        <p:xfrm>
          <a:off x="2116825" y="2003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{3660BCE2-2714-4049-8B74-3E60B48309CE}</a:tableStyleId>
              </a:tblPr>
              <a:tblGrid>
                <a:gridCol w="2488050"/>
                <a:gridCol w="2422300"/>
              </a:tblGrid>
              <a:tr h="388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31313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Source</a:t>
                      </a:r>
                      <a:endParaRPr b="1">
                        <a:highlight>
                          <a:srgbClr val="ED684E"/>
                        </a:highlight>
                      </a:endParaRPr>
                    </a:p>
                  </a:txBody>
                  <a:tcPr marT="91425" marB="91425" marR="91425" marL="91425">
                    <a:solidFill>
                      <a:srgbClr val="ED68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31313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DWH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ED684E"/>
                    </a:solidFill>
                  </a:tcPr>
                </a:tc>
              </a:tr>
              <a:tr h="748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37"/>
          <p:cNvSpPr txBox="1"/>
          <p:nvPr>
            <p:ph type="ctr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SCD Type 1</a:t>
            </a:r>
            <a:endParaRPr/>
          </a:p>
        </p:txBody>
      </p:sp>
      <p:sp>
        <p:nvSpPr>
          <p:cNvPr id="475" name="Google Shape;475;p37"/>
          <p:cNvSpPr txBox="1"/>
          <p:nvPr/>
        </p:nvSpPr>
        <p:spPr>
          <a:xfrm>
            <a:off x="311200" y="1083650"/>
            <a:ext cx="6604500" cy="5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625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Updating the DWH table when a Dimension changes, overwriting the original data</a:t>
            </a:r>
            <a:endParaRPr sz="16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476" name="Google Shape;476;p37"/>
          <p:cNvGraphicFramePr/>
          <p:nvPr/>
        </p:nvGraphicFramePr>
        <p:xfrm>
          <a:off x="2314238" y="181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{3660BCE2-2714-4049-8B74-3E60B48309CE}</a:tableStyleId>
              </a:tblPr>
              <a:tblGrid>
                <a:gridCol w="2243650"/>
                <a:gridCol w="22718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solidFill>
                            <a:srgbClr val="31313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Source</a:t>
                      </a:r>
                      <a:endParaRPr b="1">
                        <a:highlight>
                          <a:srgbClr val="ED684E"/>
                        </a:highlight>
                      </a:endParaRPr>
                    </a:p>
                  </a:txBody>
                  <a:tcPr marT="91425" marB="91425" marR="91425" marL="91425">
                    <a:solidFill>
                      <a:srgbClr val="ED68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solidFill>
                            <a:srgbClr val="31313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DWH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ED684E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642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691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1F88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1F887E"/>
                    </a:solidFill>
                  </a:tcPr>
                </a:tc>
              </a:tr>
            </a:tbl>
          </a:graphicData>
        </a:graphic>
      </p:graphicFrame>
      <p:pic>
        <p:nvPicPr>
          <p:cNvPr id="477" name="Google Shape;47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6425" y="2294850"/>
            <a:ext cx="1408176" cy="420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02375" y="2289288"/>
            <a:ext cx="1408176" cy="4412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86425" y="2952425"/>
            <a:ext cx="1408176" cy="4318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02375" y="2952425"/>
            <a:ext cx="1408176" cy="4412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86425" y="3621125"/>
            <a:ext cx="1408176" cy="4318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02375" y="3615550"/>
            <a:ext cx="1408176" cy="431841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37"/>
          <p:cNvSpPr txBox="1"/>
          <p:nvPr/>
        </p:nvSpPr>
        <p:spPr>
          <a:xfrm>
            <a:off x="477350" y="2382588"/>
            <a:ext cx="1836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313131"/>
                </a:solidFill>
                <a:highlight>
                  <a:schemeClr val="lt1"/>
                </a:highlight>
                <a:latin typeface="Space Mono"/>
                <a:ea typeface="Space Mono"/>
                <a:cs typeface="Space Mono"/>
                <a:sym typeface="Space Mono"/>
              </a:rPr>
              <a:t>No Air-conditioning</a:t>
            </a:r>
            <a:endParaRPr sz="700">
              <a:solidFill>
                <a:srgbClr val="313131"/>
              </a:solidFill>
              <a:highlight>
                <a:schemeClr val="lt1"/>
              </a:highlight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484" name="Google Shape;484;p37"/>
          <p:cNvSpPr txBox="1"/>
          <p:nvPr/>
        </p:nvSpPr>
        <p:spPr>
          <a:xfrm>
            <a:off x="477350" y="2983863"/>
            <a:ext cx="1836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313131"/>
                </a:solidFill>
                <a:highlight>
                  <a:schemeClr val="lt1"/>
                </a:highlight>
                <a:latin typeface="Space Mono"/>
                <a:ea typeface="Space Mono"/>
                <a:cs typeface="Space Mono"/>
                <a:sym typeface="Space Mono"/>
              </a:rPr>
              <a:t>Installed Air-conditioning</a:t>
            </a:r>
            <a:endParaRPr sz="700">
              <a:solidFill>
                <a:srgbClr val="313131"/>
              </a:solidFill>
              <a:highlight>
                <a:schemeClr val="lt1"/>
              </a:highlight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485" name="Google Shape;485;p37"/>
          <p:cNvSpPr txBox="1"/>
          <p:nvPr/>
        </p:nvSpPr>
        <p:spPr>
          <a:xfrm>
            <a:off x="477350" y="3670988"/>
            <a:ext cx="1836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1F887E"/>
                </a:solidFill>
                <a:highlight>
                  <a:schemeClr val="lt1"/>
                </a:highlight>
                <a:latin typeface="Space Mono"/>
                <a:ea typeface="Space Mono"/>
                <a:cs typeface="Space Mono"/>
                <a:sym typeface="Space Mono"/>
              </a:rPr>
              <a:t>DWH updated</a:t>
            </a:r>
            <a:endParaRPr b="1" sz="700">
              <a:solidFill>
                <a:srgbClr val="1F887E"/>
              </a:solidFill>
              <a:highlight>
                <a:schemeClr val="lt1"/>
              </a:highlight>
              <a:latin typeface="Space Mono"/>
              <a:ea typeface="Space Mono"/>
              <a:cs typeface="Space Mono"/>
              <a:sym typeface="Space Mon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38"/>
          <p:cNvSpPr txBox="1"/>
          <p:nvPr>
            <p:ph type="ctr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SCD Type 2</a:t>
            </a:r>
            <a:endParaRPr/>
          </a:p>
        </p:txBody>
      </p:sp>
      <p:sp>
        <p:nvSpPr>
          <p:cNvPr id="491" name="Google Shape;491;p38"/>
          <p:cNvSpPr txBox="1"/>
          <p:nvPr/>
        </p:nvSpPr>
        <p:spPr>
          <a:xfrm>
            <a:off x="311200" y="1083650"/>
            <a:ext cx="6604500" cy="5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625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Keeping full history - Adding additional (historic data) rows for each dimension change</a:t>
            </a:r>
            <a:endParaRPr b="1"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492" name="Google Shape;492;p38"/>
          <p:cNvGraphicFramePr/>
          <p:nvPr/>
        </p:nvGraphicFramePr>
        <p:xfrm>
          <a:off x="2074338" y="181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{3660BCE2-2714-4049-8B74-3E60B48309CE}</a:tableStyleId>
              </a:tblPr>
              <a:tblGrid>
                <a:gridCol w="2181375"/>
                <a:gridCol w="4435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31313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Source</a:t>
                      </a:r>
                      <a:endParaRPr b="1">
                        <a:highlight>
                          <a:srgbClr val="ED684E"/>
                        </a:highlight>
                      </a:endParaRPr>
                    </a:p>
                  </a:txBody>
                  <a:tcPr marT="91425" marB="91425" marR="91425" marL="91425">
                    <a:solidFill>
                      <a:srgbClr val="ED68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31313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DWH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ED684E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642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691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1F88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1F887E"/>
                    </a:solidFill>
                  </a:tcPr>
                </a:tc>
              </a:tr>
            </a:tbl>
          </a:graphicData>
        </a:graphic>
      </p:graphicFrame>
      <p:sp>
        <p:nvSpPr>
          <p:cNvPr id="493" name="Google Shape;493;p38"/>
          <p:cNvSpPr txBox="1"/>
          <p:nvPr/>
        </p:nvSpPr>
        <p:spPr>
          <a:xfrm>
            <a:off x="36050" y="2382600"/>
            <a:ext cx="2003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313131"/>
                </a:solidFill>
                <a:highlight>
                  <a:schemeClr val="lt1"/>
                </a:highlight>
                <a:latin typeface="Space Mono"/>
                <a:ea typeface="Space Mono"/>
                <a:cs typeface="Space Mono"/>
                <a:sym typeface="Space Mono"/>
              </a:rPr>
              <a:t>Current rental price ($300)</a:t>
            </a:r>
            <a:endParaRPr sz="700">
              <a:solidFill>
                <a:srgbClr val="313131"/>
              </a:solidFill>
              <a:highlight>
                <a:schemeClr val="lt1"/>
              </a:highlight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494" name="Google Shape;494;p38"/>
          <p:cNvSpPr txBox="1"/>
          <p:nvPr/>
        </p:nvSpPr>
        <p:spPr>
          <a:xfrm>
            <a:off x="36050" y="2983875"/>
            <a:ext cx="2003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313131"/>
                </a:solidFill>
                <a:highlight>
                  <a:schemeClr val="lt1"/>
                </a:highlight>
                <a:latin typeface="Space Mono"/>
                <a:ea typeface="Space Mono"/>
                <a:cs typeface="Space Mono"/>
                <a:sym typeface="Space Mono"/>
              </a:rPr>
              <a:t>Change in the rental price ($450)</a:t>
            </a:r>
            <a:endParaRPr sz="700">
              <a:solidFill>
                <a:srgbClr val="313131"/>
              </a:solidFill>
              <a:highlight>
                <a:schemeClr val="lt1"/>
              </a:highlight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495" name="Google Shape;495;p38"/>
          <p:cNvSpPr txBox="1"/>
          <p:nvPr/>
        </p:nvSpPr>
        <p:spPr>
          <a:xfrm>
            <a:off x="36050" y="3671000"/>
            <a:ext cx="2003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1F887E"/>
                </a:solidFill>
                <a:highlight>
                  <a:schemeClr val="lt1"/>
                </a:highlight>
                <a:latin typeface="Space Mono"/>
                <a:ea typeface="Space Mono"/>
                <a:cs typeface="Space Mono"/>
                <a:sym typeface="Space Mono"/>
              </a:rPr>
              <a:t>DWH updated</a:t>
            </a:r>
            <a:endParaRPr b="1" sz="700">
              <a:solidFill>
                <a:srgbClr val="1F887E"/>
              </a:solidFill>
              <a:highlight>
                <a:schemeClr val="lt1"/>
              </a:highlight>
              <a:latin typeface="Space Mono"/>
              <a:ea typeface="Space Mono"/>
              <a:cs typeface="Space Mono"/>
              <a:sym typeface="Space Mono"/>
            </a:endParaRPr>
          </a:p>
        </p:txBody>
      </p:sp>
      <p:pic>
        <p:nvPicPr>
          <p:cNvPr id="496" name="Google Shape;49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6513" y="2311900"/>
            <a:ext cx="1408176" cy="403677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46513" y="2949575"/>
            <a:ext cx="1408176" cy="422453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46513" y="3606025"/>
            <a:ext cx="1408176" cy="422453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26863" y="2296888"/>
            <a:ext cx="4059935" cy="43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3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26875" y="2925584"/>
            <a:ext cx="4059936" cy="424448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p3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426875" y="3503525"/>
            <a:ext cx="4059936" cy="6274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39"/>
          <p:cNvSpPr txBox="1"/>
          <p:nvPr>
            <p:ph type="ctr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SCD Type 2</a:t>
            </a:r>
            <a:endParaRPr/>
          </a:p>
        </p:txBody>
      </p:sp>
      <p:sp>
        <p:nvSpPr>
          <p:cNvPr id="507" name="Google Shape;507;p39"/>
          <p:cNvSpPr txBox="1"/>
          <p:nvPr/>
        </p:nvSpPr>
        <p:spPr>
          <a:xfrm>
            <a:off x="311200" y="1083650"/>
            <a:ext cx="6604500" cy="5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625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Keeping full history - Adding additional (historic data) rows for each dimension change</a:t>
            </a:r>
            <a:endParaRPr b="1"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508" name="Google Shape;508;p39"/>
          <p:cNvGraphicFramePr/>
          <p:nvPr/>
        </p:nvGraphicFramePr>
        <p:xfrm>
          <a:off x="2074338" y="181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{3660BCE2-2714-4049-8B74-3E60B48309CE}</a:tableStyleId>
              </a:tblPr>
              <a:tblGrid>
                <a:gridCol w="2181375"/>
                <a:gridCol w="4435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31313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Source</a:t>
                      </a:r>
                      <a:endParaRPr b="1">
                        <a:highlight>
                          <a:srgbClr val="ED684E"/>
                        </a:highlight>
                      </a:endParaRPr>
                    </a:p>
                  </a:txBody>
                  <a:tcPr marT="91425" marB="91425" marR="91425" marL="91425">
                    <a:solidFill>
                      <a:srgbClr val="ED68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31313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DWH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ED684E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642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691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1F88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1F887E"/>
                    </a:solidFill>
                  </a:tcPr>
                </a:tc>
              </a:tr>
            </a:tbl>
          </a:graphicData>
        </a:graphic>
      </p:graphicFrame>
      <p:sp>
        <p:nvSpPr>
          <p:cNvPr id="509" name="Google Shape;509;p39"/>
          <p:cNvSpPr txBox="1"/>
          <p:nvPr/>
        </p:nvSpPr>
        <p:spPr>
          <a:xfrm>
            <a:off x="36050" y="2382600"/>
            <a:ext cx="2003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313131"/>
                </a:solidFill>
                <a:highlight>
                  <a:schemeClr val="lt1"/>
                </a:highlight>
                <a:latin typeface="Space Mono"/>
                <a:ea typeface="Space Mono"/>
                <a:cs typeface="Space Mono"/>
                <a:sym typeface="Space Mono"/>
              </a:rPr>
              <a:t>Current rental price ($300)</a:t>
            </a:r>
            <a:endParaRPr sz="700">
              <a:solidFill>
                <a:srgbClr val="313131"/>
              </a:solidFill>
              <a:highlight>
                <a:schemeClr val="lt1"/>
              </a:highlight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510" name="Google Shape;510;p39"/>
          <p:cNvSpPr txBox="1"/>
          <p:nvPr/>
        </p:nvSpPr>
        <p:spPr>
          <a:xfrm>
            <a:off x="36050" y="2983875"/>
            <a:ext cx="2003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313131"/>
                </a:solidFill>
                <a:highlight>
                  <a:schemeClr val="lt1"/>
                </a:highlight>
                <a:latin typeface="Space Mono"/>
                <a:ea typeface="Space Mono"/>
                <a:cs typeface="Space Mono"/>
                <a:sym typeface="Space Mono"/>
              </a:rPr>
              <a:t>Change in the rental price ($450)</a:t>
            </a:r>
            <a:endParaRPr sz="700">
              <a:solidFill>
                <a:srgbClr val="313131"/>
              </a:solidFill>
              <a:highlight>
                <a:schemeClr val="lt1"/>
              </a:highlight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511" name="Google Shape;511;p39"/>
          <p:cNvSpPr txBox="1"/>
          <p:nvPr/>
        </p:nvSpPr>
        <p:spPr>
          <a:xfrm>
            <a:off x="36050" y="3671000"/>
            <a:ext cx="2003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1F887E"/>
                </a:solidFill>
                <a:highlight>
                  <a:schemeClr val="lt1"/>
                </a:highlight>
                <a:latin typeface="Space Mono"/>
                <a:ea typeface="Space Mono"/>
                <a:cs typeface="Space Mono"/>
                <a:sym typeface="Space Mono"/>
              </a:rPr>
              <a:t>DWH updated</a:t>
            </a:r>
            <a:endParaRPr b="1" sz="700">
              <a:solidFill>
                <a:srgbClr val="1F887E"/>
              </a:solidFill>
              <a:highlight>
                <a:schemeClr val="lt1"/>
              </a:highlight>
              <a:latin typeface="Space Mono"/>
              <a:ea typeface="Space Mono"/>
              <a:cs typeface="Space Mono"/>
              <a:sym typeface="Space Mono"/>
            </a:endParaRPr>
          </a:p>
        </p:txBody>
      </p:sp>
      <p:pic>
        <p:nvPicPr>
          <p:cNvPr id="512" name="Google Shape;51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6513" y="2311900"/>
            <a:ext cx="1408176" cy="403677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46513" y="2949575"/>
            <a:ext cx="1408176" cy="422453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26875" y="2967033"/>
            <a:ext cx="4059936" cy="387539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26875" y="2329190"/>
            <a:ext cx="4059936" cy="36908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46513" y="3606025"/>
            <a:ext cx="1408176" cy="422453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p3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426875" y="3545059"/>
            <a:ext cx="4059936" cy="544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40"/>
          <p:cNvSpPr txBox="1"/>
          <p:nvPr>
            <p:ph type="ctr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SCD Type 3</a:t>
            </a:r>
            <a:endParaRPr/>
          </a:p>
        </p:txBody>
      </p:sp>
      <p:sp>
        <p:nvSpPr>
          <p:cNvPr id="523" name="Google Shape;523;p40"/>
          <p:cNvSpPr txBox="1"/>
          <p:nvPr/>
        </p:nvSpPr>
        <p:spPr>
          <a:xfrm>
            <a:off x="311200" y="1083650"/>
            <a:ext cx="6604500" cy="5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625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Keeping limited data history - adding separate columns for original and current value</a:t>
            </a:r>
            <a:endParaRPr b="1"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524" name="Google Shape;524;p40"/>
          <p:cNvGraphicFramePr/>
          <p:nvPr/>
        </p:nvGraphicFramePr>
        <p:xfrm>
          <a:off x="2074338" y="181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{3660BCE2-2714-4049-8B74-3E60B48309CE}</a:tableStyleId>
              </a:tblPr>
              <a:tblGrid>
                <a:gridCol w="2181375"/>
                <a:gridCol w="4435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31313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Source</a:t>
                      </a:r>
                      <a:endParaRPr b="1">
                        <a:highlight>
                          <a:srgbClr val="ED684E"/>
                        </a:highlight>
                      </a:endParaRPr>
                    </a:p>
                  </a:txBody>
                  <a:tcPr marT="91425" marB="91425" marR="91425" marL="91425">
                    <a:solidFill>
                      <a:srgbClr val="ED68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31313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DWH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ED684E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642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691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1F88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1F887E"/>
                    </a:solidFill>
                  </a:tcPr>
                </a:tc>
              </a:tr>
            </a:tbl>
          </a:graphicData>
        </a:graphic>
      </p:graphicFrame>
      <p:sp>
        <p:nvSpPr>
          <p:cNvPr id="525" name="Google Shape;525;p40"/>
          <p:cNvSpPr txBox="1"/>
          <p:nvPr/>
        </p:nvSpPr>
        <p:spPr>
          <a:xfrm>
            <a:off x="36050" y="2382600"/>
            <a:ext cx="2003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313131"/>
                </a:solidFill>
                <a:highlight>
                  <a:schemeClr val="lt1"/>
                </a:highlight>
                <a:latin typeface="Space Mono"/>
                <a:ea typeface="Space Mono"/>
                <a:cs typeface="Space Mono"/>
                <a:sym typeface="Space Mono"/>
              </a:rPr>
              <a:t>Listed as Private</a:t>
            </a:r>
            <a:endParaRPr sz="700">
              <a:solidFill>
                <a:srgbClr val="313131"/>
              </a:solidFill>
              <a:highlight>
                <a:schemeClr val="lt1"/>
              </a:highlight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526" name="Google Shape;526;p40"/>
          <p:cNvSpPr txBox="1"/>
          <p:nvPr/>
        </p:nvSpPr>
        <p:spPr>
          <a:xfrm>
            <a:off x="36050" y="2983875"/>
            <a:ext cx="2003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313131"/>
                </a:solidFill>
                <a:highlight>
                  <a:schemeClr val="lt1"/>
                </a:highlight>
                <a:latin typeface="Space Mono"/>
                <a:ea typeface="Space Mono"/>
                <a:cs typeface="Space Mono"/>
                <a:sym typeface="Space Mono"/>
              </a:rPr>
              <a:t>Host changed Private to Entire</a:t>
            </a:r>
            <a:endParaRPr sz="700">
              <a:solidFill>
                <a:srgbClr val="313131"/>
              </a:solidFill>
              <a:highlight>
                <a:schemeClr val="lt1"/>
              </a:highlight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527" name="Google Shape;527;p40"/>
          <p:cNvSpPr txBox="1"/>
          <p:nvPr/>
        </p:nvSpPr>
        <p:spPr>
          <a:xfrm>
            <a:off x="36050" y="3671000"/>
            <a:ext cx="2003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1F887E"/>
                </a:solidFill>
                <a:highlight>
                  <a:schemeClr val="lt1"/>
                </a:highlight>
                <a:latin typeface="Space Mono"/>
                <a:ea typeface="Space Mono"/>
                <a:cs typeface="Space Mono"/>
                <a:sym typeface="Space Mono"/>
              </a:rPr>
              <a:t>Host changed Entire to Shared</a:t>
            </a:r>
            <a:endParaRPr b="1" sz="700">
              <a:solidFill>
                <a:srgbClr val="1F887E"/>
              </a:solidFill>
              <a:highlight>
                <a:schemeClr val="lt1"/>
              </a:highlight>
              <a:latin typeface="Space Mono"/>
              <a:ea typeface="Space Mono"/>
              <a:cs typeface="Space Mono"/>
              <a:sym typeface="Space Mono"/>
            </a:endParaRPr>
          </a:p>
        </p:txBody>
      </p:sp>
      <p:pic>
        <p:nvPicPr>
          <p:cNvPr id="528" name="Google Shape;52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8925" y="2311900"/>
            <a:ext cx="1408176" cy="403677"/>
          </a:xfrm>
          <a:prstGeom prst="rect">
            <a:avLst/>
          </a:prstGeom>
          <a:noFill/>
          <a:ln>
            <a:noFill/>
          </a:ln>
        </p:spPr>
      </p:pic>
      <p:pic>
        <p:nvPicPr>
          <p:cNvPr id="529" name="Google Shape;529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46513" y="2928275"/>
            <a:ext cx="1408176" cy="40367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0" name="Google Shape;530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46525" y="3606025"/>
            <a:ext cx="1408176" cy="422453"/>
          </a:xfrm>
          <a:prstGeom prst="rect">
            <a:avLst/>
          </a:prstGeom>
          <a:noFill/>
          <a:ln>
            <a:noFill/>
          </a:ln>
        </p:spPr>
      </p:pic>
      <p:pic>
        <p:nvPicPr>
          <p:cNvPr id="531" name="Google Shape;531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32700" y="2318763"/>
            <a:ext cx="2048256" cy="42015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Google Shape;532;p4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32700" y="2951125"/>
            <a:ext cx="2048256" cy="381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3" name="Google Shape;533;p4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432700" y="3621738"/>
            <a:ext cx="2048256" cy="3910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41"/>
          <p:cNvSpPr/>
          <p:nvPr/>
        </p:nvSpPr>
        <p:spPr>
          <a:xfrm>
            <a:off x="0" y="0"/>
            <a:ext cx="9144000" cy="4471500"/>
          </a:xfrm>
          <a:prstGeom prst="rect">
            <a:avLst/>
          </a:prstGeom>
          <a:solidFill>
            <a:srgbClr val="ED68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41"/>
          <p:cNvSpPr txBox="1"/>
          <p:nvPr/>
        </p:nvSpPr>
        <p:spPr>
          <a:xfrm>
            <a:off x="5859966" y="738256"/>
            <a:ext cx="18282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0">
                <a:solidFill>
                  <a:srgbClr val="FD927D"/>
                </a:solidFill>
              </a:rPr>
              <a:t>#</a:t>
            </a:r>
            <a:endParaRPr sz="20000">
              <a:solidFill>
                <a:srgbClr val="FD927D"/>
              </a:solidFill>
            </a:endParaRPr>
          </a:p>
        </p:txBody>
      </p:sp>
      <p:sp>
        <p:nvSpPr>
          <p:cNvPr id="540" name="Google Shape;540;p41"/>
          <p:cNvSpPr txBox="1"/>
          <p:nvPr>
            <p:ph type="ctrTitle"/>
          </p:nvPr>
        </p:nvSpPr>
        <p:spPr>
          <a:xfrm>
            <a:off x="311700" y="1996100"/>
            <a:ext cx="8520600" cy="9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58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dbt Overview</a:t>
            </a:r>
            <a:endParaRPr b="1" sz="3580">
              <a:solidFill>
                <a:schemeClr val="lt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42"/>
          <p:cNvSpPr txBox="1"/>
          <p:nvPr>
            <p:ph type="ctr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dbt Overview</a:t>
            </a:r>
            <a:endParaRPr/>
          </a:p>
        </p:txBody>
      </p:sp>
      <p:pic>
        <p:nvPicPr>
          <p:cNvPr id="546" name="Google Shape;546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200" y="1453900"/>
            <a:ext cx="8839204" cy="2235697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2"/>
          <p:cNvSpPr txBox="1"/>
          <p:nvPr/>
        </p:nvSpPr>
        <p:spPr>
          <a:xfrm>
            <a:off x="157600" y="4942925"/>
            <a:ext cx="7221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"/>
              <a:t>PNG Credits: https://data.solita.fi/wp-content/uploads/2021/06/dbt-transform.png</a:t>
            </a:r>
            <a:endParaRPr sz="4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3"/>
          <p:cNvSpPr/>
          <p:nvPr/>
        </p:nvSpPr>
        <p:spPr>
          <a:xfrm>
            <a:off x="0" y="0"/>
            <a:ext cx="9144000" cy="4471500"/>
          </a:xfrm>
          <a:prstGeom prst="rect">
            <a:avLst/>
          </a:prstGeom>
          <a:solidFill>
            <a:srgbClr val="ED68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43"/>
          <p:cNvSpPr txBox="1"/>
          <p:nvPr/>
        </p:nvSpPr>
        <p:spPr>
          <a:xfrm>
            <a:off x="5859966" y="738256"/>
            <a:ext cx="18282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0">
                <a:solidFill>
                  <a:srgbClr val="FD927D"/>
                </a:solidFill>
              </a:rPr>
              <a:t>#</a:t>
            </a:r>
            <a:endParaRPr sz="20000">
              <a:solidFill>
                <a:srgbClr val="FD927D"/>
              </a:solidFill>
            </a:endParaRPr>
          </a:p>
        </p:txBody>
      </p:sp>
      <p:sp>
        <p:nvSpPr>
          <p:cNvPr id="554" name="Google Shape;554;p43"/>
          <p:cNvSpPr txBox="1"/>
          <p:nvPr>
            <p:ph type="ctrTitle"/>
          </p:nvPr>
        </p:nvSpPr>
        <p:spPr>
          <a:xfrm>
            <a:off x="311700" y="1996100"/>
            <a:ext cx="8520600" cy="9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58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Analytics Engineering</a:t>
            </a:r>
            <a:endParaRPr b="1" sz="3580">
              <a:solidFill>
                <a:schemeClr val="lt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44"/>
          <p:cNvSpPr/>
          <p:nvPr/>
        </p:nvSpPr>
        <p:spPr>
          <a:xfrm>
            <a:off x="0" y="0"/>
            <a:ext cx="9144000" cy="4471500"/>
          </a:xfrm>
          <a:prstGeom prst="rect">
            <a:avLst/>
          </a:prstGeom>
          <a:solidFill>
            <a:srgbClr val="ED68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44"/>
          <p:cNvSpPr txBox="1"/>
          <p:nvPr/>
        </p:nvSpPr>
        <p:spPr>
          <a:xfrm>
            <a:off x="5859966" y="738256"/>
            <a:ext cx="18282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0">
                <a:solidFill>
                  <a:srgbClr val="FD927D"/>
                </a:solidFill>
              </a:rPr>
              <a:t>#</a:t>
            </a:r>
            <a:endParaRPr sz="20000">
              <a:solidFill>
                <a:srgbClr val="FD927D"/>
              </a:solidFill>
            </a:endParaRPr>
          </a:p>
        </p:txBody>
      </p:sp>
      <p:sp>
        <p:nvSpPr>
          <p:cNvPr id="561" name="Google Shape;561;p44"/>
          <p:cNvSpPr txBox="1"/>
          <p:nvPr>
            <p:ph type="ctrTitle"/>
          </p:nvPr>
        </p:nvSpPr>
        <p:spPr>
          <a:xfrm>
            <a:off x="311700" y="1996100"/>
            <a:ext cx="8520600" cy="9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58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Common Table Expression (CTE)</a:t>
            </a:r>
            <a:endParaRPr b="1" sz="3580">
              <a:solidFill>
                <a:schemeClr val="lt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45"/>
          <p:cNvSpPr txBox="1"/>
          <p:nvPr>
            <p:ph type="ctr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CTE</a:t>
            </a:r>
            <a:endParaRPr/>
          </a:p>
        </p:txBody>
      </p:sp>
      <p:pic>
        <p:nvPicPr>
          <p:cNvPr id="567" name="Google Shape;56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9925" y="2231550"/>
            <a:ext cx="2944150" cy="1236225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45"/>
          <p:cNvSpPr txBox="1"/>
          <p:nvPr/>
        </p:nvSpPr>
        <p:spPr>
          <a:xfrm>
            <a:off x="4001550" y="1720650"/>
            <a:ext cx="1140900" cy="5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Syntax</a:t>
            </a:r>
            <a:endParaRPr b="1"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46"/>
          <p:cNvSpPr txBox="1"/>
          <p:nvPr>
            <p:ph type="ctr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CTE</a:t>
            </a:r>
            <a:endParaRPr/>
          </a:p>
        </p:txBody>
      </p:sp>
      <p:pic>
        <p:nvPicPr>
          <p:cNvPr id="574" name="Google Shape;574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8250" y="1552925"/>
            <a:ext cx="2187100" cy="2607824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46"/>
          <p:cNvSpPr txBox="1"/>
          <p:nvPr/>
        </p:nvSpPr>
        <p:spPr>
          <a:xfrm>
            <a:off x="4001350" y="982750"/>
            <a:ext cx="1140900" cy="5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Example</a:t>
            </a:r>
            <a:endParaRPr b="1"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47"/>
          <p:cNvSpPr/>
          <p:nvPr/>
        </p:nvSpPr>
        <p:spPr>
          <a:xfrm>
            <a:off x="0" y="0"/>
            <a:ext cx="9144000" cy="4471500"/>
          </a:xfrm>
          <a:prstGeom prst="rect">
            <a:avLst/>
          </a:prstGeom>
          <a:solidFill>
            <a:srgbClr val="ED68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47"/>
          <p:cNvSpPr txBox="1"/>
          <p:nvPr/>
        </p:nvSpPr>
        <p:spPr>
          <a:xfrm>
            <a:off x="5859966" y="738256"/>
            <a:ext cx="18282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0">
              <a:solidFill>
                <a:srgbClr val="FD927D"/>
              </a:solidFill>
            </a:endParaRPr>
          </a:p>
        </p:txBody>
      </p:sp>
      <p:sp>
        <p:nvSpPr>
          <p:cNvPr id="582" name="Google Shape;582;p47"/>
          <p:cNvSpPr txBox="1"/>
          <p:nvPr>
            <p:ph type="ctrTitle"/>
          </p:nvPr>
        </p:nvSpPr>
        <p:spPr>
          <a:xfrm>
            <a:off x="267900" y="1996000"/>
            <a:ext cx="8520600" cy="9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PROJECT OVERVIEW</a:t>
            </a:r>
            <a:endParaRPr b="1" sz="7200">
              <a:solidFill>
                <a:schemeClr val="lt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583" name="Google Shape;583;p47"/>
          <p:cNvSpPr txBox="1"/>
          <p:nvPr>
            <p:ph idx="1" type="subTitle"/>
          </p:nvPr>
        </p:nvSpPr>
        <p:spPr>
          <a:xfrm>
            <a:off x="311700" y="29329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Analytics Engineering with Airbnb 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8" name="Google Shape;588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223" y="416325"/>
            <a:ext cx="3551200" cy="3669850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48"/>
          <p:cNvSpPr txBox="1"/>
          <p:nvPr>
            <p:ph type="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ANALYTICS ENGINEERING WITH AIRBNB</a:t>
            </a:r>
            <a:endParaRPr b="1" sz="3200">
              <a:solidFill>
                <a:srgbClr val="ED684E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48"/>
          <p:cNvSpPr txBox="1"/>
          <p:nvPr>
            <p:ph idx="1" type="body"/>
          </p:nvPr>
        </p:nvSpPr>
        <p:spPr>
          <a:xfrm>
            <a:off x="429850" y="1397425"/>
            <a:ext cx="8402700" cy="29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Simulating the life of an Analytics Engineer in Airbnb 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Loading, Cleansing, Exposing data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Writing test, automations and documentation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Data source: Inside Airbnb: Berlin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91" name="Google Shape;591;p48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92" name="Google Shape;592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70625" y="2022687"/>
            <a:ext cx="2166349" cy="14438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7" name="Google Shape;597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223" y="416325"/>
            <a:ext cx="3551200" cy="3669850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49"/>
          <p:cNvSpPr txBox="1"/>
          <p:nvPr>
            <p:ph type="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TECH STACK</a:t>
            </a:r>
            <a:endParaRPr b="1" sz="3200">
              <a:solidFill>
                <a:srgbClr val="ED684E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99" name="Google Shape;599;p49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00" name="Google Shape;600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8241" y="3064710"/>
            <a:ext cx="2088542" cy="631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601" name="Google Shape;601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62894" y="1564514"/>
            <a:ext cx="2597225" cy="861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2" name="Google Shape;602;p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4863" y="2972612"/>
            <a:ext cx="3413299" cy="816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03" name="Google Shape;603;p49"/>
          <p:cNvCxnSpPr>
            <a:stCxn id="601" idx="2"/>
            <a:endCxn id="602" idx="0"/>
          </p:cNvCxnSpPr>
          <p:nvPr/>
        </p:nvCxnSpPr>
        <p:spPr>
          <a:xfrm>
            <a:off x="2261507" y="2425794"/>
            <a:ext cx="0" cy="54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4" name="Google Shape;604;p49"/>
          <p:cNvCxnSpPr>
            <a:stCxn id="600" idx="1"/>
          </p:cNvCxnSpPr>
          <p:nvPr/>
        </p:nvCxnSpPr>
        <p:spPr>
          <a:xfrm rot="10800000">
            <a:off x="4093241" y="3380601"/>
            <a:ext cx="735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9" name="Google Shape;609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223" y="416325"/>
            <a:ext cx="3551200" cy="366985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50"/>
          <p:cNvSpPr txBox="1"/>
          <p:nvPr>
            <p:ph type="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REQUIREMENTS</a:t>
            </a:r>
            <a:endParaRPr b="1" sz="3200">
              <a:solidFill>
                <a:srgbClr val="ED684E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50"/>
          <p:cNvSpPr txBox="1"/>
          <p:nvPr>
            <p:ph idx="1" type="body"/>
          </p:nvPr>
        </p:nvSpPr>
        <p:spPr>
          <a:xfrm>
            <a:off x="429850" y="1397425"/>
            <a:ext cx="8402700" cy="29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Modeling changes are easy to follow and revert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Explicit dependencies between models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Explore dependencies between models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Data quality tests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Error reporting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Incremental load of fact tables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Track history of dimension tables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Easy-to-access documentation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12" name="Google Shape;612;p50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7" name="Google Shape;617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223" y="416325"/>
            <a:ext cx="3551200" cy="3669850"/>
          </a:xfrm>
          <a:prstGeom prst="rect">
            <a:avLst/>
          </a:prstGeom>
          <a:noFill/>
          <a:ln>
            <a:noFill/>
          </a:ln>
        </p:spPr>
      </p:pic>
      <p:sp>
        <p:nvSpPr>
          <p:cNvPr id="618" name="Google Shape;618;p51"/>
          <p:cNvSpPr txBox="1"/>
          <p:nvPr>
            <p:ph type="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NEXT STEPS - SETUP</a:t>
            </a:r>
            <a:endParaRPr b="1" sz="3200">
              <a:solidFill>
                <a:srgbClr val="ED684E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51"/>
          <p:cNvSpPr txBox="1"/>
          <p:nvPr>
            <p:ph idx="1" type="body"/>
          </p:nvPr>
        </p:nvSpPr>
        <p:spPr>
          <a:xfrm>
            <a:off x="429850" y="1397425"/>
            <a:ext cx="8402700" cy="29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Snowflake registration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Dataset import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dbt installation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dbt setup, snowflake connection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b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That’s it :)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20" name="Google Shape;620;p51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52"/>
          <p:cNvSpPr/>
          <p:nvPr/>
        </p:nvSpPr>
        <p:spPr>
          <a:xfrm>
            <a:off x="0" y="0"/>
            <a:ext cx="9144000" cy="4471500"/>
          </a:xfrm>
          <a:prstGeom prst="rect">
            <a:avLst/>
          </a:prstGeom>
          <a:solidFill>
            <a:srgbClr val="ED68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52"/>
          <p:cNvSpPr txBox="1"/>
          <p:nvPr/>
        </p:nvSpPr>
        <p:spPr>
          <a:xfrm>
            <a:off x="5859966" y="738256"/>
            <a:ext cx="18282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0">
              <a:solidFill>
                <a:srgbClr val="FD927D"/>
              </a:solidFill>
            </a:endParaRPr>
          </a:p>
        </p:txBody>
      </p:sp>
      <p:sp>
        <p:nvSpPr>
          <p:cNvPr id="627" name="Google Shape;627;p52"/>
          <p:cNvSpPr txBox="1"/>
          <p:nvPr>
            <p:ph type="ctrTitle"/>
          </p:nvPr>
        </p:nvSpPr>
        <p:spPr>
          <a:xfrm>
            <a:off x="267900" y="1996000"/>
            <a:ext cx="8520600" cy="9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SNOWFLAKE </a:t>
            </a:r>
            <a:endParaRPr b="1" sz="7200">
              <a:solidFill>
                <a:schemeClr val="lt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628" name="Google Shape;628;p52"/>
          <p:cNvSpPr txBox="1"/>
          <p:nvPr>
            <p:ph idx="1" type="subTitle"/>
          </p:nvPr>
        </p:nvSpPr>
        <p:spPr>
          <a:xfrm>
            <a:off x="311700" y="29329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Trial Account Setup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3" name="Google Shape;633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223" y="416325"/>
            <a:ext cx="3551200" cy="3669850"/>
          </a:xfrm>
          <a:prstGeom prst="rect">
            <a:avLst/>
          </a:prstGeom>
          <a:noFill/>
          <a:ln>
            <a:noFill/>
          </a:ln>
        </p:spPr>
      </p:pic>
      <p:sp>
        <p:nvSpPr>
          <p:cNvPr id="634" name="Google Shape;634;p53"/>
          <p:cNvSpPr txBox="1"/>
          <p:nvPr>
            <p:ph type="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SNOWFLAKE AUTHENTICATION</a:t>
            </a:r>
            <a:endParaRPr b="1" sz="3200">
              <a:solidFill>
                <a:srgbClr val="ED684E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53"/>
          <p:cNvSpPr txBox="1"/>
          <p:nvPr>
            <p:ph idx="1" type="body"/>
          </p:nvPr>
        </p:nvSpPr>
        <p:spPr>
          <a:xfrm>
            <a:off x="429850" y="1397425"/>
            <a:ext cx="8402700" cy="29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❌ Username &amp; Password + Multi-Factor Authentication Application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❌ Personal Access Token (Requires Network Policies)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❌ Single Sign-On (SSO)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✅ Keypair-Based Authentication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36" name="Google Shape;636;p53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1" name="Google Shape;641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223" y="416325"/>
            <a:ext cx="3551200" cy="3669850"/>
          </a:xfrm>
          <a:prstGeom prst="rect">
            <a:avLst/>
          </a:prstGeom>
          <a:noFill/>
          <a:ln>
            <a:noFill/>
          </a:ln>
        </p:spPr>
      </p:pic>
      <p:sp>
        <p:nvSpPr>
          <p:cNvPr id="642" name="Google Shape;642;p54"/>
          <p:cNvSpPr txBox="1"/>
          <p:nvPr>
            <p:ph type="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Public-Key Authentication (PKI)</a:t>
            </a:r>
            <a:endParaRPr b="1" sz="3200">
              <a:solidFill>
                <a:srgbClr val="ED684E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43" name="Google Shape;643;p54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44" name="Google Shape;644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48150" y="1144913"/>
            <a:ext cx="4118192" cy="302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9" name="Google Shape;649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223" y="416325"/>
            <a:ext cx="3551200" cy="366985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55"/>
          <p:cNvSpPr txBox="1"/>
          <p:nvPr>
            <p:ph type="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SNOWFLAKE AUTO-SETUP APP</a:t>
            </a:r>
            <a:endParaRPr b="1" sz="3200">
              <a:solidFill>
                <a:srgbClr val="ED684E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55"/>
          <p:cNvSpPr txBox="1"/>
          <p:nvPr>
            <p:ph idx="1" type="body"/>
          </p:nvPr>
        </p:nvSpPr>
        <p:spPr>
          <a:xfrm>
            <a:off x="429850" y="1397425"/>
            <a:ext cx="8402700" cy="29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28454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Char char="●"/>
            </a:pP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Imports the database tables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: listings, hosts, reviews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8454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Char char="●"/>
            </a:pP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dbt Snowflake user creation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 and permissions setup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8454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Char char="●"/>
            </a:pP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Preset user creation 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and 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permission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 setup</a:t>
            </a:r>
            <a:endParaRPr b="1"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945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https://dbtsetup.nordquant.com </a:t>
            </a:r>
            <a:r>
              <a:rPr lang="en" sz="2945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945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52" name="Google Shape;652;p55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56"/>
          <p:cNvSpPr/>
          <p:nvPr/>
        </p:nvSpPr>
        <p:spPr>
          <a:xfrm>
            <a:off x="0" y="0"/>
            <a:ext cx="9144000" cy="4471500"/>
          </a:xfrm>
          <a:prstGeom prst="rect">
            <a:avLst/>
          </a:prstGeom>
          <a:solidFill>
            <a:srgbClr val="ED68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56"/>
          <p:cNvSpPr txBox="1"/>
          <p:nvPr/>
        </p:nvSpPr>
        <p:spPr>
          <a:xfrm>
            <a:off x="5859966" y="738256"/>
            <a:ext cx="18282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0">
              <a:solidFill>
                <a:srgbClr val="FD927D"/>
              </a:solidFill>
            </a:endParaRPr>
          </a:p>
        </p:txBody>
      </p:sp>
      <p:sp>
        <p:nvSpPr>
          <p:cNvPr id="659" name="Google Shape;659;p56"/>
          <p:cNvSpPr txBox="1"/>
          <p:nvPr>
            <p:ph type="ctrTitle"/>
          </p:nvPr>
        </p:nvSpPr>
        <p:spPr>
          <a:xfrm>
            <a:off x="267900" y="1996000"/>
            <a:ext cx="8520600" cy="9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DATA FLOW </a:t>
            </a:r>
            <a:endParaRPr b="1" sz="7200">
              <a:solidFill>
                <a:schemeClr val="lt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660" name="Google Shape;660;p56"/>
          <p:cNvSpPr txBox="1"/>
          <p:nvPr>
            <p:ph idx="1" type="subTitle"/>
          </p:nvPr>
        </p:nvSpPr>
        <p:spPr>
          <a:xfrm>
            <a:off x="311700" y="29329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57"/>
          <p:cNvSpPr txBox="1"/>
          <p:nvPr>
            <p:ph type="title"/>
          </p:nvPr>
        </p:nvSpPr>
        <p:spPr>
          <a:xfrm>
            <a:off x="78975" y="231300"/>
            <a:ext cx="852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INPUT DATA MODEL</a:t>
            </a:r>
            <a:endParaRPr/>
          </a:p>
        </p:txBody>
      </p:sp>
      <p:cxnSp>
        <p:nvCxnSpPr>
          <p:cNvPr id="666" name="Google Shape;666;p57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67" name="Google Shape;667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4263" y="875663"/>
            <a:ext cx="4130635" cy="35242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2" name="Google Shape;672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223" y="416325"/>
            <a:ext cx="3551200" cy="3669850"/>
          </a:xfrm>
          <a:prstGeom prst="rect">
            <a:avLst/>
          </a:prstGeom>
          <a:noFill/>
          <a:ln>
            <a:noFill/>
          </a:ln>
        </p:spPr>
      </p:pic>
      <p:sp>
        <p:nvSpPr>
          <p:cNvPr id="673" name="Google Shape;673;p58"/>
          <p:cNvSpPr txBox="1"/>
          <p:nvPr>
            <p:ph type="title"/>
          </p:nvPr>
        </p:nvSpPr>
        <p:spPr>
          <a:xfrm>
            <a:off x="78975" y="231300"/>
            <a:ext cx="852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DATA FLOW OVERVIEW</a:t>
            </a:r>
            <a:endParaRPr b="1" sz="3200">
              <a:solidFill>
                <a:srgbClr val="ED684E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74" name="Google Shape;674;p58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75" name="Google Shape;675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75" y="944388"/>
            <a:ext cx="8985659" cy="346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59"/>
          <p:cNvSpPr/>
          <p:nvPr/>
        </p:nvSpPr>
        <p:spPr>
          <a:xfrm>
            <a:off x="6549949" y="1250725"/>
            <a:ext cx="1951200" cy="2894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Space Mono"/>
                <a:ea typeface="Space Mono"/>
                <a:cs typeface="Space Mono"/>
                <a:sym typeface="Space Mono"/>
              </a:rPr>
              <a:t>Presentation Layer</a:t>
            </a:r>
            <a:endParaRPr>
              <a:solidFill>
                <a:srgbClr val="B7B7B7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681" name="Google Shape;681;p59"/>
          <p:cNvSpPr/>
          <p:nvPr/>
        </p:nvSpPr>
        <p:spPr>
          <a:xfrm>
            <a:off x="4492958" y="1250725"/>
            <a:ext cx="1951200" cy="2894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Space Mono"/>
                <a:ea typeface="Space Mono"/>
                <a:cs typeface="Space Mono"/>
                <a:sym typeface="Space Mono"/>
              </a:rPr>
              <a:t>Core Layer</a:t>
            </a:r>
            <a:endParaRPr>
              <a:solidFill>
                <a:srgbClr val="B7B7B7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682" name="Google Shape;682;p59"/>
          <p:cNvSpPr/>
          <p:nvPr/>
        </p:nvSpPr>
        <p:spPr>
          <a:xfrm>
            <a:off x="2435966" y="1250725"/>
            <a:ext cx="1951200" cy="2894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Space Mono"/>
                <a:ea typeface="Space Mono"/>
                <a:cs typeface="Space Mono"/>
                <a:sym typeface="Space Mono"/>
              </a:rPr>
              <a:t>Staging Layer</a:t>
            </a:r>
            <a:endParaRPr>
              <a:solidFill>
                <a:srgbClr val="B7B7B7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683" name="Google Shape;683;p59"/>
          <p:cNvSpPr/>
          <p:nvPr/>
        </p:nvSpPr>
        <p:spPr>
          <a:xfrm>
            <a:off x="392150" y="1250725"/>
            <a:ext cx="1951200" cy="2894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Space Mono"/>
                <a:ea typeface="Space Mono"/>
                <a:cs typeface="Space Mono"/>
                <a:sym typeface="Space Mono"/>
              </a:rPr>
              <a:t>Raw layer</a:t>
            </a:r>
            <a:endParaRPr>
              <a:solidFill>
                <a:srgbClr val="B7B7B7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684" name="Google Shape;684;p59"/>
          <p:cNvSpPr/>
          <p:nvPr/>
        </p:nvSpPr>
        <p:spPr>
          <a:xfrm>
            <a:off x="634850" y="1826600"/>
            <a:ext cx="1465800" cy="3765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raw_listings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5" name="Google Shape;685;p59"/>
          <p:cNvSpPr/>
          <p:nvPr/>
        </p:nvSpPr>
        <p:spPr>
          <a:xfrm>
            <a:off x="628400" y="2604725"/>
            <a:ext cx="1465800" cy="3765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raw_hosts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6" name="Google Shape;686;p59"/>
          <p:cNvSpPr/>
          <p:nvPr/>
        </p:nvSpPr>
        <p:spPr>
          <a:xfrm>
            <a:off x="628400" y="3461900"/>
            <a:ext cx="1465800" cy="3765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raw_reviews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687" name="Google Shape;687;p59"/>
          <p:cNvGrpSpPr/>
          <p:nvPr/>
        </p:nvGrpSpPr>
        <p:grpSpPr>
          <a:xfrm>
            <a:off x="2094200" y="1749800"/>
            <a:ext cx="2109900" cy="2165400"/>
            <a:chOff x="2087750" y="1270525"/>
            <a:chExt cx="2109900" cy="2165400"/>
          </a:xfrm>
        </p:grpSpPr>
        <p:sp>
          <p:nvSpPr>
            <p:cNvPr id="688" name="Google Shape;688;p59"/>
            <p:cNvSpPr/>
            <p:nvPr/>
          </p:nvSpPr>
          <p:spPr>
            <a:xfrm>
              <a:off x="2559950" y="1270525"/>
              <a:ext cx="1637700" cy="530100"/>
            </a:xfrm>
            <a:prstGeom prst="roundRect">
              <a:avLst>
                <a:gd fmla="val 16667" name="adj"/>
              </a:avLst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latin typeface="Montserrat"/>
                  <a:ea typeface="Montserrat"/>
                  <a:cs typeface="Montserrat"/>
                  <a:sym typeface="Montserrat"/>
                </a:rPr>
                <a:t>src_listings</a:t>
              </a:r>
              <a:r>
                <a:rPr lang="en"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Montserrat"/>
                  <a:ea typeface="Montserrat"/>
                  <a:cs typeface="Montserrat"/>
                  <a:sym typeface="Montserrat"/>
                </a:rPr>
                <a:t>basic checks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cxnSp>
          <p:nvCxnSpPr>
            <p:cNvPr id="689" name="Google Shape;689;p59"/>
            <p:cNvCxnSpPr>
              <a:stCxn id="684" idx="3"/>
              <a:endCxn id="688" idx="1"/>
            </p:cNvCxnSpPr>
            <p:nvPr/>
          </p:nvCxnSpPr>
          <p:spPr>
            <a:xfrm>
              <a:off x="2094200" y="1535575"/>
              <a:ext cx="465600" cy="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690" name="Google Shape;690;p59"/>
            <p:cNvSpPr/>
            <p:nvPr/>
          </p:nvSpPr>
          <p:spPr>
            <a:xfrm>
              <a:off x="2559950" y="2049775"/>
              <a:ext cx="1637700" cy="530100"/>
            </a:xfrm>
            <a:prstGeom prst="roundRect">
              <a:avLst>
                <a:gd fmla="val 16667" name="adj"/>
              </a:avLst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latin typeface="Montserrat"/>
                  <a:ea typeface="Montserrat"/>
                  <a:cs typeface="Montserrat"/>
                  <a:sym typeface="Montserrat"/>
                </a:rPr>
                <a:t>src_hosts</a:t>
              </a:r>
              <a:r>
                <a:rPr lang="en"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Montserrat"/>
                  <a:ea typeface="Montserrat"/>
                  <a:cs typeface="Montserrat"/>
                  <a:sym typeface="Montserrat"/>
                </a:rPr>
                <a:t>basic checks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cxnSp>
          <p:nvCxnSpPr>
            <p:cNvPr id="691" name="Google Shape;691;p59"/>
            <p:cNvCxnSpPr>
              <a:stCxn id="685" idx="3"/>
              <a:endCxn id="690" idx="1"/>
            </p:cNvCxnSpPr>
            <p:nvPr/>
          </p:nvCxnSpPr>
          <p:spPr>
            <a:xfrm>
              <a:off x="2087750" y="2313700"/>
              <a:ext cx="472200" cy="12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692" name="Google Shape;692;p59"/>
            <p:cNvSpPr/>
            <p:nvPr/>
          </p:nvSpPr>
          <p:spPr>
            <a:xfrm>
              <a:off x="2559950" y="2905825"/>
              <a:ext cx="1637700" cy="530100"/>
            </a:xfrm>
            <a:prstGeom prst="roundRect">
              <a:avLst>
                <a:gd fmla="val 16667" name="adj"/>
              </a:avLst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src_reviews:</a:t>
              </a:r>
              <a:r>
                <a:rPr lang="en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basic checks</a:t>
              </a:r>
              <a:endParaRPr/>
            </a:p>
          </p:txBody>
        </p:sp>
        <p:cxnSp>
          <p:nvCxnSpPr>
            <p:cNvPr id="693" name="Google Shape;693;p59"/>
            <p:cNvCxnSpPr>
              <a:stCxn id="686" idx="3"/>
              <a:endCxn id="692" idx="1"/>
            </p:cNvCxnSpPr>
            <p:nvPr/>
          </p:nvCxnSpPr>
          <p:spPr>
            <a:xfrm>
              <a:off x="2087750" y="3170875"/>
              <a:ext cx="472200" cy="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694" name="Google Shape;694;p59"/>
          <p:cNvGrpSpPr/>
          <p:nvPr/>
        </p:nvGrpSpPr>
        <p:grpSpPr>
          <a:xfrm>
            <a:off x="4204100" y="1748661"/>
            <a:ext cx="1880100" cy="2172530"/>
            <a:chOff x="4204100" y="1522525"/>
            <a:chExt cx="1880100" cy="2095620"/>
          </a:xfrm>
        </p:grpSpPr>
        <p:sp>
          <p:nvSpPr>
            <p:cNvPr id="695" name="Google Shape;695;p59"/>
            <p:cNvSpPr/>
            <p:nvPr/>
          </p:nvSpPr>
          <p:spPr>
            <a:xfrm>
              <a:off x="4618400" y="1522525"/>
              <a:ext cx="1465800" cy="522900"/>
            </a:xfrm>
            <a:prstGeom prst="roundRect">
              <a:avLst>
                <a:gd fmla="val 16667" name="adj"/>
              </a:avLst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Hosts:</a:t>
              </a:r>
              <a:r>
                <a:rPr lang="en">
                  <a:latin typeface="Montserrat"/>
                  <a:ea typeface="Montserrat"/>
                  <a:cs typeface="Montserrat"/>
                  <a:sym typeface="Montserrat"/>
                </a:rPr>
                <a:t> cleansed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96" name="Google Shape;696;p59"/>
            <p:cNvSpPr/>
            <p:nvPr/>
          </p:nvSpPr>
          <p:spPr>
            <a:xfrm>
              <a:off x="4618400" y="2268420"/>
              <a:ext cx="1465800" cy="522900"/>
            </a:xfrm>
            <a:prstGeom prst="roundRect">
              <a:avLst>
                <a:gd fmla="val 16667" name="adj"/>
              </a:avLst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Listings:</a:t>
              </a:r>
              <a:r>
                <a:rPr lang="en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cleansed</a:t>
              </a:r>
              <a:endParaRPr/>
            </a:p>
          </p:txBody>
        </p:sp>
        <p:sp>
          <p:nvSpPr>
            <p:cNvPr id="697" name="Google Shape;697;p59"/>
            <p:cNvSpPr/>
            <p:nvPr/>
          </p:nvSpPr>
          <p:spPr>
            <a:xfrm>
              <a:off x="4618400" y="3095245"/>
              <a:ext cx="1465800" cy="522900"/>
            </a:xfrm>
            <a:prstGeom prst="roundRect">
              <a:avLst>
                <a:gd fmla="val 16667" name="adj"/>
              </a:avLst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latin typeface="Montserrat"/>
                  <a:ea typeface="Montserrat"/>
                  <a:cs typeface="Montserrat"/>
                  <a:sym typeface="Montserrat"/>
                </a:rPr>
                <a:t>Reviews:</a:t>
              </a:r>
              <a:r>
                <a:rPr lang="en">
                  <a:latin typeface="Montserrat"/>
                  <a:ea typeface="Montserrat"/>
                  <a:cs typeface="Montserrat"/>
                  <a:sym typeface="Montserrat"/>
                </a:rPr>
                <a:t> cleansed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cxnSp>
          <p:nvCxnSpPr>
            <p:cNvPr id="698" name="Google Shape;698;p59"/>
            <p:cNvCxnSpPr>
              <a:stCxn id="690" idx="3"/>
              <a:endCxn id="696" idx="1"/>
            </p:cNvCxnSpPr>
            <p:nvPr/>
          </p:nvCxnSpPr>
          <p:spPr>
            <a:xfrm flipH="1" rot="10800000">
              <a:off x="4204100" y="2529754"/>
              <a:ext cx="414300" cy="12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99" name="Google Shape;699;p59"/>
            <p:cNvCxnSpPr>
              <a:stCxn id="692" idx="3"/>
              <a:endCxn id="697" idx="1"/>
            </p:cNvCxnSpPr>
            <p:nvPr/>
          </p:nvCxnSpPr>
          <p:spPr>
            <a:xfrm>
              <a:off x="4204100" y="3356699"/>
              <a:ext cx="414300" cy="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700" name="Google Shape;700;p59"/>
            <p:cNvCxnSpPr>
              <a:stCxn id="688" idx="3"/>
              <a:endCxn id="695" idx="1"/>
            </p:cNvCxnSpPr>
            <p:nvPr/>
          </p:nvCxnSpPr>
          <p:spPr>
            <a:xfrm>
              <a:off x="4204100" y="1779290"/>
              <a:ext cx="414300" cy="48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701" name="Google Shape;701;p59"/>
          <p:cNvGrpSpPr/>
          <p:nvPr/>
        </p:nvGrpSpPr>
        <p:grpSpPr>
          <a:xfrm>
            <a:off x="6084200" y="1947875"/>
            <a:ext cx="2322300" cy="1702271"/>
            <a:chOff x="6084200" y="1720600"/>
            <a:chExt cx="2322300" cy="1702271"/>
          </a:xfrm>
        </p:grpSpPr>
        <p:sp>
          <p:nvSpPr>
            <p:cNvPr id="702" name="Google Shape;702;p59"/>
            <p:cNvSpPr/>
            <p:nvPr/>
          </p:nvSpPr>
          <p:spPr>
            <a:xfrm>
              <a:off x="6739400" y="1720600"/>
              <a:ext cx="1667100" cy="601500"/>
            </a:xfrm>
            <a:prstGeom prst="roundRect">
              <a:avLst>
                <a:gd fmla="val 16667" name="adj"/>
              </a:avLst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Montserrat"/>
                  <a:ea typeface="Montserrat"/>
                  <a:cs typeface="Montserrat"/>
                  <a:sym typeface="Montserrat"/>
                </a:rPr>
                <a:t>Listings mart table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cxnSp>
          <p:nvCxnSpPr>
            <p:cNvPr id="703" name="Google Shape;703;p59"/>
            <p:cNvCxnSpPr>
              <a:stCxn id="695" idx="3"/>
              <a:endCxn id="702" idx="1"/>
            </p:cNvCxnSpPr>
            <p:nvPr/>
          </p:nvCxnSpPr>
          <p:spPr>
            <a:xfrm>
              <a:off x="6084200" y="1792432"/>
              <a:ext cx="655200" cy="2289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704" name="Google Shape;704;p59"/>
            <p:cNvCxnSpPr>
              <a:stCxn id="696" idx="3"/>
              <a:endCxn id="702" idx="1"/>
            </p:cNvCxnSpPr>
            <p:nvPr/>
          </p:nvCxnSpPr>
          <p:spPr>
            <a:xfrm flipH="1" rot="10800000">
              <a:off x="6084200" y="2021201"/>
              <a:ext cx="655200" cy="5445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05" name="Google Shape;705;p59"/>
            <p:cNvSpPr/>
            <p:nvPr/>
          </p:nvSpPr>
          <p:spPr>
            <a:xfrm>
              <a:off x="6739400" y="2571750"/>
              <a:ext cx="1667100" cy="634800"/>
            </a:xfrm>
            <a:prstGeom prst="roundRect">
              <a:avLst>
                <a:gd fmla="val 16667" name="adj"/>
              </a:avLst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Montserrat"/>
                  <a:ea typeface="Montserrat"/>
                  <a:cs typeface="Montserrat"/>
                  <a:sym typeface="Montserrat"/>
                </a:rPr>
                <a:t>Reviews mart table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cxnSp>
          <p:nvCxnSpPr>
            <p:cNvPr id="706" name="Google Shape;706;p59"/>
            <p:cNvCxnSpPr>
              <a:stCxn id="695" idx="3"/>
              <a:endCxn id="705" idx="1"/>
            </p:cNvCxnSpPr>
            <p:nvPr/>
          </p:nvCxnSpPr>
          <p:spPr>
            <a:xfrm>
              <a:off x="6084200" y="1792432"/>
              <a:ext cx="655200" cy="10968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707" name="Google Shape;707;p59"/>
            <p:cNvCxnSpPr>
              <a:stCxn id="697" idx="3"/>
              <a:endCxn id="705" idx="1"/>
            </p:cNvCxnSpPr>
            <p:nvPr/>
          </p:nvCxnSpPr>
          <p:spPr>
            <a:xfrm flipH="1" rot="10800000">
              <a:off x="6084200" y="2889171"/>
              <a:ext cx="655200" cy="5337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cxnSp>
        <p:nvCxnSpPr>
          <p:cNvPr id="708" name="Google Shape;708;p59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9" name="Google Shape;709;p59"/>
          <p:cNvSpPr txBox="1"/>
          <p:nvPr>
            <p:ph idx="4294967295" type="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DATA FLOW OVERVIEW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60"/>
          <p:cNvSpPr/>
          <p:nvPr/>
        </p:nvSpPr>
        <p:spPr>
          <a:xfrm>
            <a:off x="0" y="0"/>
            <a:ext cx="9144000" cy="4471500"/>
          </a:xfrm>
          <a:prstGeom prst="rect">
            <a:avLst/>
          </a:prstGeom>
          <a:solidFill>
            <a:srgbClr val="ED68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60"/>
          <p:cNvSpPr txBox="1"/>
          <p:nvPr/>
        </p:nvSpPr>
        <p:spPr>
          <a:xfrm>
            <a:off x="5859966" y="738256"/>
            <a:ext cx="18282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0">
              <a:solidFill>
                <a:srgbClr val="FD927D"/>
              </a:solidFill>
            </a:endParaRPr>
          </a:p>
        </p:txBody>
      </p:sp>
      <p:sp>
        <p:nvSpPr>
          <p:cNvPr id="716" name="Google Shape;716;p60"/>
          <p:cNvSpPr txBox="1"/>
          <p:nvPr>
            <p:ph type="ctrTitle"/>
          </p:nvPr>
        </p:nvSpPr>
        <p:spPr>
          <a:xfrm>
            <a:off x="267900" y="1996000"/>
            <a:ext cx="8520600" cy="9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DBT INSTALLATION</a:t>
            </a:r>
            <a:endParaRPr b="1" sz="7200">
              <a:solidFill>
                <a:schemeClr val="lt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717" name="Google Shape;717;p60"/>
          <p:cNvSpPr txBox="1"/>
          <p:nvPr>
            <p:ph idx="1" type="subTitle"/>
          </p:nvPr>
        </p:nvSpPr>
        <p:spPr>
          <a:xfrm>
            <a:off x="311700" y="29329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2" name="Google Shape;722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223" y="416325"/>
            <a:ext cx="3551200" cy="3669850"/>
          </a:xfrm>
          <a:prstGeom prst="rect">
            <a:avLst/>
          </a:prstGeom>
          <a:noFill/>
          <a:ln>
            <a:noFill/>
          </a:ln>
        </p:spPr>
      </p:pic>
      <p:sp>
        <p:nvSpPr>
          <p:cNvPr id="723" name="Google Shape;723;p61"/>
          <p:cNvSpPr txBox="1"/>
          <p:nvPr>
            <p:ph type="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Requirements</a:t>
            </a:r>
            <a:endParaRPr b="1" sz="3200">
              <a:solidFill>
                <a:srgbClr val="ED684E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61"/>
          <p:cNvSpPr txBox="1"/>
          <p:nvPr>
            <p:ph idx="1" type="body"/>
          </p:nvPr>
        </p:nvSpPr>
        <p:spPr>
          <a:xfrm>
            <a:off x="429850" y="1397425"/>
            <a:ext cx="8402700" cy="29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Python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Git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Github account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Visual Studio Code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uv - a Python Package Manager - We’ll install it together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25" name="Google Shape;725;p61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0" name="Google Shape;730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223" y="416325"/>
            <a:ext cx="3551200" cy="3669850"/>
          </a:xfrm>
          <a:prstGeom prst="rect">
            <a:avLst/>
          </a:prstGeom>
          <a:noFill/>
          <a:ln>
            <a:noFill/>
          </a:ln>
        </p:spPr>
      </p:pic>
      <p:sp>
        <p:nvSpPr>
          <p:cNvPr id="731" name="Google Shape;731;p62"/>
          <p:cNvSpPr txBox="1"/>
          <p:nvPr>
            <p:ph type="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Steps</a:t>
            </a:r>
            <a:endParaRPr b="1" sz="3200">
              <a:solidFill>
                <a:srgbClr val="ED684E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62"/>
          <p:cNvSpPr txBox="1"/>
          <p:nvPr>
            <p:ph idx="1" type="body"/>
          </p:nvPr>
        </p:nvSpPr>
        <p:spPr>
          <a:xfrm>
            <a:off x="429850" y="1397425"/>
            <a:ext cx="8402700" cy="29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Fork the Student Repository on GitHub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Import the Student Repository into Visual Studio Code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Install uv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Install dbt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33" name="Google Shape;733;p62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63"/>
          <p:cNvSpPr/>
          <p:nvPr/>
        </p:nvSpPr>
        <p:spPr>
          <a:xfrm>
            <a:off x="0" y="0"/>
            <a:ext cx="9144000" cy="4471500"/>
          </a:xfrm>
          <a:prstGeom prst="rect">
            <a:avLst/>
          </a:prstGeom>
          <a:solidFill>
            <a:srgbClr val="ED68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63"/>
          <p:cNvSpPr txBox="1"/>
          <p:nvPr/>
        </p:nvSpPr>
        <p:spPr>
          <a:xfrm>
            <a:off x="5859966" y="738256"/>
            <a:ext cx="18282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0">
              <a:solidFill>
                <a:srgbClr val="FD927D"/>
              </a:solidFill>
            </a:endParaRPr>
          </a:p>
        </p:txBody>
      </p:sp>
      <p:sp>
        <p:nvSpPr>
          <p:cNvPr id="740" name="Google Shape;740;p63"/>
          <p:cNvSpPr txBox="1"/>
          <p:nvPr>
            <p:ph type="ctrTitle"/>
          </p:nvPr>
        </p:nvSpPr>
        <p:spPr>
          <a:xfrm>
            <a:off x="267900" y="1996000"/>
            <a:ext cx="8520600" cy="9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DBT SETUP</a:t>
            </a:r>
            <a:endParaRPr b="1" sz="7200">
              <a:solidFill>
                <a:schemeClr val="lt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741" name="Google Shape;741;p63"/>
          <p:cNvSpPr txBox="1"/>
          <p:nvPr>
            <p:ph idx="1" type="subTitle"/>
          </p:nvPr>
        </p:nvSpPr>
        <p:spPr>
          <a:xfrm>
            <a:off x="311700" y="29329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dbt init and connecting to Snowflake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6" name="Google Shape;746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223" y="416325"/>
            <a:ext cx="3551200" cy="3669850"/>
          </a:xfrm>
          <a:prstGeom prst="rect">
            <a:avLst/>
          </a:prstGeom>
          <a:noFill/>
          <a:ln>
            <a:noFill/>
          </a:ln>
        </p:spPr>
      </p:pic>
      <p:sp>
        <p:nvSpPr>
          <p:cNvPr id="747" name="Google Shape;747;p64"/>
          <p:cNvSpPr txBox="1"/>
          <p:nvPr>
            <p:ph type="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SNOWFLAKE CONNECTION ISSUES?</a:t>
            </a:r>
            <a:endParaRPr b="1" sz="3200">
              <a:solidFill>
                <a:srgbClr val="ED684E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64"/>
          <p:cNvSpPr txBox="1"/>
          <p:nvPr>
            <p:ph idx="1" type="body"/>
          </p:nvPr>
        </p:nvSpPr>
        <p:spPr>
          <a:xfrm>
            <a:off x="429850" y="1397425"/>
            <a:ext cx="8402700" cy="29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Ensure VPN is switched off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Ensure you are not behind a corporate proxy or firewall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Try to change network or laptop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49" name="Google Shape;749;p64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65"/>
          <p:cNvSpPr/>
          <p:nvPr/>
        </p:nvSpPr>
        <p:spPr>
          <a:xfrm>
            <a:off x="0" y="0"/>
            <a:ext cx="9144000" cy="4471500"/>
          </a:xfrm>
          <a:prstGeom prst="rect">
            <a:avLst/>
          </a:prstGeom>
          <a:solidFill>
            <a:srgbClr val="ED68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65"/>
          <p:cNvSpPr txBox="1"/>
          <p:nvPr/>
        </p:nvSpPr>
        <p:spPr>
          <a:xfrm>
            <a:off x="5859966" y="738256"/>
            <a:ext cx="18282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0">
              <a:solidFill>
                <a:srgbClr val="FD927D"/>
              </a:solidFill>
            </a:endParaRPr>
          </a:p>
        </p:txBody>
      </p:sp>
      <p:sp>
        <p:nvSpPr>
          <p:cNvPr id="756" name="Google Shape;756;p65"/>
          <p:cNvSpPr txBox="1"/>
          <p:nvPr>
            <p:ph type="ctrTitle"/>
          </p:nvPr>
        </p:nvSpPr>
        <p:spPr>
          <a:xfrm>
            <a:off x="210975" y="1680875"/>
            <a:ext cx="8520600" cy="161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VSCode Extensions</a:t>
            </a:r>
            <a:endParaRPr b="1" sz="7200">
              <a:solidFill>
                <a:schemeClr val="lt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1" name="Google Shape;761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223" y="416325"/>
            <a:ext cx="3551200" cy="3669850"/>
          </a:xfrm>
          <a:prstGeom prst="rect">
            <a:avLst/>
          </a:prstGeom>
          <a:noFill/>
          <a:ln>
            <a:noFill/>
          </a:ln>
        </p:spPr>
      </p:pic>
      <p:sp>
        <p:nvSpPr>
          <p:cNvPr id="762" name="Google Shape;762;p66"/>
          <p:cNvSpPr txBox="1"/>
          <p:nvPr>
            <p:ph type="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dbt Visual Studio Code Extensions</a:t>
            </a:r>
            <a:endParaRPr b="1" sz="3200">
              <a:solidFill>
                <a:srgbClr val="ED684E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66"/>
          <p:cNvSpPr txBox="1"/>
          <p:nvPr>
            <p:ph idx="1" type="body"/>
          </p:nvPr>
        </p:nvSpPr>
        <p:spPr>
          <a:xfrm>
            <a:off x="429850" y="1397425"/>
            <a:ext cx="8402700" cy="29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The </a:t>
            </a: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official VSCode Extension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 from dbt Labs.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Completely built from ground-up for </a:t>
            </a: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dbt Fusion</a:t>
            </a:r>
            <a:endParaRPr b="1"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This is the </a:t>
            </a: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official extension</a:t>
            </a:r>
            <a:endParaRPr b="1"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The </a:t>
            </a: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dbt Power User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 extension from </a:t>
            </a:r>
            <a:r>
              <a:rPr lang="en" sz="17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altimate.ai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Third-party extension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Supports both </a:t>
            </a: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dbt Core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 and </a:t>
            </a: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dbt Fusion</a:t>
            </a:r>
            <a:endParaRPr b="1"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64" name="Google Shape;764;p66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5" name="Google Shape;765;p66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6" name="Google Shape;766;p6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1" name="Google Shape;771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223" y="416325"/>
            <a:ext cx="3551200" cy="3669850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Google Shape;772;p67"/>
          <p:cNvSpPr txBox="1"/>
          <p:nvPr>
            <p:ph type="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Extensions - Feature Comparison</a:t>
            </a:r>
            <a:endParaRPr b="1" sz="3200">
              <a:solidFill>
                <a:srgbClr val="ED684E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73" name="Google Shape;773;p67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4" name="Google Shape;774;p67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5" name="Google Shape;775;p6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776" name="Google Shape;776;p67"/>
          <p:cNvGraphicFramePr/>
          <p:nvPr/>
        </p:nvGraphicFramePr>
        <p:xfrm>
          <a:off x="848275" y="1062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{3660BCE2-2714-4049-8B74-3E60B48309CE}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official dbt Extension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dbt Power User</a:t>
                      </a:r>
                      <a:r>
                        <a:rPr lang="en"/>
                        <a:t>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Price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Free until 15 users</a:t>
                      </a:r>
                      <a:br>
                        <a:rPr lang="en"/>
                      </a:br>
                      <a:r>
                        <a:rPr lang="en" sz="1100"/>
                        <a:t>requires</a:t>
                      </a:r>
                      <a:r>
                        <a:rPr lang="en" sz="1100"/>
                        <a:t> registration after 14 days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Freemium 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most features free, more advanced features require a subscription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Official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✅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❌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dbt core Support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❌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✅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dbt Fusion Support 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✅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✅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dbt Cloud Platform Support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✅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✅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Code Quality / Helper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✅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✅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Data Lineage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✅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✅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AI Features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❌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✅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1" name="Google Shape;781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223" y="416325"/>
            <a:ext cx="3551200" cy="3669850"/>
          </a:xfrm>
          <a:prstGeom prst="rect">
            <a:avLst/>
          </a:prstGeom>
          <a:noFill/>
          <a:ln>
            <a:noFill/>
          </a:ln>
        </p:spPr>
      </p:pic>
      <p:sp>
        <p:nvSpPr>
          <p:cNvPr id="782" name="Google Shape;782;p68"/>
          <p:cNvSpPr txBox="1"/>
          <p:nvPr>
            <p:ph type="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Extensions / Now or Later?</a:t>
            </a:r>
            <a:endParaRPr b="1" sz="3200">
              <a:solidFill>
                <a:srgbClr val="ED684E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83" name="Google Shape;783;p68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4" name="Google Shape;784;p68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5" name="Google Shape;785;p6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68"/>
          <p:cNvSpPr txBox="1"/>
          <p:nvPr>
            <p:ph idx="1" type="body"/>
          </p:nvPr>
        </p:nvSpPr>
        <p:spPr>
          <a:xfrm>
            <a:off x="429850" y="1397425"/>
            <a:ext cx="8402700" cy="29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12261" lvl="0" marL="457200" rtl="0" algn="l"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The extension-related courseware assumes that you’ve completed the core part of the course</a:t>
            </a:r>
            <a:b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2261" lvl="0" marL="457200" rtl="0" algn="l"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I’d suggest you give the course a shot using </a:t>
            </a: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bare-bones Visual Studio Code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 to maximise your learning (It will hurt more, I know)</a:t>
            </a:r>
            <a:b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2261" lvl="0" marL="457200" rtl="0" algn="l"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If you want to try the extensions now, I’ve created two codespaces for you - these have the code and extensions pre-installed: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2261" lvl="1" marL="914400" rtl="0" algn="l"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Char char="○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Official Extension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2261" lvl="1" marL="914400" rtl="0" algn="l"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Char char="○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dbt Power User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Codespace links in the Course Resources Repo</a:t>
            </a:r>
            <a:endParaRPr b="1"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69"/>
          <p:cNvSpPr/>
          <p:nvPr/>
        </p:nvSpPr>
        <p:spPr>
          <a:xfrm>
            <a:off x="0" y="0"/>
            <a:ext cx="9144000" cy="4471500"/>
          </a:xfrm>
          <a:prstGeom prst="rect">
            <a:avLst/>
          </a:prstGeom>
          <a:solidFill>
            <a:srgbClr val="ED68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69"/>
          <p:cNvSpPr txBox="1"/>
          <p:nvPr/>
        </p:nvSpPr>
        <p:spPr>
          <a:xfrm>
            <a:off x="5859966" y="738256"/>
            <a:ext cx="18282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0">
              <a:solidFill>
                <a:srgbClr val="FD927D"/>
              </a:solidFill>
            </a:endParaRPr>
          </a:p>
        </p:txBody>
      </p:sp>
      <p:sp>
        <p:nvSpPr>
          <p:cNvPr id="793" name="Google Shape;793;p69"/>
          <p:cNvSpPr txBox="1"/>
          <p:nvPr>
            <p:ph type="ctrTitle"/>
          </p:nvPr>
        </p:nvSpPr>
        <p:spPr>
          <a:xfrm>
            <a:off x="267900" y="1996000"/>
            <a:ext cx="8520600" cy="9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MODELS</a:t>
            </a:r>
            <a:endParaRPr b="1" sz="7200">
              <a:solidFill>
                <a:schemeClr val="lt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8" name="Google Shape;798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223" y="416325"/>
            <a:ext cx="3551200" cy="3669850"/>
          </a:xfrm>
          <a:prstGeom prst="rect">
            <a:avLst/>
          </a:prstGeom>
          <a:noFill/>
          <a:ln>
            <a:noFill/>
          </a:ln>
        </p:spPr>
      </p:pic>
      <p:sp>
        <p:nvSpPr>
          <p:cNvPr id="799" name="Google Shape;799;p70"/>
          <p:cNvSpPr txBox="1"/>
          <p:nvPr>
            <p:ph type="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LEARNING OBJECTIVES</a:t>
            </a:r>
            <a:endParaRPr b="1" sz="3200">
              <a:solidFill>
                <a:srgbClr val="ED684E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70"/>
          <p:cNvSpPr txBox="1"/>
          <p:nvPr>
            <p:ph idx="1" type="body"/>
          </p:nvPr>
        </p:nvSpPr>
        <p:spPr>
          <a:xfrm>
            <a:off x="429850" y="1397425"/>
            <a:ext cx="8402700" cy="29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Understand the data flow of our project 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Understand the concept of Models in dbt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Create three basic models: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○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src_listings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○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src_reviews: guided exercises 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○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src_hosts: individual lab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01" name="Google Shape;801;p70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6" name="Google Shape;806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223" y="416325"/>
            <a:ext cx="3551200" cy="3669850"/>
          </a:xfrm>
          <a:prstGeom prst="rect">
            <a:avLst/>
          </a:prstGeom>
          <a:noFill/>
          <a:ln>
            <a:noFill/>
          </a:ln>
        </p:spPr>
      </p:pic>
      <p:sp>
        <p:nvSpPr>
          <p:cNvPr id="807" name="Google Shape;807;p71"/>
          <p:cNvSpPr txBox="1"/>
          <p:nvPr>
            <p:ph type="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MODELS OVERVIEW</a:t>
            </a:r>
            <a:endParaRPr b="1" sz="3200">
              <a:solidFill>
                <a:srgbClr val="ED684E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p71"/>
          <p:cNvSpPr txBox="1"/>
          <p:nvPr>
            <p:ph idx="1" type="body"/>
          </p:nvPr>
        </p:nvSpPr>
        <p:spPr>
          <a:xfrm>
            <a:off x="429850" y="1397425"/>
            <a:ext cx="8402700" cy="29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Models are the basic building block of your business logic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Materialized as tables, views, etc…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They live in SQL files in the `models` folder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Models can reference each other and use templates and macros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09" name="Google Shape;809;p71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72"/>
          <p:cNvSpPr/>
          <p:nvPr/>
        </p:nvSpPr>
        <p:spPr>
          <a:xfrm>
            <a:off x="2435966" y="1250725"/>
            <a:ext cx="1951200" cy="2894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Space Mono"/>
                <a:ea typeface="Space Mono"/>
                <a:cs typeface="Space Mono"/>
                <a:sym typeface="Space Mono"/>
              </a:rPr>
              <a:t>Staging</a:t>
            </a:r>
            <a:r>
              <a:rPr lang="en">
                <a:solidFill>
                  <a:srgbClr val="B7B7B7"/>
                </a:solidFill>
                <a:latin typeface="Space Mono"/>
                <a:ea typeface="Space Mono"/>
                <a:cs typeface="Space Mono"/>
                <a:sym typeface="Space Mono"/>
              </a:rPr>
              <a:t> Layer</a:t>
            </a:r>
            <a:endParaRPr>
              <a:solidFill>
                <a:srgbClr val="B7B7B7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815" name="Google Shape;815;p72"/>
          <p:cNvSpPr/>
          <p:nvPr/>
        </p:nvSpPr>
        <p:spPr>
          <a:xfrm>
            <a:off x="392150" y="1250725"/>
            <a:ext cx="1951200" cy="2894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Space Mono"/>
                <a:ea typeface="Space Mono"/>
                <a:cs typeface="Space Mono"/>
                <a:sym typeface="Space Mono"/>
              </a:rPr>
              <a:t>Raw layer</a:t>
            </a:r>
            <a:endParaRPr>
              <a:solidFill>
                <a:srgbClr val="B7B7B7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816" name="Google Shape;816;p72"/>
          <p:cNvSpPr/>
          <p:nvPr/>
        </p:nvSpPr>
        <p:spPr>
          <a:xfrm>
            <a:off x="634850" y="1826600"/>
            <a:ext cx="1465800" cy="3765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raw_listings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7" name="Google Shape;817;p72"/>
          <p:cNvSpPr/>
          <p:nvPr/>
        </p:nvSpPr>
        <p:spPr>
          <a:xfrm>
            <a:off x="628400" y="2604725"/>
            <a:ext cx="1465800" cy="3765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raw_hosts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8" name="Google Shape;818;p72"/>
          <p:cNvSpPr/>
          <p:nvPr/>
        </p:nvSpPr>
        <p:spPr>
          <a:xfrm>
            <a:off x="628400" y="3461900"/>
            <a:ext cx="1465800" cy="3765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raw_reviews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819" name="Google Shape;819;p72"/>
          <p:cNvGrpSpPr/>
          <p:nvPr/>
        </p:nvGrpSpPr>
        <p:grpSpPr>
          <a:xfrm>
            <a:off x="2094200" y="1749800"/>
            <a:ext cx="2109900" cy="2165400"/>
            <a:chOff x="2087750" y="1270525"/>
            <a:chExt cx="2109900" cy="2165400"/>
          </a:xfrm>
        </p:grpSpPr>
        <p:sp>
          <p:nvSpPr>
            <p:cNvPr id="820" name="Google Shape;820;p72"/>
            <p:cNvSpPr/>
            <p:nvPr/>
          </p:nvSpPr>
          <p:spPr>
            <a:xfrm>
              <a:off x="2559950" y="1270525"/>
              <a:ext cx="1637700" cy="530100"/>
            </a:xfrm>
            <a:prstGeom prst="roundRect">
              <a:avLst>
                <a:gd fmla="val 16667" name="adj"/>
              </a:avLst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latin typeface="Montserrat"/>
                  <a:ea typeface="Montserrat"/>
                  <a:cs typeface="Montserrat"/>
                  <a:sym typeface="Montserrat"/>
                </a:rPr>
                <a:t>src_listings</a:t>
              </a:r>
              <a:r>
                <a:rPr lang="en"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Montserrat"/>
                  <a:ea typeface="Montserrat"/>
                  <a:cs typeface="Montserrat"/>
                  <a:sym typeface="Montserrat"/>
                </a:rPr>
                <a:t>basic checks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cxnSp>
          <p:nvCxnSpPr>
            <p:cNvPr id="821" name="Google Shape;821;p72"/>
            <p:cNvCxnSpPr>
              <a:stCxn id="816" idx="3"/>
              <a:endCxn id="820" idx="1"/>
            </p:cNvCxnSpPr>
            <p:nvPr/>
          </p:nvCxnSpPr>
          <p:spPr>
            <a:xfrm>
              <a:off x="2094200" y="1535575"/>
              <a:ext cx="465600" cy="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22" name="Google Shape;822;p72"/>
            <p:cNvSpPr/>
            <p:nvPr/>
          </p:nvSpPr>
          <p:spPr>
            <a:xfrm>
              <a:off x="2559950" y="2049775"/>
              <a:ext cx="1637700" cy="530100"/>
            </a:xfrm>
            <a:prstGeom prst="roundRect">
              <a:avLst>
                <a:gd fmla="val 16667" name="adj"/>
              </a:avLst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latin typeface="Montserrat"/>
                  <a:ea typeface="Montserrat"/>
                  <a:cs typeface="Montserrat"/>
                  <a:sym typeface="Montserrat"/>
                </a:rPr>
                <a:t>src_hosts</a:t>
              </a:r>
              <a:r>
                <a:rPr lang="en"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Montserrat"/>
                  <a:ea typeface="Montserrat"/>
                  <a:cs typeface="Montserrat"/>
                  <a:sym typeface="Montserrat"/>
                </a:rPr>
                <a:t>basic checks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cxnSp>
          <p:nvCxnSpPr>
            <p:cNvPr id="823" name="Google Shape;823;p72"/>
            <p:cNvCxnSpPr>
              <a:stCxn id="817" idx="3"/>
              <a:endCxn id="822" idx="1"/>
            </p:cNvCxnSpPr>
            <p:nvPr/>
          </p:nvCxnSpPr>
          <p:spPr>
            <a:xfrm>
              <a:off x="2087750" y="2313700"/>
              <a:ext cx="472200" cy="12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24" name="Google Shape;824;p72"/>
            <p:cNvSpPr/>
            <p:nvPr/>
          </p:nvSpPr>
          <p:spPr>
            <a:xfrm>
              <a:off x="2559950" y="2905825"/>
              <a:ext cx="1637700" cy="530100"/>
            </a:xfrm>
            <a:prstGeom prst="roundRect">
              <a:avLst>
                <a:gd fmla="val 16667" name="adj"/>
              </a:avLst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src_reviews</a:t>
              </a:r>
              <a:r>
                <a:rPr lang="en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basic checks</a:t>
              </a:r>
              <a:endParaRPr/>
            </a:p>
          </p:txBody>
        </p:sp>
        <p:cxnSp>
          <p:nvCxnSpPr>
            <p:cNvPr id="825" name="Google Shape;825;p72"/>
            <p:cNvCxnSpPr>
              <a:stCxn id="818" idx="3"/>
              <a:endCxn id="824" idx="1"/>
            </p:cNvCxnSpPr>
            <p:nvPr/>
          </p:nvCxnSpPr>
          <p:spPr>
            <a:xfrm>
              <a:off x="2087750" y="3170875"/>
              <a:ext cx="472200" cy="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cxnSp>
        <p:nvCxnSpPr>
          <p:cNvPr id="826" name="Google Shape;826;p72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7" name="Google Shape;827;p72"/>
          <p:cNvSpPr txBox="1"/>
          <p:nvPr>
            <p:ph idx="4294967295" type="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DATA FLOW </a:t>
            </a: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PROGRESS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2" name="Google Shape;832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223" y="416325"/>
            <a:ext cx="3551200" cy="3669850"/>
          </a:xfrm>
          <a:prstGeom prst="rect">
            <a:avLst/>
          </a:prstGeom>
          <a:noFill/>
          <a:ln>
            <a:noFill/>
          </a:ln>
        </p:spPr>
      </p:pic>
      <p:sp>
        <p:nvSpPr>
          <p:cNvPr id="833" name="Google Shape;833;p73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13131"/>
                </a:solidFill>
                <a:highlight>
                  <a:srgbClr val="ED684E"/>
                </a:highlight>
                <a:latin typeface="Space Mono"/>
                <a:ea typeface="Space Mono"/>
                <a:cs typeface="Space Mono"/>
                <a:sym typeface="Space Mono"/>
              </a:rPr>
              <a:t>GUIDED </a:t>
            </a:r>
            <a:r>
              <a:rPr lang="en" sz="1000">
                <a:solidFill>
                  <a:srgbClr val="313131"/>
                </a:solidFill>
                <a:highlight>
                  <a:srgbClr val="ED684E"/>
                </a:highlight>
                <a:latin typeface="Space Mono"/>
                <a:ea typeface="Space Mono"/>
                <a:cs typeface="Space Mono"/>
                <a:sym typeface="Space Mono"/>
              </a:rPr>
              <a:t>EXERCISE</a:t>
            </a:r>
            <a:endParaRPr sz="1000">
              <a:solidFill>
                <a:srgbClr val="313131"/>
              </a:solidFill>
              <a:highlight>
                <a:srgbClr val="ED684E"/>
              </a:highlight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src_reviews.sql</a:t>
            </a:r>
            <a:endParaRPr b="1" sz="3200">
              <a:solidFill>
                <a:srgbClr val="ED684E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834" name="Google Shape;834;p73"/>
          <p:cNvSpPr txBox="1"/>
          <p:nvPr/>
        </p:nvSpPr>
        <p:spPr>
          <a:xfrm>
            <a:off x="444675" y="1506975"/>
            <a:ext cx="8312400" cy="27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Create a new model in the `models/src/` folder called `src_reviews.sql`.</a:t>
            </a:r>
            <a:endParaRPr b="1"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13131"/>
              </a:buClr>
              <a:buSzPts val="1600"/>
              <a:buFont typeface="Montserrat"/>
              <a:buChar char="●"/>
            </a:pPr>
            <a:r>
              <a:rPr lang="en" sz="16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Use a CTE to reference the AIRBNB.RAW.RAW_REVIEWS table</a:t>
            </a:r>
            <a:endParaRPr sz="16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600"/>
              <a:buFont typeface="Montserrat"/>
              <a:buChar char="●"/>
            </a:pPr>
            <a:r>
              <a:rPr lang="en" sz="16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SELECT every column and every record, and rename the following columns:</a:t>
            </a:r>
            <a:endParaRPr sz="16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400"/>
              <a:buFont typeface="Montserrat Medium"/>
              <a:buChar char="○"/>
            </a:pPr>
            <a:r>
              <a:rPr i="1" lang="en">
                <a:solidFill>
                  <a:srgbClr val="31313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date</a:t>
            </a:r>
            <a:r>
              <a:rPr lang="en">
                <a:solidFill>
                  <a:srgbClr val="31313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to </a:t>
            </a:r>
            <a:r>
              <a:rPr i="1" lang="en">
                <a:solidFill>
                  <a:srgbClr val="31313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review_date</a:t>
            </a:r>
            <a:endParaRPr i="1">
              <a:solidFill>
                <a:srgbClr val="31313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400"/>
              <a:buFont typeface="Montserrat Medium"/>
              <a:buChar char="○"/>
            </a:pPr>
            <a:r>
              <a:rPr i="1" lang="en">
                <a:solidFill>
                  <a:srgbClr val="31313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comments</a:t>
            </a:r>
            <a:r>
              <a:rPr lang="en">
                <a:solidFill>
                  <a:srgbClr val="31313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to </a:t>
            </a:r>
            <a:r>
              <a:rPr i="1" lang="en">
                <a:solidFill>
                  <a:srgbClr val="31313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review_text</a:t>
            </a:r>
            <a:endParaRPr i="1">
              <a:solidFill>
                <a:srgbClr val="31313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400"/>
              <a:buFont typeface="Montserrat Medium"/>
              <a:buChar char="○"/>
            </a:pPr>
            <a:r>
              <a:rPr i="1" lang="en">
                <a:solidFill>
                  <a:srgbClr val="31313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sentiment</a:t>
            </a:r>
            <a:r>
              <a:rPr lang="en">
                <a:solidFill>
                  <a:srgbClr val="31313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 to </a:t>
            </a:r>
            <a:r>
              <a:rPr i="1" lang="en">
                <a:solidFill>
                  <a:srgbClr val="31313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review_sentiment</a:t>
            </a:r>
            <a:endParaRPr i="1">
              <a:solidFill>
                <a:srgbClr val="31313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600"/>
              <a:buFont typeface="Montserrat"/>
              <a:buChar char="●"/>
            </a:pPr>
            <a:r>
              <a:rPr lang="en" sz="16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Execute `dbt run` and verify that your model has been created </a:t>
            </a:r>
            <a:endParaRPr sz="16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(You can find the solution among the resources)</a:t>
            </a:r>
            <a:r>
              <a:rPr lang="en" sz="16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6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35" name="Google Shape;835;p73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74"/>
          <p:cNvSpPr/>
          <p:nvPr/>
        </p:nvSpPr>
        <p:spPr>
          <a:xfrm>
            <a:off x="0" y="0"/>
            <a:ext cx="9144000" cy="4471500"/>
          </a:xfrm>
          <a:prstGeom prst="rect">
            <a:avLst/>
          </a:prstGeom>
          <a:solidFill>
            <a:srgbClr val="ED68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p74"/>
          <p:cNvSpPr txBox="1"/>
          <p:nvPr/>
        </p:nvSpPr>
        <p:spPr>
          <a:xfrm>
            <a:off x="5859966" y="738256"/>
            <a:ext cx="18282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0">
              <a:solidFill>
                <a:srgbClr val="FD927D"/>
              </a:solidFill>
            </a:endParaRPr>
          </a:p>
        </p:txBody>
      </p:sp>
      <p:sp>
        <p:nvSpPr>
          <p:cNvPr id="842" name="Google Shape;842;p74"/>
          <p:cNvSpPr txBox="1"/>
          <p:nvPr>
            <p:ph type="ctrTitle"/>
          </p:nvPr>
        </p:nvSpPr>
        <p:spPr>
          <a:xfrm>
            <a:off x="267900" y="1996000"/>
            <a:ext cx="8520600" cy="9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MATERIALIZATIONS</a:t>
            </a:r>
            <a:endParaRPr b="1" sz="7200">
              <a:solidFill>
                <a:schemeClr val="lt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7" name="Google Shape;847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223" y="416325"/>
            <a:ext cx="3551200" cy="3669850"/>
          </a:xfrm>
          <a:prstGeom prst="rect">
            <a:avLst/>
          </a:prstGeom>
          <a:noFill/>
          <a:ln>
            <a:noFill/>
          </a:ln>
        </p:spPr>
      </p:pic>
      <p:sp>
        <p:nvSpPr>
          <p:cNvPr id="848" name="Google Shape;848;p75"/>
          <p:cNvSpPr txBox="1"/>
          <p:nvPr>
            <p:ph type="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LEARNING OBJECTIVES</a:t>
            </a:r>
            <a:endParaRPr b="1" sz="3200">
              <a:solidFill>
                <a:srgbClr val="ED684E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75"/>
          <p:cNvSpPr txBox="1"/>
          <p:nvPr>
            <p:ph idx="1" type="body"/>
          </p:nvPr>
        </p:nvSpPr>
        <p:spPr>
          <a:xfrm>
            <a:off x="429850" y="1397425"/>
            <a:ext cx="8402700" cy="29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Understand how models can be connected 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Understand the four built-in materializations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Understand how materializations can be configured on the file and project level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Use </a:t>
            </a:r>
            <a:r>
              <a:rPr i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dbt run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 with extra parameters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50" name="Google Shape;850;p75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76"/>
          <p:cNvSpPr/>
          <p:nvPr/>
        </p:nvSpPr>
        <p:spPr>
          <a:xfrm>
            <a:off x="0" y="0"/>
            <a:ext cx="9144000" cy="4471500"/>
          </a:xfrm>
          <a:prstGeom prst="rect">
            <a:avLst/>
          </a:prstGeom>
          <a:solidFill>
            <a:srgbClr val="ED68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76"/>
          <p:cNvSpPr txBox="1"/>
          <p:nvPr/>
        </p:nvSpPr>
        <p:spPr>
          <a:xfrm>
            <a:off x="5859966" y="738256"/>
            <a:ext cx="18282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0">
              <a:solidFill>
                <a:srgbClr val="FD927D"/>
              </a:solidFill>
            </a:endParaRPr>
          </a:p>
        </p:txBody>
      </p:sp>
      <p:sp>
        <p:nvSpPr>
          <p:cNvPr id="857" name="Google Shape;857;p76"/>
          <p:cNvSpPr txBox="1"/>
          <p:nvPr>
            <p:ph type="ctrTitle"/>
          </p:nvPr>
        </p:nvSpPr>
        <p:spPr>
          <a:xfrm>
            <a:off x="267900" y="1996000"/>
            <a:ext cx="8520600" cy="9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MATERIALIZATIONS</a:t>
            </a:r>
            <a:endParaRPr b="1" sz="7200">
              <a:solidFill>
                <a:schemeClr val="lt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77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MATERIALISATIONS OVERVIEW</a:t>
            </a:r>
            <a:endParaRPr sz="2800"/>
          </a:p>
        </p:txBody>
      </p:sp>
      <p:sp>
        <p:nvSpPr>
          <p:cNvPr id="863" name="Google Shape;863;p77"/>
          <p:cNvSpPr/>
          <p:nvPr/>
        </p:nvSpPr>
        <p:spPr>
          <a:xfrm>
            <a:off x="475325" y="1263225"/>
            <a:ext cx="1891500" cy="2962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pace Mono"/>
                <a:ea typeface="Space Mono"/>
                <a:cs typeface="Space Mono"/>
                <a:sym typeface="Space Mono"/>
              </a:rPr>
              <a:t>View</a:t>
            </a:r>
            <a:endParaRPr b="1"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highlight>
                  <a:srgbClr val="D9EAD3"/>
                </a:highlight>
                <a:latin typeface="Montserrat"/>
                <a:ea typeface="Montserrat"/>
                <a:cs typeface="Montserrat"/>
                <a:sym typeface="Montserrat"/>
              </a:rPr>
              <a:t>Use it</a:t>
            </a:r>
            <a:endParaRPr b="1" sz="1200">
              <a:highlight>
                <a:srgbClr val="D9EAD3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- 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You want a lightweight representation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- </a:t>
            </a: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You don’t reuse data too often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highlight>
                  <a:srgbClr val="FD927D"/>
                </a:highlight>
                <a:latin typeface="Montserrat"/>
                <a:ea typeface="Montserrat"/>
                <a:cs typeface="Montserrat"/>
                <a:sym typeface="Montserrat"/>
              </a:rPr>
              <a:t>Don’t use it</a:t>
            </a:r>
            <a:endParaRPr b="1" sz="1200">
              <a:highlight>
                <a:srgbClr val="FD927D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- You read from the same model several times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864" name="Google Shape;864;p77"/>
          <p:cNvSpPr/>
          <p:nvPr/>
        </p:nvSpPr>
        <p:spPr>
          <a:xfrm>
            <a:off x="2588450" y="1263225"/>
            <a:ext cx="1891500" cy="2962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pace Mono"/>
                <a:ea typeface="Space Mono"/>
                <a:cs typeface="Space Mono"/>
                <a:sym typeface="Space Mono"/>
              </a:rPr>
              <a:t>Table</a:t>
            </a:r>
            <a:endParaRPr b="1"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highlight>
                  <a:srgbClr val="D9EAD3"/>
                </a:highlight>
                <a:latin typeface="Montserrat"/>
                <a:ea typeface="Montserrat"/>
                <a:cs typeface="Montserrat"/>
                <a:sym typeface="Montserrat"/>
              </a:rPr>
              <a:t>Use it</a:t>
            </a:r>
            <a:endParaRPr b="1" sz="1200">
              <a:highlight>
                <a:srgbClr val="D9EAD3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- You read from this model repeatedly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highlight>
                  <a:srgbClr val="FD927D"/>
                </a:highlight>
                <a:latin typeface="Montserrat"/>
                <a:ea typeface="Montserrat"/>
                <a:cs typeface="Montserrat"/>
                <a:sym typeface="Montserrat"/>
              </a:rPr>
              <a:t>Don’t use it</a:t>
            </a:r>
            <a:endParaRPr b="1" sz="1200">
              <a:highlight>
                <a:srgbClr val="FD927D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- Building single-use models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- Your model is populated incrementally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865" name="Google Shape;865;p77"/>
          <p:cNvSpPr/>
          <p:nvPr/>
        </p:nvSpPr>
        <p:spPr>
          <a:xfrm>
            <a:off x="4662463" y="1263225"/>
            <a:ext cx="1891500" cy="2962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pace Mono"/>
                <a:ea typeface="Space Mono"/>
                <a:cs typeface="Space Mono"/>
                <a:sym typeface="Space Mono"/>
              </a:rPr>
              <a:t>Incremental</a:t>
            </a:r>
            <a:br>
              <a:rPr b="1" lang="en">
                <a:latin typeface="Space Mono"/>
                <a:ea typeface="Space Mono"/>
                <a:cs typeface="Space Mono"/>
                <a:sym typeface="Space Mono"/>
              </a:rPr>
            </a:br>
            <a:r>
              <a:rPr b="1" lang="en" sz="1300">
                <a:latin typeface="Space Mono"/>
                <a:ea typeface="Space Mono"/>
                <a:cs typeface="Space Mono"/>
                <a:sym typeface="Space Mono"/>
              </a:rPr>
              <a:t>(table appends)</a:t>
            </a:r>
            <a:endParaRPr b="1" sz="1300"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highlight>
                  <a:srgbClr val="D9EAD3"/>
                </a:highlight>
                <a:latin typeface="Montserrat"/>
                <a:ea typeface="Montserrat"/>
                <a:cs typeface="Montserrat"/>
                <a:sym typeface="Montserrat"/>
              </a:rPr>
              <a:t>Use it</a:t>
            </a:r>
            <a:endParaRPr b="1" sz="1200">
              <a:highlight>
                <a:srgbClr val="D9EAD3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- Fact tables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- Appends to tables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highlight>
                  <a:srgbClr val="FD927D"/>
                </a:highlight>
                <a:latin typeface="Montserrat"/>
                <a:ea typeface="Montserrat"/>
                <a:cs typeface="Montserrat"/>
                <a:sym typeface="Montserrat"/>
              </a:rPr>
              <a:t>Don’t use it</a:t>
            </a:r>
            <a:endParaRPr b="1" sz="1200">
              <a:highlight>
                <a:srgbClr val="FD927D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- You want to update historical records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866" name="Google Shape;866;p77"/>
          <p:cNvSpPr/>
          <p:nvPr/>
        </p:nvSpPr>
        <p:spPr>
          <a:xfrm>
            <a:off x="6736475" y="1263225"/>
            <a:ext cx="1891500" cy="2962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pace Mono"/>
                <a:ea typeface="Space Mono"/>
                <a:cs typeface="Space Mono"/>
                <a:sym typeface="Space Mono"/>
              </a:rPr>
              <a:t>Ephemeral</a:t>
            </a:r>
            <a:br>
              <a:rPr b="1" lang="en">
                <a:latin typeface="Space Mono"/>
                <a:ea typeface="Space Mono"/>
                <a:cs typeface="Space Mono"/>
                <a:sym typeface="Space Mono"/>
              </a:rPr>
            </a:br>
            <a:r>
              <a:rPr b="1" lang="en" sz="1300">
                <a:latin typeface="Space Mono"/>
                <a:ea typeface="Space Mono"/>
                <a:cs typeface="Space Mono"/>
                <a:sym typeface="Space Mono"/>
              </a:rPr>
              <a:t>(CTEs)</a:t>
            </a:r>
            <a:endParaRPr b="1" sz="1300"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highlight>
                  <a:srgbClr val="D9EAD3"/>
                </a:highlight>
                <a:latin typeface="Montserrat"/>
                <a:ea typeface="Montserrat"/>
                <a:cs typeface="Montserrat"/>
                <a:sym typeface="Montserrat"/>
              </a:rPr>
              <a:t>Use it</a:t>
            </a:r>
            <a:endParaRPr b="1" sz="1200">
              <a:highlight>
                <a:srgbClr val="D9EAD3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- You merely want an alias to your date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highlight>
                  <a:srgbClr val="FD927D"/>
                </a:highlight>
                <a:latin typeface="Montserrat"/>
                <a:ea typeface="Montserrat"/>
                <a:cs typeface="Montserrat"/>
                <a:sym typeface="Montserrat"/>
              </a:rPr>
              <a:t>Don’t use it</a:t>
            </a:r>
            <a:endParaRPr b="1" sz="1200">
              <a:highlight>
                <a:srgbClr val="FD927D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- You read from the same model several times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cxnSp>
        <p:nvCxnSpPr>
          <p:cNvPr id="867" name="Google Shape;867;p77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78"/>
          <p:cNvSpPr/>
          <p:nvPr/>
        </p:nvSpPr>
        <p:spPr>
          <a:xfrm>
            <a:off x="2435966" y="1250725"/>
            <a:ext cx="1951200" cy="2894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Space Mono"/>
                <a:ea typeface="Space Mono"/>
                <a:cs typeface="Space Mono"/>
                <a:sym typeface="Space Mono"/>
              </a:rPr>
              <a:t>Staging Layer</a:t>
            </a:r>
            <a:endParaRPr>
              <a:solidFill>
                <a:srgbClr val="B7B7B7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873" name="Google Shape;873;p78"/>
          <p:cNvSpPr/>
          <p:nvPr/>
        </p:nvSpPr>
        <p:spPr>
          <a:xfrm>
            <a:off x="392150" y="1250725"/>
            <a:ext cx="1951200" cy="2894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Space Mono"/>
                <a:ea typeface="Space Mono"/>
                <a:cs typeface="Space Mono"/>
                <a:sym typeface="Space Mono"/>
              </a:rPr>
              <a:t>Raw layer</a:t>
            </a:r>
            <a:endParaRPr>
              <a:solidFill>
                <a:srgbClr val="B7B7B7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874" name="Google Shape;874;p78"/>
          <p:cNvSpPr/>
          <p:nvPr/>
        </p:nvSpPr>
        <p:spPr>
          <a:xfrm>
            <a:off x="634850" y="1826600"/>
            <a:ext cx="1465800" cy="3765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raw_listings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5" name="Google Shape;875;p78"/>
          <p:cNvSpPr/>
          <p:nvPr/>
        </p:nvSpPr>
        <p:spPr>
          <a:xfrm>
            <a:off x="628400" y="2604725"/>
            <a:ext cx="1465800" cy="3765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raw_hosts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6" name="Google Shape;876;p78"/>
          <p:cNvSpPr/>
          <p:nvPr/>
        </p:nvSpPr>
        <p:spPr>
          <a:xfrm>
            <a:off x="628400" y="3461900"/>
            <a:ext cx="1465800" cy="3765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raw_reviews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877" name="Google Shape;877;p78"/>
          <p:cNvGrpSpPr/>
          <p:nvPr/>
        </p:nvGrpSpPr>
        <p:grpSpPr>
          <a:xfrm>
            <a:off x="2094200" y="1749800"/>
            <a:ext cx="2109900" cy="2165400"/>
            <a:chOff x="2087750" y="1270525"/>
            <a:chExt cx="2109900" cy="2165400"/>
          </a:xfrm>
        </p:grpSpPr>
        <p:sp>
          <p:nvSpPr>
            <p:cNvPr id="878" name="Google Shape;878;p78"/>
            <p:cNvSpPr/>
            <p:nvPr/>
          </p:nvSpPr>
          <p:spPr>
            <a:xfrm>
              <a:off x="2559950" y="1270525"/>
              <a:ext cx="1637700" cy="530100"/>
            </a:xfrm>
            <a:prstGeom prst="roundRect">
              <a:avLst>
                <a:gd fmla="val 16667" name="adj"/>
              </a:avLst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latin typeface="Montserrat"/>
                  <a:ea typeface="Montserrat"/>
                  <a:cs typeface="Montserrat"/>
                  <a:sym typeface="Montserrat"/>
                </a:rPr>
                <a:t>src_listings</a:t>
              </a:r>
              <a:r>
                <a:rPr lang="en" sz="1000"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sz="1000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Montserrat"/>
                  <a:ea typeface="Montserrat"/>
                  <a:cs typeface="Montserrat"/>
                  <a:sym typeface="Montserrat"/>
                </a:rPr>
                <a:t>basic checks</a:t>
              </a:r>
              <a:endParaRPr sz="10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cxnSp>
          <p:nvCxnSpPr>
            <p:cNvPr id="879" name="Google Shape;879;p78"/>
            <p:cNvCxnSpPr>
              <a:stCxn id="874" idx="3"/>
              <a:endCxn id="878" idx="1"/>
            </p:cNvCxnSpPr>
            <p:nvPr/>
          </p:nvCxnSpPr>
          <p:spPr>
            <a:xfrm>
              <a:off x="2094200" y="1535575"/>
              <a:ext cx="465600" cy="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80" name="Google Shape;880;p78"/>
            <p:cNvSpPr/>
            <p:nvPr/>
          </p:nvSpPr>
          <p:spPr>
            <a:xfrm>
              <a:off x="2559950" y="2049775"/>
              <a:ext cx="1637700" cy="530100"/>
            </a:xfrm>
            <a:prstGeom prst="roundRect">
              <a:avLst>
                <a:gd fmla="val 16667" name="adj"/>
              </a:avLst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latin typeface="Montserrat"/>
                  <a:ea typeface="Montserrat"/>
                  <a:cs typeface="Montserrat"/>
                  <a:sym typeface="Montserrat"/>
                </a:rPr>
                <a:t>src_hosts</a:t>
              </a:r>
              <a:r>
                <a:rPr lang="en" sz="1000"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sz="1000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Montserrat"/>
                  <a:ea typeface="Montserrat"/>
                  <a:cs typeface="Montserrat"/>
                  <a:sym typeface="Montserrat"/>
                </a:rPr>
                <a:t>basic checks</a:t>
              </a:r>
              <a:endParaRPr sz="10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cxnSp>
          <p:nvCxnSpPr>
            <p:cNvPr id="881" name="Google Shape;881;p78"/>
            <p:cNvCxnSpPr>
              <a:stCxn id="875" idx="3"/>
              <a:endCxn id="880" idx="1"/>
            </p:cNvCxnSpPr>
            <p:nvPr/>
          </p:nvCxnSpPr>
          <p:spPr>
            <a:xfrm>
              <a:off x="2087750" y="2313700"/>
              <a:ext cx="472200" cy="12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82" name="Google Shape;882;p78"/>
            <p:cNvSpPr/>
            <p:nvPr/>
          </p:nvSpPr>
          <p:spPr>
            <a:xfrm>
              <a:off x="2559950" y="2905825"/>
              <a:ext cx="1637700" cy="530100"/>
            </a:xfrm>
            <a:prstGeom prst="roundRect">
              <a:avLst>
                <a:gd fmla="val 16667" name="adj"/>
              </a:avLst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1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src_reviews</a:t>
              </a:r>
              <a:r>
                <a:rPr lang="en" sz="1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basic checks</a:t>
              </a:r>
              <a:endParaRPr sz="1000"/>
            </a:p>
          </p:txBody>
        </p:sp>
        <p:cxnSp>
          <p:nvCxnSpPr>
            <p:cNvPr id="883" name="Google Shape;883;p78"/>
            <p:cNvCxnSpPr>
              <a:stCxn id="876" idx="3"/>
              <a:endCxn id="882" idx="1"/>
            </p:cNvCxnSpPr>
            <p:nvPr/>
          </p:nvCxnSpPr>
          <p:spPr>
            <a:xfrm>
              <a:off x="2087750" y="3170875"/>
              <a:ext cx="472200" cy="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cxnSp>
        <p:nvCxnSpPr>
          <p:cNvPr id="884" name="Google Shape;884;p78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5" name="Google Shape;885;p78"/>
          <p:cNvSpPr txBox="1"/>
          <p:nvPr>
            <p:ph idx="4294967295" type="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DATA FLOW PROGRESS</a:t>
            </a:r>
            <a:endParaRPr/>
          </a:p>
        </p:txBody>
      </p:sp>
      <p:sp>
        <p:nvSpPr>
          <p:cNvPr id="886" name="Google Shape;886;p78"/>
          <p:cNvSpPr/>
          <p:nvPr/>
        </p:nvSpPr>
        <p:spPr>
          <a:xfrm>
            <a:off x="4479798" y="1250725"/>
            <a:ext cx="4352700" cy="2894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Space Mono"/>
                <a:ea typeface="Space Mono"/>
                <a:cs typeface="Space Mono"/>
                <a:sym typeface="Space Mono"/>
              </a:rPr>
              <a:t>Core</a:t>
            </a:r>
            <a:r>
              <a:rPr lang="en">
                <a:solidFill>
                  <a:srgbClr val="B7B7B7"/>
                </a:solidFill>
                <a:latin typeface="Space Mono"/>
                <a:ea typeface="Space Mono"/>
                <a:cs typeface="Space Mono"/>
                <a:sym typeface="Space Mono"/>
              </a:rPr>
              <a:t> Layer</a:t>
            </a:r>
            <a:endParaRPr>
              <a:solidFill>
                <a:srgbClr val="B7B7B7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grpSp>
        <p:nvGrpSpPr>
          <p:cNvPr id="887" name="Google Shape;887;p78"/>
          <p:cNvGrpSpPr/>
          <p:nvPr/>
        </p:nvGrpSpPr>
        <p:grpSpPr>
          <a:xfrm>
            <a:off x="4204100" y="1749800"/>
            <a:ext cx="2138850" cy="2165400"/>
            <a:chOff x="4204100" y="1749800"/>
            <a:chExt cx="2138850" cy="2165400"/>
          </a:xfrm>
        </p:grpSpPr>
        <p:grpSp>
          <p:nvGrpSpPr>
            <p:cNvPr id="888" name="Google Shape;888;p78"/>
            <p:cNvGrpSpPr/>
            <p:nvPr/>
          </p:nvGrpSpPr>
          <p:grpSpPr>
            <a:xfrm>
              <a:off x="4636550" y="1749800"/>
              <a:ext cx="1706400" cy="2165400"/>
              <a:chOff x="2559950" y="1270525"/>
              <a:chExt cx="1706400" cy="2165400"/>
            </a:xfrm>
          </p:grpSpPr>
          <p:sp>
            <p:nvSpPr>
              <p:cNvPr id="889" name="Google Shape;889;p78"/>
              <p:cNvSpPr/>
              <p:nvPr/>
            </p:nvSpPr>
            <p:spPr>
              <a:xfrm>
                <a:off x="2559950" y="1270525"/>
                <a:ext cx="1706400" cy="530100"/>
              </a:xfrm>
              <a:prstGeom prst="roundRect">
                <a:avLst>
                  <a:gd fmla="val 16667" name="adj"/>
                </a:avLst>
              </a:prstGeom>
              <a:solidFill>
                <a:srgbClr val="EEEEEE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latin typeface="Montserrat"/>
                    <a:ea typeface="Montserrat"/>
                    <a:cs typeface="Montserrat"/>
                    <a:sym typeface="Montserrat"/>
                  </a:rPr>
                  <a:t>dim_listings_cleansed</a:t>
                </a:r>
                <a:r>
                  <a:rPr lang="en" sz="1000">
                    <a:latin typeface="Montserrat"/>
                    <a:ea typeface="Montserrat"/>
                    <a:cs typeface="Montserrat"/>
                    <a:sym typeface="Montserrat"/>
                  </a:rPr>
                  <a:t> </a:t>
                </a:r>
                <a:endParaRPr sz="1000"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latin typeface="Montserrat"/>
                    <a:ea typeface="Montserrat"/>
                    <a:cs typeface="Montserrat"/>
                    <a:sym typeface="Montserrat"/>
                  </a:rPr>
                  <a:t>cleansing</a:t>
                </a:r>
                <a:endParaRPr sz="1000"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890" name="Google Shape;890;p78"/>
              <p:cNvSpPr/>
              <p:nvPr/>
            </p:nvSpPr>
            <p:spPr>
              <a:xfrm>
                <a:off x="2559950" y="2049775"/>
                <a:ext cx="1706400" cy="530100"/>
              </a:xfrm>
              <a:prstGeom prst="roundRect">
                <a:avLst>
                  <a:gd fmla="val 16667" name="adj"/>
                </a:avLst>
              </a:prstGeom>
              <a:solidFill>
                <a:srgbClr val="EEEEEE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b="1" lang="en" sz="1000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dim_hosts_cleansed</a:t>
                </a:r>
                <a:endParaRPr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latin typeface="Montserrat"/>
                    <a:ea typeface="Montserrat"/>
                    <a:cs typeface="Montserrat"/>
                    <a:sym typeface="Montserrat"/>
                  </a:rPr>
                  <a:t>cleansing</a:t>
                </a:r>
                <a:endParaRPr sz="1000"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891" name="Google Shape;891;p78"/>
              <p:cNvSpPr/>
              <p:nvPr/>
            </p:nvSpPr>
            <p:spPr>
              <a:xfrm>
                <a:off x="2559950" y="2905825"/>
                <a:ext cx="1706400" cy="530100"/>
              </a:xfrm>
              <a:prstGeom prst="roundRect">
                <a:avLst>
                  <a:gd fmla="val 16667" name="adj"/>
                </a:avLst>
              </a:prstGeom>
              <a:solidFill>
                <a:srgbClr val="EEEEEE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b="1" lang="en" sz="1000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fct_reviews</a:t>
                </a:r>
                <a:endParaRPr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incremental</a:t>
                </a:r>
                <a:endParaRPr sz="1000"/>
              </a:p>
            </p:txBody>
          </p:sp>
        </p:grpSp>
        <p:cxnSp>
          <p:nvCxnSpPr>
            <p:cNvPr id="892" name="Google Shape;892;p78"/>
            <p:cNvCxnSpPr>
              <a:stCxn id="878" idx="3"/>
              <a:endCxn id="889" idx="1"/>
            </p:cNvCxnSpPr>
            <p:nvPr/>
          </p:nvCxnSpPr>
          <p:spPr>
            <a:xfrm>
              <a:off x="4204100" y="2014850"/>
              <a:ext cx="4326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893" name="Google Shape;893;p78"/>
            <p:cNvCxnSpPr>
              <a:stCxn id="880" idx="3"/>
              <a:endCxn id="890" idx="1"/>
            </p:cNvCxnSpPr>
            <p:nvPr/>
          </p:nvCxnSpPr>
          <p:spPr>
            <a:xfrm>
              <a:off x="4204100" y="2794100"/>
              <a:ext cx="4326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894" name="Google Shape;894;p78"/>
            <p:cNvCxnSpPr>
              <a:stCxn id="882" idx="3"/>
              <a:endCxn id="891" idx="1"/>
            </p:cNvCxnSpPr>
            <p:nvPr/>
          </p:nvCxnSpPr>
          <p:spPr>
            <a:xfrm>
              <a:off x="4204100" y="3650150"/>
              <a:ext cx="4326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895" name="Google Shape;895;p78"/>
          <p:cNvGrpSpPr/>
          <p:nvPr/>
        </p:nvGrpSpPr>
        <p:grpSpPr>
          <a:xfrm>
            <a:off x="6342950" y="2014850"/>
            <a:ext cx="2260775" cy="779250"/>
            <a:chOff x="6342950" y="2014850"/>
            <a:chExt cx="2260775" cy="779250"/>
          </a:xfrm>
        </p:grpSpPr>
        <p:sp>
          <p:nvSpPr>
            <p:cNvPr id="896" name="Google Shape;896;p78"/>
            <p:cNvSpPr/>
            <p:nvPr/>
          </p:nvSpPr>
          <p:spPr>
            <a:xfrm>
              <a:off x="6652525" y="2159725"/>
              <a:ext cx="1951200" cy="530100"/>
            </a:xfrm>
            <a:prstGeom prst="roundRect">
              <a:avLst>
                <a:gd fmla="val 16667" name="adj"/>
              </a:avLst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latin typeface="Montserrat"/>
                  <a:ea typeface="Montserrat"/>
                  <a:cs typeface="Montserrat"/>
                  <a:sym typeface="Montserrat"/>
                </a:rPr>
                <a:t>dim_listings_with_hosts</a:t>
              </a:r>
              <a:r>
                <a:rPr lang="en" sz="1000"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sz="1000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Montserrat"/>
                  <a:ea typeface="Montserrat"/>
                  <a:cs typeface="Montserrat"/>
                  <a:sym typeface="Montserrat"/>
                </a:rPr>
                <a:t>final dimension table</a:t>
              </a:r>
              <a:endParaRPr sz="10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cxnSp>
          <p:nvCxnSpPr>
            <p:cNvPr id="897" name="Google Shape;897;p78"/>
            <p:cNvCxnSpPr>
              <a:stCxn id="889" idx="3"/>
              <a:endCxn id="896" idx="1"/>
            </p:cNvCxnSpPr>
            <p:nvPr/>
          </p:nvCxnSpPr>
          <p:spPr>
            <a:xfrm>
              <a:off x="6342950" y="2014850"/>
              <a:ext cx="309600" cy="409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898" name="Google Shape;898;p78"/>
            <p:cNvCxnSpPr>
              <a:stCxn id="890" idx="3"/>
              <a:endCxn id="896" idx="1"/>
            </p:cNvCxnSpPr>
            <p:nvPr/>
          </p:nvCxnSpPr>
          <p:spPr>
            <a:xfrm flipH="1" rot="10800000">
              <a:off x="6342950" y="2424800"/>
              <a:ext cx="309600" cy="369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3" name="Google Shape;903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223" y="416325"/>
            <a:ext cx="3551200" cy="3669850"/>
          </a:xfrm>
          <a:prstGeom prst="rect">
            <a:avLst/>
          </a:prstGeom>
          <a:noFill/>
          <a:ln>
            <a:noFill/>
          </a:ln>
        </p:spPr>
      </p:pic>
      <p:sp>
        <p:nvSpPr>
          <p:cNvPr id="904" name="Google Shape;904;p79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13131"/>
                </a:solidFill>
                <a:highlight>
                  <a:srgbClr val="ED684E"/>
                </a:highlight>
                <a:latin typeface="Space Mono"/>
                <a:ea typeface="Space Mono"/>
                <a:cs typeface="Space Mono"/>
                <a:sym typeface="Space Mono"/>
              </a:rPr>
              <a:t>GUIDED EXERCISE</a:t>
            </a:r>
            <a:endParaRPr sz="1000">
              <a:solidFill>
                <a:srgbClr val="313131"/>
              </a:solidFill>
              <a:highlight>
                <a:srgbClr val="ED684E"/>
              </a:highlight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dim</a:t>
            </a: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_hosts_cleansed.sql</a:t>
            </a:r>
            <a:endParaRPr b="1" sz="3200">
              <a:solidFill>
                <a:srgbClr val="ED684E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905" name="Google Shape;905;p79"/>
          <p:cNvSpPr txBox="1"/>
          <p:nvPr/>
        </p:nvSpPr>
        <p:spPr>
          <a:xfrm>
            <a:off x="444675" y="1506975"/>
            <a:ext cx="8312400" cy="27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Create a new model in the `models/dim/` folder called `dim_hosts_cleansed.sql`.</a:t>
            </a:r>
            <a:endParaRPr b="1"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13131"/>
              </a:buClr>
              <a:buSzPts val="1600"/>
              <a:buFont typeface="Montserrat"/>
              <a:buChar char="●"/>
            </a:pPr>
            <a:r>
              <a:rPr lang="en" sz="16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Use a CTE to reference the `src_hosts` model</a:t>
            </a:r>
            <a:endParaRPr sz="16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600"/>
              <a:buFont typeface="Montserrat"/>
              <a:buChar char="●"/>
            </a:pPr>
            <a:r>
              <a:rPr lang="en" sz="16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SELECT every column and every record, and add a cleansing step to </a:t>
            </a:r>
            <a:r>
              <a:rPr i="1" lang="en" sz="16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host_name</a:t>
            </a:r>
            <a:r>
              <a:rPr lang="en" sz="16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16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rgbClr val="31313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If </a:t>
            </a:r>
            <a:r>
              <a:rPr i="1" lang="en">
                <a:solidFill>
                  <a:srgbClr val="31313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host_name </a:t>
            </a:r>
            <a:r>
              <a:rPr lang="en">
                <a:solidFill>
                  <a:srgbClr val="31313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is not null, keep the original value</a:t>
            </a:r>
            <a:r>
              <a:rPr i="1" lang="en">
                <a:solidFill>
                  <a:srgbClr val="31313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endParaRPr i="1">
              <a:solidFill>
                <a:srgbClr val="31313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rgbClr val="31313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If </a:t>
            </a:r>
            <a:r>
              <a:rPr i="1" lang="en">
                <a:solidFill>
                  <a:srgbClr val="31313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host_name </a:t>
            </a:r>
            <a:r>
              <a:rPr lang="en">
                <a:solidFill>
                  <a:srgbClr val="31313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is null, replace it with the value </a:t>
            </a:r>
            <a:r>
              <a:rPr i="1" lang="en">
                <a:solidFill>
                  <a:srgbClr val="31313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‘Anonymous’</a:t>
            </a:r>
            <a:endParaRPr i="1">
              <a:solidFill>
                <a:srgbClr val="31313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400"/>
              <a:buFont typeface="Montserrat Medium"/>
              <a:buChar char="○"/>
            </a:pPr>
            <a:r>
              <a:rPr lang="en">
                <a:solidFill>
                  <a:srgbClr val="31313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Use the </a:t>
            </a:r>
            <a:r>
              <a:rPr i="1" lang="en">
                <a:solidFill>
                  <a:srgbClr val="31313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NVL(column_name, default_null_value)</a:t>
            </a:r>
            <a:r>
              <a:rPr lang="en">
                <a:solidFill>
                  <a:srgbClr val="31313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function </a:t>
            </a:r>
            <a:endParaRPr>
              <a:solidFill>
                <a:srgbClr val="31313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600"/>
              <a:buFont typeface="Montserrat"/>
              <a:buChar char="●"/>
            </a:pPr>
            <a:r>
              <a:rPr lang="en" sz="16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Execute `dbt run` and verify that your model has been created </a:t>
            </a:r>
            <a:endParaRPr sz="16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(You can find the solution among the resources)</a:t>
            </a:r>
            <a:r>
              <a:rPr lang="en" sz="16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6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06" name="Google Shape;906;p79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80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INCREMENTAL STRATEGIES</a:t>
            </a:r>
            <a:endParaRPr sz="2800"/>
          </a:p>
        </p:txBody>
      </p:sp>
      <p:sp>
        <p:nvSpPr>
          <p:cNvPr id="912" name="Google Shape;912;p80"/>
          <p:cNvSpPr/>
          <p:nvPr/>
        </p:nvSpPr>
        <p:spPr>
          <a:xfrm>
            <a:off x="475325" y="1263225"/>
            <a:ext cx="1891500" cy="2962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pace Mono"/>
                <a:ea typeface="Space Mono"/>
                <a:cs typeface="Space Mono"/>
                <a:sym typeface="Space Mono"/>
              </a:rPr>
              <a:t>append</a:t>
            </a:r>
            <a:endParaRPr b="1"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highlight>
                  <a:srgbClr val="D9EAD3"/>
                </a:highlight>
                <a:latin typeface="Montserrat"/>
                <a:ea typeface="Montserrat"/>
                <a:cs typeface="Montserrat"/>
                <a:sym typeface="Montserrat"/>
              </a:rPr>
              <a:t>Pros</a:t>
            </a:r>
            <a:endParaRPr b="1" sz="1200">
              <a:highlight>
                <a:srgbClr val="D9EAD3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- 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Simplest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 Fully-transparent logic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highlight>
                  <a:srgbClr val="FD927D"/>
                </a:highlight>
                <a:latin typeface="Montserrat"/>
                <a:ea typeface="Montserrat"/>
                <a:cs typeface="Montserrat"/>
                <a:sym typeface="Montserrat"/>
              </a:rPr>
              <a:t>Cons</a:t>
            </a:r>
            <a:endParaRPr b="1" sz="1200">
              <a:highlight>
                <a:srgbClr val="FD927D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- No duplicate checks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913" name="Google Shape;913;p80"/>
          <p:cNvSpPr/>
          <p:nvPr/>
        </p:nvSpPr>
        <p:spPr>
          <a:xfrm>
            <a:off x="2588450" y="1263225"/>
            <a:ext cx="1891500" cy="2962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pace Mono"/>
                <a:ea typeface="Space Mono"/>
                <a:cs typeface="Space Mono"/>
                <a:sym typeface="Space Mono"/>
              </a:rPr>
              <a:t>merge</a:t>
            </a:r>
            <a:endParaRPr b="1"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highlight>
                  <a:srgbClr val="D9EAD3"/>
                </a:highlight>
                <a:latin typeface="Montserrat"/>
                <a:ea typeface="Montserrat"/>
                <a:cs typeface="Montserrat"/>
                <a:sym typeface="Montserrat"/>
              </a:rPr>
              <a:t>Pros</a:t>
            </a:r>
            <a:endParaRPr b="1" sz="1200">
              <a:highlight>
                <a:srgbClr val="D9EAD3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- Idempotent </a:t>
            </a:r>
            <a:br>
              <a:rPr lang="en" sz="1000"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  (no duplicates) 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- Updates existing records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- Snowflake/BigQuery default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highlight>
                  <a:srgbClr val="FD927D"/>
                </a:highlight>
                <a:latin typeface="Montserrat"/>
                <a:ea typeface="Montserrat"/>
                <a:cs typeface="Montserrat"/>
                <a:sym typeface="Montserrat"/>
              </a:rPr>
              <a:t>Cons</a:t>
            </a:r>
            <a:endParaRPr b="1" sz="1200">
              <a:highlight>
                <a:srgbClr val="FD927D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- Slower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- Requires unique_key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914" name="Google Shape;914;p80"/>
          <p:cNvSpPr/>
          <p:nvPr/>
        </p:nvSpPr>
        <p:spPr>
          <a:xfrm>
            <a:off x="4662463" y="1263225"/>
            <a:ext cx="1891500" cy="2962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pace Mono"/>
                <a:ea typeface="Space Mono"/>
                <a:cs typeface="Space Mono"/>
                <a:sym typeface="Space Mono"/>
              </a:rPr>
              <a:t>delete+insert</a:t>
            </a:r>
            <a:endParaRPr b="1" sz="1300"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highlight>
                  <a:srgbClr val="D9EAD3"/>
                </a:highlight>
                <a:latin typeface="Montserrat"/>
                <a:ea typeface="Montserrat"/>
                <a:cs typeface="Montserrat"/>
                <a:sym typeface="Montserrat"/>
              </a:rPr>
              <a:t>Pros</a:t>
            </a:r>
            <a:endParaRPr b="1" sz="1200">
              <a:highlight>
                <a:srgbClr val="D9EAD3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- </a:t>
            </a: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Works</a:t>
            </a: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 on DWHs with no MERGE support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- Simple mental model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highlight>
                  <a:srgbClr val="FD927D"/>
                </a:highlight>
                <a:latin typeface="Montserrat"/>
                <a:ea typeface="Montserrat"/>
                <a:cs typeface="Montserrat"/>
                <a:sym typeface="Montserrat"/>
              </a:rPr>
              <a:t>Cons</a:t>
            </a:r>
            <a:endParaRPr b="1" sz="1200">
              <a:highlight>
                <a:srgbClr val="FD927D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- Two operations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- Requires unique_key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915" name="Google Shape;915;p80"/>
          <p:cNvSpPr/>
          <p:nvPr/>
        </p:nvSpPr>
        <p:spPr>
          <a:xfrm>
            <a:off x="6736475" y="1263225"/>
            <a:ext cx="1965900" cy="2962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Space Mono"/>
                <a:ea typeface="Space Mono"/>
                <a:cs typeface="Space Mono"/>
                <a:sym typeface="Space Mono"/>
              </a:rPr>
              <a:t>insert_overwite</a:t>
            </a:r>
            <a:endParaRPr b="1" sz="1100"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highlight>
                  <a:srgbClr val="D9EAD3"/>
                </a:highlight>
                <a:latin typeface="Montserrat"/>
                <a:ea typeface="Montserrat"/>
                <a:cs typeface="Montserrat"/>
                <a:sym typeface="Montserrat"/>
              </a:rPr>
              <a:t>Use it</a:t>
            </a:r>
            <a:endParaRPr b="1" sz="1200">
              <a:highlight>
                <a:srgbClr val="D9EAD3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- Fast for partitioned tables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highlight>
                  <a:srgbClr val="FD927D"/>
                </a:highlight>
                <a:latin typeface="Montserrat"/>
                <a:ea typeface="Montserrat"/>
                <a:cs typeface="Montserrat"/>
                <a:sym typeface="Montserrat"/>
              </a:rPr>
              <a:t>Cons</a:t>
            </a:r>
            <a:endParaRPr b="1" sz="1200">
              <a:highlight>
                <a:srgbClr val="FD927D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- </a:t>
            </a: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Requires</a:t>
            </a: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 Partitioned table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- All or nothing (replaces whole partitions)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916" name="Google Shape;916;p80"/>
          <p:cNvSpPr txBox="1"/>
          <p:nvPr/>
        </p:nvSpPr>
        <p:spPr>
          <a:xfrm>
            <a:off x="3171450" y="4286875"/>
            <a:ext cx="3000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+microbatch</a:t>
            </a:r>
            <a:endParaRPr sz="190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81"/>
          <p:cNvSpPr/>
          <p:nvPr/>
        </p:nvSpPr>
        <p:spPr>
          <a:xfrm>
            <a:off x="0" y="0"/>
            <a:ext cx="9144000" cy="4471500"/>
          </a:xfrm>
          <a:prstGeom prst="rect">
            <a:avLst/>
          </a:prstGeom>
          <a:solidFill>
            <a:srgbClr val="ED68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81"/>
          <p:cNvSpPr txBox="1"/>
          <p:nvPr/>
        </p:nvSpPr>
        <p:spPr>
          <a:xfrm>
            <a:off x="5859966" y="738256"/>
            <a:ext cx="18282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0">
              <a:solidFill>
                <a:srgbClr val="FD927D"/>
              </a:solidFill>
            </a:endParaRPr>
          </a:p>
        </p:txBody>
      </p:sp>
      <p:sp>
        <p:nvSpPr>
          <p:cNvPr id="923" name="Google Shape;923;p81"/>
          <p:cNvSpPr txBox="1"/>
          <p:nvPr>
            <p:ph type="ctrTitle"/>
          </p:nvPr>
        </p:nvSpPr>
        <p:spPr>
          <a:xfrm>
            <a:off x="267900" y="1996000"/>
            <a:ext cx="8520600" cy="9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SOURCES &amp; </a:t>
            </a:r>
            <a:r>
              <a:rPr b="1" lang="en" sz="72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SEEDS</a:t>
            </a:r>
            <a:endParaRPr b="1" sz="7200">
              <a:solidFill>
                <a:schemeClr val="lt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8" name="Google Shape;928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223" y="416325"/>
            <a:ext cx="3551200" cy="3669850"/>
          </a:xfrm>
          <a:prstGeom prst="rect">
            <a:avLst/>
          </a:prstGeom>
          <a:noFill/>
          <a:ln>
            <a:noFill/>
          </a:ln>
        </p:spPr>
      </p:pic>
      <p:sp>
        <p:nvSpPr>
          <p:cNvPr id="929" name="Google Shape;929;p82"/>
          <p:cNvSpPr txBox="1"/>
          <p:nvPr>
            <p:ph type="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LEARNING OBJECTIVES</a:t>
            </a:r>
            <a:endParaRPr b="1" sz="3200">
              <a:solidFill>
                <a:srgbClr val="ED684E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p82"/>
          <p:cNvSpPr txBox="1"/>
          <p:nvPr>
            <p:ph idx="1" type="body"/>
          </p:nvPr>
        </p:nvSpPr>
        <p:spPr>
          <a:xfrm>
            <a:off x="429850" y="1397425"/>
            <a:ext cx="8402700" cy="29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Understand the difference between seeds and sources 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Understand source-freshness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Integrate sources into our project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31" name="Google Shape;931;p82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6" name="Google Shape;936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223" y="416325"/>
            <a:ext cx="3551200" cy="3669850"/>
          </a:xfrm>
          <a:prstGeom prst="rect">
            <a:avLst/>
          </a:prstGeom>
          <a:noFill/>
          <a:ln>
            <a:noFill/>
          </a:ln>
        </p:spPr>
      </p:pic>
      <p:sp>
        <p:nvSpPr>
          <p:cNvPr id="937" name="Google Shape;937;p83"/>
          <p:cNvSpPr txBox="1"/>
          <p:nvPr>
            <p:ph type="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SOURCES AND SEEDS</a:t>
            </a: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 OVERVIEW</a:t>
            </a:r>
            <a:endParaRPr b="1" sz="3200">
              <a:solidFill>
                <a:srgbClr val="ED684E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p83"/>
          <p:cNvSpPr txBox="1"/>
          <p:nvPr>
            <p:ph idx="1" type="body"/>
          </p:nvPr>
        </p:nvSpPr>
        <p:spPr>
          <a:xfrm>
            <a:off x="429850" y="1397425"/>
            <a:ext cx="8402700" cy="29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Seeds are local files that you upload to the data warehouse from dbt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Sources is an abstraction layer on the top of your input tables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Source freshness can be checked automatically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39" name="Google Shape;939;p83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84"/>
          <p:cNvSpPr/>
          <p:nvPr/>
        </p:nvSpPr>
        <p:spPr>
          <a:xfrm>
            <a:off x="0" y="0"/>
            <a:ext cx="9144000" cy="4471500"/>
          </a:xfrm>
          <a:prstGeom prst="rect">
            <a:avLst/>
          </a:prstGeom>
          <a:solidFill>
            <a:srgbClr val="ED68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p84"/>
          <p:cNvSpPr txBox="1"/>
          <p:nvPr/>
        </p:nvSpPr>
        <p:spPr>
          <a:xfrm>
            <a:off x="5859966" y="738256"/>
            <a:ext cx="18282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0">
              <a:solidFill>
                <a:srgbClr val="FD927D"/>
              </a:solidFill>
            </a:endParaRPr>
          </a:p>
        </p:txBody>
      </p:sp>
      <p:sp>
        <p:nvSpPr>
          <p:cNvPr id="946" name="Google Shape;946;p84"/>
          <p:cNvSpPr txBox="1"/>
          <p:nvPr>
            <p:ph type="ctrTitle"/>
          </p:nvPr>
        </p:nvSpPr>
        <p:spPr>
          <a:xfrm>
            <a:off x="267900" y="1996000"/>
            <a:ext cx="8520600" cy="9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SNAPSHOTS</a:t>
            </a:r>
            <a:endParaRPr b="1" sz="7200">
              <a:solidFill>
                <a:schemeClr val="lt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1" name="Google Shape;951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223" y="416325"/>
            <a:ext cx="3551200" cy="3669850"/>
          </a:xfrm>
          <a:prstGeom prst="rect">
            <a:avLst/>
          </a:prstGeom>
          <a:noFill/>
          <a:ln>
            <a:noFill/>
          </a:ln>
        </p:spPr>
      </p:pic>
      <p:sp>
        <p:nvSpPr>
          <p:cNvPr id="952" name="Google Shape;952;p85"/>
          <p:cNvSpPr txBox="1"/>
          <p:nvPr>
            <p:ph type="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LEARNING OBJECTIVES</a:t>
            </a:r>
            <a:endParaRPr b="1" sz="3200">
              <a:solidFill>
                <a:srgbClr val="ED684E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3" name="Google Shape;953;p85"/>
          <p:cNvSpPr txBox="1"/>
          <p:nvPr>
            <p:ph idx="1" type="body"/>
          </p:nvPr>
        </p:nvSpPr>
        <p:spPr>
          <a:xfrm>
            <a:off x="429850" y="1397425"/>
            <a:ext cx="8402700" cy="29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Understand how dbt handles type-2 slowly changing dimensions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Understand snapshot strategies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Learn how to create snapshots on top of our </a:t>
            </a:r>
            <a:r>
              <a:rPr i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listings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 and </a:t>
            </a:r>
            <a:r>
              <a:rPr i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hosts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 models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54" name="Google Shape;954;p85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86"/>
          <p:cNvSpPr/>
          <p:nvPr/>
        </p:nvSpPr>
        <p:spPr>
          <a:xfrm>
            <a:off x="0" y="0"/>
            <a:ext cx="9144000" cy="4471500"/>
          </a:xfrm>
          <a:prstGeom prst="rect">
            <a:avLst/>
          </a:prstGeom>
          <a:solidFill>
            <a:srgbClr val="ED68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Google Shape;960;p86"/>
          <p:cNvSpPr txBox="1"/>
          <p:nvPr/>
        </p:nvSpPr>
        <p:spPr>
          <a:xfrm>
            <a:off x="5859966" y="738256"/>
            <a:ext cx="18282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0">
              <a:solidFill>
                <a:srgbClr val="FD927D"/>
              </a:solidFill>
            </a:endParaRPr>
          </a:p>
        </p:txBody>
      </p:sp>
      <p:sp>
        <p:nvSpPr>
          <p:cNvPr id="961" name="Google Shape;961;p86"/>
          <p:cNvSpPr txBox="1"/>
          <p:nvPr>
            <p:ph type="ctrTitle"/>
          </p:nvPr>
        </p:nvSpPr>
        <p:spPr>
          <a:xfrm>
            <a:off x="267900" y="1996000"/>
            <a:ext cx="8520600" cy="9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SNAPSHOTS</a:t>
            </a:r>
            <a:endParaRPr b="1" sz="7200">
              <a:solidFill>
                <a:schemeClr val="lt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962" name="Google Shape;962;p86"/>
          <p:cNvSpPr txBox="1"/>
          <p:nvPr>
            <p:ph idx="1" type="subTitle"/>
          </p:nvPr>
        </p:nvSpPr>
        <p:spPr>
          <a:xfrm>
            <a:off x="311700" y="29329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7" name="Google Shape;967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223" y="416325"/>
            <a:ext cx="3551200" cy="3669850"/>
          </a:xfrm>
          <a:prstGeom prst="rect">
            <a:avLst/>
          </a:prstGeom>
          <a:noFill/>
          <a:ln>
            <a:noFill/>
          </a:ln>
        </p:spPr>
      </p:pic>
      <p:sp>
        <p:nvSpPr>
          <p:cNvPr id="968" name="Google Shape;968;p87"/>
          <p:cNvSpPr txBox="1"/>
          <p:nvPr>
            <p:ph type="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TYPE-2 SLOWLY CHANGING DIMENSIONS</a:t>
            </a:r>
            <a:endParaRPr b="1" sz="3200">
              <a:solidFill>
                <a:srgbClr val="ED684E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69" name="Google Shape;969;p87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970" name="Google Shape;970;p87"/>
          <p:cNvGraphicFramePr/>
          <p:nvPr/>
        </p:nvGraphicFramePr>
        <p:xfrm>
          <a:off x="2312188" y="2043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{3660BCE2-2714-4049-8B74-3E60B48309CE}</a:tableStyleId>
              </a:tblPr>
              <a:tblGrid>
                <a:gridCol w="1005875"/>
                <a:gridCol w="1253925"/>
                <a:gridCol w="2821200"/>
              </a:tblGrid>
              <a:tr h="427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host_id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host_name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email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422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Alice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alice.airbnb@gmail.com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22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Bob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bob.airbnb@gmail.com</a:t>
                      </a:r>
                      <a:endParaRPr b="1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5" name="Google Shape;975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223" y="416325"/>
            <a:ext cx="3551200" cy="3669850"/>
          </a:xfrm>
          <a:prstGeom prst="rect">
            <a:avLst/>
          </a:prstGeom>
          <a:noFill/>
          <a:ln>
            <a:noFill/>
          </a:ln>
        </p:spPr>
      </p:pic>
      <p:sp>
        <p:nvSpPr>
          <p:cNvPr id="976" name="Google Shape;976;p88"/>
          <p:cNvSpPr txBox="1"/>
          <p:nvPr>
            <p:ph type="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TYPE-2 SLOWLY CHANGING DIMENSIONS</a:t>
            </a:r>
            <a:endParaRPr b="1" sz="3200">
              <a:solidFill>
                <a:srgbClr val="ED684E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77" name="Google Shape;977;p88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978" name="Google Shape;978;p88"/>
          <p:cNvGraphicFramePr/>
          <p:nvPr/>
        </p:nvGraphicFramePr>
        <p:xfrm>
          <a:off x="2312188" y="2043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{3660BCE2-2714-4049-8B74-3E60B48309CE}</a:tableStyleId>
              </a:tblPr>
              <a:tblGrid>
                <a:gridCol w="1005875"/>
                <a:gridCol w="1253925"/>
                <a:gridCol w="2821200"/>
              </a:tblGrid>
              <a:tr h="427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host_id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host_name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email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422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Alice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alice.airbnb@gmail.com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22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Bob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bobs.new.address@gmail.com</a:t>
                      </a:r>
                      <a:endParaRPr b="1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3" name="Google Shape;983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223" y="416325"/>
            <a:ext cx="3551200" cy="3669850"/>
          </a:xfrm>
          <a:prstGeom prst="rect">
            <a:avLst/>
          </a:prstGeom>
          <a:noFill/>
          <a:ln>
            <a:noFill/>
          </a:ln>
        </p:spPr>
      </p:pic>
      <p:sp>
        <p:nvSpPr>
          <p:cNvPr id="984" name="Google Shape;984;p89"/>
          <p:cNvSpPr txBox="1"/>
          <p:nvPr>
            <p:ph type="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TYPE-2 SLOWLY CHANGING DIMENSIONS</a:t>
            </a:r>
            <a:endParaRPr b="1" sz="3200">
              <a:solidFill>
                <a:srgbClr val="ED684E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85" name="Google Shape;985;p89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986" name="Google Shape;986;p89"/>
          <p:cNvGraphicFramePr/>
          <p:nvPr/>
        </p:nvGraphicFramePr>
        <p:xfrm>
          <a:off x="440063" y="1143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{3660BCE2-2714-4049-8B74-3E60B48309CE}</a:tableStyleId>
              </a:tblPr>
              <a:tblGrid>
                <a:gridCol w="859550"/>
                <a:gridCol w="1151600"/>
                <a:gridCol w="2791000"/>
                <a:gridCol w="1855325"/>
                <a:gridCol w="1695875"/>
              </a:tblGrid>
              <a:tr h="8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host_id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host_name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email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dbt_valid_from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dbt_valid_to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60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Alice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alice.airbnb@gmail.com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2022-01-01 00:00:00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null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436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Bob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bob.airbnb@gmail.com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2022-01-01 00:00:00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2022-03-01 12:53:20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</a:txBody>
                  <a:tcPr marT="91425" marB="91425" marR="91425" marL="91425"/>
                </a:tc>
              </a:tr>
              <a:tr h="591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Bob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bobs.new.address@gmail.com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2022-03-01 12:53:20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null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1" name="Google Shape;991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223" y="416325"/>
            <a:ext cx="3551200" cy="3669850"/>
          </a:xfrm>
          <a:prstGeom prst="rect">
            <a:avLst/>
          </a:prstGeom>
          <a:noFill/>
          <a:ln>
            <a:noFill/>
          </a:ln>
        </p:spPr>
      </p:pic>
      <p:sp>
        <p:nvSpPr>
          <p:cNvPr id="992" name="Google Shape;992;p90"/>
          <p:cNvSpPr txBox="1"/>
          <p:nvPr>
            <p:ph type="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CONFIGURATION AND STRATEGIES</a:t>
            </a:r>
            <a:endParaRPr b="1" sz="3200">
              <a:solidFill>
                <a:srgbClr val="ED684E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3" name="Google Shape;993;p90"/>
          <p:cNvSpPr txBox="1"/>
          <p:nvPr>
            <p:ph idx="1" type="body"/>
          </p:nvPr>
        </p:nvSpPr>
        <p:spPr>
          <a:xfrm>
            <a:off x="429850" y="1397425"/>
            <a:ext cx="8402700" cy="29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-328454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Snapshots live in the </a:t>
            </a:r>
            <a:r>
              <a:rPr i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snapshots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 folder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8454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Strategies: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8454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Char char="○"/>
            </a:pPr>
            <a:r>
              <a:rPr i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Timestamp: 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A </a:t>
            </a: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unique key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 and an </a:t>
            </a: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updated_at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 field is defined on the source model. These columns are used for determining changes.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8454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Char char="○"/>
            </a:pPr>
            <a:r>
              <a:rPr i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Check: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 Any change in a set of columns (or all columns) will be picked</a:t>
            </a:r>
            <a:b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up as an update.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94" name="Google Shape;994;p90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9" name="Google Shape;999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223" y="416325"/>
            <a:ext cx="3551200" cy="366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0" name="Google Shape;1000;p9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13131"/>
                </a:solidFill>
                <a:highlight>
                  <a:srgbClr val="ED684E"/>
                </a:highlight>
                <a:latin typeface="Space Mono"/>
                <a:ea typeface="Space Mono"/>
                <a:cs typeface="Space Mono"/>
                <a:sym typeface="Space Mono"/>
              </a:rPr>
              <a:t>GUIDED EXERCISE</a:t>
            </a:r>
            <a:endParaRPr sz="1000">
              <a:solidFill>
                <a:srgbClr val="313131"/>
              </a:solidFill>
              <a:highlight>
                <a:srgbClr val="ED684E"/>
              </a:highlight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raw_hosts_snapshot.yml</a:t>
            </a:r>
            <a:endParaRPr b="1" sz="3200">
              <a:solidFill>
                <a:srgbClr val="ED684E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1001" name="Google Shape;1001;p91"/>
          <p:cNvSpPr txBox="1"/>
          <p:nvPr/>
        </p:nvSpPr>
        <p:spPr>
          <a:xfrm>
            <a:off x="444675" y="1506975"/>
            <a:ext cx="8312400" cy="27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Create a new snapshot in the `snapshots/` folder called `raw_hosts_snapshot.yml`.</a:t>
            </a:r>
            <a:endParaRPr b="1"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13131"/>
              </a:buClr>
              <a:buSzPts val="1600"/>
              <a:buFont typeface="Montserrat"/>
              <a:buChar char="●"/>
            </a:pPr>
            <a:r>
              <a:rPr lang="en" sz="16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Call it scd_raw_hosts</a:t>
            </a:r>
            <a:endParaRPr sz="16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600"/>
              <a:buFont typeface="Montserrat"/>
              <a:buChar char="●"/>
            </a:pPr>
            <a:r>
              <a:rPr lang="en" sz="16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Set the target table name to the </a:t>
            </a:r>
            <a:r>
              <a:rPr i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hosts 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source table</a:t>
            </a:r>
            <a:r>
              <a:rPr i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6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600"/>
              <a:buFont typeface="Montserrat"/>
              <a:buChar char="●"/>
            </a:pPr>
            <a:r>
              <a:rPr lang="en" sz="16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Use the </a:t>
            </a:r>
            <a:r>
              <a:rPr i="1" lang="en" sz="16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timestamp </a:t>
            </a:r>
            <a:r>
              <a:rPr lang="en" sz="16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strategy, figure out the unique key and updated_at column to use</a:t>
            </a:r>
            <a:endParaRPr sz="16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600"/>
              <a:buFont typeface="Montserrat"/>
              <a:buChar char="●"/>
            </a:pPr>
            <a:r>
              <a:rPr lang="en" sz="16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Invalidate hard deletes</a:t>
            </a:r>
            <a:endParaRPr sz="16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600"/>
              <a:buFont typeface="Montserrat"/>
              <a:buChar char="●"/>
            </a:pPr>
            <a:r>
              <a:rPr lang="en" sz="16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Execute `dbt snapshot` and verify that your snapshot has been created </a:t>
            </a:r>
            <a:endParaRPr sz="16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(You can find the solution among the resources)</a:t>
            </a:r>
            <a:r>
              <a:rPr lang="en" sz="16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6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002" name="Google Shape;1002;p91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92"/>
          <p:cNvSpPr/>
          <p:nvPr/>
        </p:nvSpPr>
        <p:spPr>
          <a:xfrm>
            <a:off x="0" y="0"/>
            <a:ext cx="9144000" cy="4471500"/>
          </a:xfrm>
          <a:prstGeom prst="rect">
            <a:avLst/>
          </a:prstGeom>
          <a:solidFill>
            <a:srgbClr val="ED68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8" name="Google Shape;1008;p92"/>
          <p:cNvSpPr txBox="1"/>
          <p:nvPr/>
        </p:nvSpPr>
        <p:spPr>
          <a:xfrm>
            <a:off x="5859966" y="738256"/>
            <a:ext cx="18282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0">
              <a:solidFill>
                <a:srgbClr val="FD927D"/>
              </a:solidFill>
            </a:endParaRPr>
          </a:p>
        </p:txBody>
      </p:sp>
      <p:sp>
        <p:nvSpPr>
          <p:cNvPr id="1009" name="Google Shape;1009;p92"/>
          <p:cNvSpPr txBox="1"/>
          <p:nvPr>
            <p:ph type="ctrTitle"/>
          </p:nvPr>
        </p:nvSpPr>
        <p:spPr>
          <a:xfrm>
            <a:off x="267900" y="1996000"/>
            <a:ext cx="8520600" cy="9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TESTS</a:t>
            </a:r>
            <a:endParaRPr b="1" sz="7200">
              <a:solidFill>
                <a:schemeClr val="lt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4" name="Google Shape;1014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223" y="416325"/>
            <a:ext cx="3551200" cy="366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5" name="Google Shape;1015;p93"/>
          <p:cNvSpPr txBox="1"/>
          <p:nvPr>
            <p:ph type="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LEARNING OBJECTIVES</a:t>
            </a:r>
            <a:endParaRPr b="1" sz="3200">
              <a:solidFill>
                <a:srgbClr val="ED684E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93"/>
          <p:cNvSpPr txBox="1"/>
          <p:nvPr>
            <p:ph idx="1" type="body"/>
          </p:nvPr>
        </p:nvSpPr>
        <p:spPr>
          <a:xfrm>
            <a:off x="429850" y="1397425"/>
            <a:ext cx="8402700" cy="29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Understand </a:t>
            </a: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Unit Tests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 and </a:t>
            </a: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Data Tests</a:t>
            </a:r>
            <a:endParaRPr b="1"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Understand how these tests can be defined 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Configure built-in generic Data Tests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Create your own singular Data Tests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Create Unit Tests for your data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017" name="Google Shape;1017;p93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2" name="Google Shape;1022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223" y="416325"/>
            <a:ext cx="3551200" cy="366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3" name="Google Shape;1023;p94"/>
          <p:cNvSpPr txBox="1"/>
          <p:nvPr>
            <p:ph type="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TESTS OVERVIEW</a:t>
            </a:r>
            <a:endParaRPr b="1" sz="3200">
              <a:solidFill>
                <a:srgbClr val="ED684E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p94"/>
          <p:cNvSpPr txBox="1"/>
          <p:nvPr>
            <p:ph idx="1" type="body"/>
          </p:nvPr>
        </p:nvSpPr>
        <p:spPr>
          <a:xfrm>
            <a:off x="429850" y="1397425"/>
            <a:ext cx="8402700" cy="29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-328454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dbt has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 two types of tests: </a:t>
            </a: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U</a:t>
            </a: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nit Tests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 and </a:t>
            </a: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ata Tests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 and it supports </a:t>
            </a: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Contracts</a:t>
            </a:r>
            <a:endParaRPr b="1"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8454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Char char="●"/>
            </a:pP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Unit Tests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 test transformations with a small sample of mock data you provide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8454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Char char="●"/>
            </a:pP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Data Tests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 test data integrity and quality on the actual data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8454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Char char="●"/>
            </a:pP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Contracts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 enforce the schema of models</a:t>
            </a:r>
            <a:b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(such as column names, types and constraints)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025" name="Google Shape;1025;p94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Google Shape;1030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223" y="416325"/>
            <a:ext cx="3551200" cy="366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1" name="Google Shape;1031;p95"/>
          <p:cNvSpPr txBox="1"/>
          <p:nvPr>
            <p:ph type="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DATA TESTS OVERVIEW</a:t>
            </a:r>
            <a:endParaRPr b="1" sz="3200">
              <a:solidFill>
                <a:srgbClr val="ED684E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p95"/>
          <p:cNvSpPr txBox="1"/>
          <p:nvPr>
            <p:ph idx="1" type="body"/>
          </p:nvPr>
        </p:nvSpPr>
        <p:spPr>
          <a:xfrm>
            <a:off x="429850" y="1397425"/>
            <a:ext cx="8402700" cy="29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10000"/>
          </a:bodyPr>
          <a:lstStyle/>
          <a:p>
            <a:pPr indent="-296069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There are two types of data tests: </a:t>
            </a:r>
            <a:r>
              <a:rPr b="1" i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singular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 and </a:t>
            </a:r>
            <a:r>
              <a:rPr b="1" i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generic</a:t>
            </a:r>
            <a:endParaRPr b="1"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6069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There are four built-in generic tests: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6069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Char char="○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unique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6069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Char char="○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not_null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6069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Char char="○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accepted_values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6069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Char char="○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Relationships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6069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Singular data tests are SQL queries stored in tests which are expected to return an empty result set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6069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Char char="●"/>
            </a:pPr>
            <a:r>
              <a:rPr i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You can define your own custom generic tests</a:t>
            </a:r>
            <a:endParaRPr i="1"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6069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Char char="●"/>
            </a:pPr>
            <a:r>
              <a:rPr i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You can import tests from dbt packages (will discuss later)</a:t>
            </a:r>
            <a:endParaRPr i="1"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033" name="Google Shape;1033;p95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8" name="Google Shape;1038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223" y="416325"/>
            <a:ext cx="3551200" cy="366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9" name="Google Shape;1039;p96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13131"/>
                </a:solidFill>
                <a:highlight>
                  <a:srgbClr val="ED684E"/>
                </a:highlight>
                <a:latin typeface="Space Mono"/>
                <a:ea typeface="Space Mono"/>
                <a:cs typeface="Space Mono"/>
                <a:sym typeface="Space Mono"/>
              </a:rPr>
              <a:t>GUIDED EXERCISE</a:t>
            </a:r>
            <a:endParaRPr sz="1000">
              <a:solidFill>
                <a:srgbClr val="313131"/>
              </a:solidFill>
              <a:highlight>
                <a:srgbClr val="ED684E"/>
              </a:highlight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TEST dim_hosts_cleansed </a:t>
            </a:r>
            <a:endParaRPr b="1" sz="3200">
              <a:solidFill>
                <a:srgbClr val="ED684E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ED684E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1040" name="Google Shape;1040;p96"/>
          <p:cNvSpPr txBox="1"/>
          <p:nvPr/>
        </p:nvSpPr>
        <p:spPr>
          <a:xfrm>
            <a:off x="444675" y="1506975"/>
            <a:ext cx="8312400" cy="27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Create a generic data test for the `</a:t>
            </a: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dim_hosts_cleansed</a:t>
            </a: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` model.</a:t>
            </a:r>
            <a:endParaRPr b="1"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13131"/>
              </a:buClr>
              <a:buSzPts val="1600"/>
              <a:buFont typeface="Montserrat"/>
              <a:buChar char="●"/>
            </a:pPr>
            <a:r>
              <a:rPr i="1" lang="en" sz="16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host_id: </a:t>
            </a:r>
            <a:r>
              <a:rPr lang="en" sz="16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Unique values, no nulls</a:t>
            </a:r>
            <a:endParaRPr sz="16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600"/>
              <a:buFont typeface="Montserrat"/>
              <a:buChar char="●"/>
            </a:pPr>
            <a:r>
              <a:rPr i="1" lang="en" sz="16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host_name </a:t>
            </a:r>
            <a:r>
              <a:rPr lang="en" sz="16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shouldn’t contain any null values</a:t>
            </a:r>
            <a:endParaRPr sz="16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600"/>
              <a:buFont typeface="Montserrat"/>
              <a:buChar char="●"/>
            </a:pPr>
            <a:r>
              <a:rPr i="1" lang="en" sz="16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Is_superhost</a:t>
            </a:r>
            <a:r>
              <a:rPr lang="en" sz="16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 should only contain the values </a:t>
            </a:r>
            <a:r>
              <a:rPr i="1" lang="en" sz="16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t </a:t>
            </a:r>
            <a:r>
              <a:rPr lang="en" sz="16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and </a:t>
            </a:r>
            <a:r>
              <a:rPr i="1" lang="en" sz="16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f</a:t>
            </a:r>
            <a:r>
              <a:rPr lang="en" sz="16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r>
              <a:rPr i="1" lang="en" sz="16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i="1" sz="16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600"/>
              <a:buFont typeface="Montserrat"/>
              <a:buChar char="●"/>
            </a:pPr>
            <a:r>
              <a:rPr lang="en" sz="16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Execute `dbt test` to verify that your tests are passing</a:t>
            </a:r>
            <a:endParaRPr sz="16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600"/>
              <a:buFont typeface="Montserrat"/>
              <a:buChar char="●"/>
            </a:pPr>
            <a:r>
              <a:rPr b="1" lang="en" sz="16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Bonus: Figure out which tests to write for `fct_reviews` and implement them</a:t>
            </a:r>
            <a:r>
              <a:rPr lang="en" sz="16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6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(You can find the solution among the resources)</a:t>
            </a:r>
            <a:r>
              <a:rPr lang="en" sz="16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6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041" name="Google Shape;1041;p96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6" name="Google Shape;1046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223" y="416325"/>
            <a:ext cx="3551200" cy="366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7" name="Google Shape;1047;p97"/>
          <p:cNvSpPr txBox="1"/>
          <p:nvPr>
            <p:ph type="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CONSTRAINTS</a:t>
            </a:r>
            <a:endParaRPr b="1" sz="3200">
              <a:solidFill>
                <a:srgbClr val="ED684E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97"/>
          <p:cNvSpPr txBox="1"/>
          <p:nvPr>
            <p:ph idx="1" type="body"/>
          </p:nvPr>
        </p:nvSpPr>
        <p:spPr>
          <a:xfrm>
            <a:off x="429850" y="1397425"/>
            <a:ext cx="8402700" cy="29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-320358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Run tests at </a:t>
            </a: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insert time</a:t>
            </a:r>
            <a:endParaRPr b="1"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0358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An </a:t>
            </a: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enforced contract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 must be defined to make constraints work. 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0358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Only 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works on </a:t>
            </a: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table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 and</a:t>
            </a: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 incremental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 materializations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0358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Functionality heavily depends on 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platform. Theoretically you can test for </a:t>
            </a:r>
            <a:r>
              <a:rPr i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primary_key, foreign key, check, not_null, unique</a:t>
            </a:r>
            <a:endParaRPr i="1"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0358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Only a fraction of these are enforced in </a:t>
            </a: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Snowflake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 at the time of recording: </a:t>
            </a: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not_null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049" name="Google Shape;1049;p97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p98"/>
          <p:cNvSpPr/>
          <p:nvPr/>
        </p:nvSpPr>
        <p:spPr>
          <a:xfrm>
            <a:off x="0" y="0"/>
            <a:ext cx="9144000" cy="4471500"/>
          </a:xfrm>
          <a:prstGeom prst="rect">
            <a:avLst/>
          </a:prstGeom>
          <a:solidFill>
            <a:srgbClr val="ED68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5" name="Google Shape;1055;p98"/>
          <p:cNvSpPr txBox="1"/>
          <p:nvPr/>
        </p:nvSpPr>
        <p:spPr>
          <a:xfrm>
            <a:off x="5859966" y="738256"/>
            <a:ext cx="18282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0">
              <a:solidFill>
                <a:srgbClr val="FD927D"/>
              </a:solidFill>
            </a:endParaRPr>
          </a:p>
        </p:txBody>
      </p:sp>
      <p:sp>
        <p:nvSpPr>
          <p:cNvPr id="1056" name="Google Shape;1056;p98"/>
          <p:cNvSpPr txBox="1"/>
          <p:nvPr>
            <p:ph type="ctrTitle"/>
          </p:nvPr>
        </p:nvSpPr>
        <p:spPr>
          <a:xfrm>
            <a:off x="222600" y="220800"/>
            <a:ext cx="8520600" cy="378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JINJA AND MACROS</a:t>
            </a:r>
            <a:endParaRPr b="1" sz="7200">
              <a:solidFill>
                <a:schemeClr val="lt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1" name="Google Shape;1061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223" y="416325"/>
            <a:ext cx="3551200" cy="366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2" name="Google Shape;1062;p99"/>
          <p:cNvSpPr txBox="1"/>
          <p:nvPr>
            <p:ph type="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LEARNING OBJECTIVES</a:t>
            </a:r>
            <a:endParaRPr b="1" sz="3200">
              <a:solidFill>
                <a:srgbClr val="ED684E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3" name="Google Shape;1063;p99"/>
          <p:cNvSpPr txBox="1"/>
          <p:nvPr>
            <p:ph idx="1" type="body"/>
          </p:nvPr>
        </p:nvSpPr>
        <p:spPr>
          <a:xfrm>
            <a:off x="429850" y="1397425"/>
            <a:ext cx="8402700" cy="29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Understand the basic building blocks and control structures of Jinja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Use macros to add new functionality to your project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064" name="Google Shape;1064;p99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9" name="Google Shape;1069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223" y="416325"/>
            <a:ext cx="3551200" cy="366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0" name="Google Shape;1070;p100"/>
          <p:cNvSpPr txBox="1"/>
          <p:nvPr>
            <p:ph type="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JINJA</a:t>
            </a:r>
            <a:endParaRPr b="1" sz="3200">
              <a:solidFill>
                <a:srgbClr val="ED684E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1" name="Google Shape;1071;p100"/>
          <p:cNvSpPr txBox="1"/>
          <p:nvPr>
            <p:ph idx="1" type="body"/>
          </p:nvPr>
        </p:nvSpPr>
        <p:spPr>
          <a:xfrm>
            <a:off x="429850" y="1397425"/>
            <a:ext cx="8402700" cy="29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28454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A </a:t>
            </a: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templating language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 that lets you write dynamic, reusable SQL code.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Think of it as "</a:t>
            </a: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programming inside your SQL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" - you can use: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8454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Variables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8454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Conditionals and 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Loops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8454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Functions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8454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Macros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072" name="Google Shape;1072;p100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7" name="Google Shape;1077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223" y="416325"/>
            <a:ext cx="3551200" cy="366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8" name="Google Shape;1078;p101"/>
          <p:cNvSpPr txBox="1"/>
          <p:nvPr>
            <p:ph type="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JINJA - BASIC BUILDING BLOCKS</a:t>
            </a:r>
            <a:endParaRPr b="1" sz="3200">
              <a:solidFill>
                <a:srgbClr val="ED684E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9" name="Google Shape;1079;p101"/>
          <p:cNvSpPr txBox="1"/>
          <p:nvPr>
            <p:ph idx="1" type="body"/>
          </p:nvPr>
        </p:nvSpPr>
        <p:spPr>
          <a:xfrm>
            <a:off x="429850" y="1397425"/>
            <a:ext cx="8402700" cy="29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Comments: </a:t>
            </a:r>
            <a:r>
              <a:rPr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{# This is a comment #}</a:t>
            </a:r>
            <a:endParaRPr sz="1700">
              <a:solidFill>
                <a:srgbClr val="31313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365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Courier New"/>
              <a:buChar char="○"/>
            </a:pPr>
            <a:r>
              <a:rPr i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Instantly removed - won’t appear anywhere</a:t>
            </a:r>
            <a:endParaRPr i="1" sz="1700">
              <a:solidFill>
                <a:srgbClr val="31313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Statements: </a:t>
            </a:r>
            <a:r>
              <a:rPr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{% set my_name = "Zoltan" %}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i="1"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Expressions: </a:t>
            </a:r>
            <a:r>
              <a:rPr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{{ my_name }}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○"/>
            </a:pPr>
            <a:r>
              <a:rPr i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Outputs </a:t>
            </a:r>
            <a:r>
              <a:rPr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“Zoltan”</a:t>
            </a:r>
            <a:endParaRPr sz="1700">
              <a:solidFill>
                <a:srgbClr val="31313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080" name="Google Shape;1080;p101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5" name="Google Shape;1085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223" y="416325"/>
            <a:ext cx="3551200" cy="366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6" name="Google Shape;1086;p102"/>
          <p:cNvSpPr txBox="1"/>
          <p:nvPr>
            <p:ph type="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(SOME)</a:t>
            </a: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 BUILT-IN VARIABLES IN DBT</a:t>
            </a:r>
            <a:endParaRPr b="1" sz="3200">
              <a:solidFill>
                <a:srgbClr val="ED684E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7" name="Google Shape;1087;p102"/>
          <p:cNvSpPr txBox="1"/>
          <p:nvPr>
            <p:ph idx="1" type="body"/>
          </p:nvPr>
        </p:nvSpPr>
        <p:spPr>
          <a:xfrm>
            <a:off x="429850" y="1397425"/>
            <a:ext cx="8402700" cy="29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12261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{{ this }}</a:t>
            </a:r>
            <a:endParaRPr sz="1700">
              <a:solidFill>
                <a:srgbClr val="31313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2261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Char char="○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References the model being built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2261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{{ target.name }}</a:t>
            </a:r>
            <a:endParaRPr sz="1700">
              <a:solidFill>
                <a:srgbClr val="31313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2261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Char char="○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The name of our target - the default is defined in </a:t>
            </a:r>
            <a:r>
              <a:rPr i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dbt_profiles.yml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 (</a:t>
            </a:r>
            <a:r>
              <a:rPr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dev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2261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{{ target.database }}  </a:t>
            </a:r>
            <a:endParaRPr sz="1700">
              <a:solidFill>
                <a:srgbClr val="31313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2261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Char char="○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The target database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2261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{{ target.schema }}</a:t>
            </a:r>
            <a:endParaRPr sz="1700">
              <a:solidFill>
                <a:srgbClr val="31313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2261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Char char="○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The target schema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088" name="Google Shape;1088;p102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3" name="Google Shape;1093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223" y="416325"/>
            <a:ext cx="3551200" cy="366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4" name="Google Shape;1094;p103"/>
          <p:cNvSpPr txBox="1"/>
          <p:nvPr>
            <p:ph type="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JINJA - MACRO (FUNCTION) EXAMPLES</a:t>
            </a:r>
            <a:endParaRPr b="1" sz="3200">
              <a:solidFill>
                <a:srgbClr val="ED684E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p103"/>
          <p:cNvSpPr txBox="1"/>
          <p:nvPr>
            <p:ph idx="1" type="body"/>
          </p:nvPr>
        </p:nvSpPr>
        <p:spPr>
          <a:xfrm>
            <a:off x="429850" y="1397425"/>
            <a:ext cx="8402700" cy="29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-312261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{{ </a:t>
            </a:r>
            <a:r>
              <a:rPr b="1"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("Debug message", info=True) }}  	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Prints to the console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2261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{{ </a:t>
            </a:r>
            <a:r>
              <a:rPr b="1"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var</a:t>
            </a:r>
            <a:r>
              <a:rPr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("user_name") }}					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Get variable value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2261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{{ </a:t>
            </a:r>
            <a:r>
              <a:rPr b="1"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ref</a:t>
            </a:r>
            <a:r>
              <a:rPr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('dim_listings_cleansed') }}		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References another model - </a:t>
            </a: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dbt specific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2261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{{ </a:t>
            </a:r>
            <a:r>
              <a:rPr b="1"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source</a:t>
            </a:r>
            <a:r>
              <a:rPr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('airbnb', 'listings') }}		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References a source table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 - </a:t>
            </a: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dbt specific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2261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{{ </a:t>
            </a:r>
            <a:r>
              <a:rPr b="1"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config</a:t>
            </a:r>
            <a:r>
              <a:rPr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('dim_listings_cleansed') }}	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References another model - </a:t>
            </a: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dbt specific</a:t>
            </a:r>
            <a:endParaRPr b="1"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2261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{{ </a:t>
            </a:r>
            <a:r>
              <a:rPr b="1"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adapter</a:t>
            </a:r>
            <a:r>
              <a:rPr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.get_columns_in_relation }}	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Adapter-level functionality - </a:t>
            </a: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dbt specific</a:t>
            </a:r>
            <a:endParaRPr b="1"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096" name="Google Shape;1096;p103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1" name="Google Shape;1101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223" y="416325"/>
            <a:ext cx="3551200" cy="366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2" name="Google Shape;1102;p104"/>
          <p:cNvSpPr txBox="1"/>
          <p:nvPr>
            <p:ph type="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MACROS (FUNCTIONS) IN DBT</a:t>
            </a:r>
            <a:endParaRPr b="1" sz="3200">
              <a:solidFill>
                <a:srgbClr val="ED684E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Google Shape;1103;p104"/>
          <p:cNvSpPr txBox="1"/>
          <p:nvPr>
            <p:ph idx="1" type="body"/>
          </p:nvPr>
        </p:nvSpPr>
        <p:spPr>
          <a:xfrm>
            <a:off x="429850" y="1397425"/>
            <a:ext cx="8402700" cy="29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Macros are jinja macros created in the </a:t>
            </a:r>
            <a:r>
              <a:rPr b="1" i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macros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 folder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There are many built-in macros in DBT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You can use macros in various places, such as: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○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model definitions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○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tests 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○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other macros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104" name="Google Shape;1104;p104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9" name="Google Shape;1109;p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223" y="416325"/>
            <a:ext cx="3551200" cy="366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0" name="Google Shape;1110;p105"/>
          <p:cNvSpPr txBox="1"/>
          <p:nvPr>
            <p:ph type="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CUSTOM BUILDING BLOCKS IN DBT</a:t>
            </a:r>
            <a:endParaRPr/>
          </a:p>
        </p:txBody>
      </p:sp>
      <p:sp>
        <p:nvSpPr>
          <p:cNvPr id="1111" name="Google Shape;1111;p105"/>
          <p:cNvSpPr txBox="1"/>
          <p:nvPr>
            <p:ph idx="1" type="body"/>
          </p:nvPr>
        </p:nvSpPr>
        <p:spPr>
          <a:xfrm>
            <a:off x="429850" y="1397425"/>
            <a:ext cx="8402700" cy="29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Courier New"/>
              <a:buChar char="●"/>
            </a:pPr>
            <a:r>
              <a:rPr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{% </a:t>
            </a:r>
            <a:r>
              <a:rPr b="1"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test</a:t>
            </a:r>
            <a:r>
              <a:rPr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 … %} 				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Test Definition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Courier New"/>
              <a:buChar char="●"/>
            </a:pPr>
            <a:r>
              <a:rPr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{% </a:t>
            </a:r>
            <a:r>
              <a:rPr b="1"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snapshot</a:t>
            </a:r>
            <a:r>
              <a:rPr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 %} 			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Snapshot definition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Courier New"/>
              <a:buChar char="●"/>
            </a:pPr>
            <a:r>
              <a:rPr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{% </a:t>
            </a:r>
            <a:r>
              <a:rPr b="1"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docs</a:t>
            </a:r>
            <a:r>
              <a:rPr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 %}					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Documentation block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Courier New"/>
              <a:buChar char="●"/>
            </a:pPr>
            <a:r>
              <a:rPr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{% </a:t>
            </a:r>
            <a:r>
              <a:rPr b="1"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materialization</a:t>
            </a:r>
            <a:r>
              <a:rPr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 %} 	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Custom materialization</a:t>
            </a:r>
            <a:endParaRPr sz="1700">
              <a:solidFill>
                <a:srgbClr val="31313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112" name="Google Shape;1112;p105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7" name="Google Shape;1117;p1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223" y="416325"/>
            <a:ext cx="3551200" cy="366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8" name="Google Shape;1118;p106"/>
          <p:cNvSpPr txBox="1"/>
          <p:nvPr>
            <p:ph type="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JINJA - DEFINING MACROS </a:t>
            </a:r>
            <a:endParaRPr/>
          </a:p>
        </p:txBody>
      </p:sp>
      <p:sp>
        <p:nvSpPr>
          <p:cNvPr id="1119" name="Google Shape;1119;p106"/>
          <p:cNvSpPr txBox="1"/>
          <p:nvPr>
            <p:ph idx="1" type="body"/>
          </p:nvPr>
        </p:nvSpPr>
        <p:spPr>
          <a:xfrm>
            <a:off x="429850" y="1397425"/>
            <a:ext cx="8402700" cy="29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{% </a:t>
            </a:r>
            <a:r>
              <a:rPr b="1"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macro</a:t>
            </a:r>
            <a:r>
              <a:rPr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 select_positive_values(</a:t>
            </a:r>
            <a:r>
              <a:rPr b="1"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model</a:t>
            </a:r>
            <a:r>
              <a:rPr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column_name</a:t>
            </a:r>
            <a:r>
              <a:rPr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) %}</a:t>
            </a:r>
            <a:endParaRPr sz="1700">
              <a:solidFill>
                <a:srgbClr val="31313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SELECT *</a:t>
            </a:r>
            <a:br>
              <a:rPr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FROM {{ </a:t>
            </a:r>
            <a:r>
              <a:rPr b="1"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model</a:t>
            </a:r>
            <a:r>
              <a:rPr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 }}</a:t>
            </a:r>
            <a:br>
              <a:rPr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WHERE {{ </a:t>
            </a:r>
            <a:r>
              <a:rPr b="1"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column_name</a:t>
            </a:r>
            <a:r>
              <a:rPr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 }} &gt; 0</a:t>
            </a:r>
            <a:endParaRPr sz="1700">
              <a:solidFill>
                <a:srgbClr val="31313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{% </a:t>
            </a:r>
            <a:r>
              <a:rPr b="1"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endmacro</a:t>
            </a:r>
            <a:r>
              <a:rPr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 %}</a:t>
            </a:r>
            <a:endParaRPr sz="1700">
              <a:solidFill>
                <a:srgbClr val="31313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rgbClr val="31313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120" name="Google Shape;1120;p106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5" name="Google Shape;1125;p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223" y="416325"/>
            <a:ext cx="3551200" cy="366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6" name="Google Shape;1126;p107"/>
          <p:cNvSpPr txBox="1"/>
          <p:nvPr>
            <p:ph type="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JINJA - IF/ELSE</a:t>
            </a:r>
            <a:endParaRPr/>
          </a:p>
        </p:txBody>
      </p:sp>
      <p:sp>
        <p:nvSpPr>
          <p:cNvPr id="1127" name="Google Shape;1127;p107"/>
          <p:cNvSpPr txBox="1"/>
          <p:nvPr>
            <p:ph idx="1" type="body"/>
          </p:nvPr>
        </p:nvSpPr>
        <p:spPr>
          <a:xfrm>
            <a:off x="429850" y="1397425"/>
            <a:ext cx="8402700" cy="29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10000"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SELECT * FROM {{ ref('src_reviews') }} WHERE review_text IS NOT NULL</a:t>
            </a:r>
            <a:endParaRPr sz="1700">
              <a:solidFill>
                <a:srgbClr val="31313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{% </a:t>
            </a:r>
            <a:r>
              <a:rPr b="1"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 is_incremental() %}</a:t>
            </a:r>
            <a:endParaRPr sz="1700">
              <a:solidFill>
                <a:srgbClr val="31313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  AND review_date &gt; (SELECT MAX(review_date) FROM {{ this }})</a:t>
            </a:r>
            <a:endParaRPr sz="1700">
              <a:solidFill>
                <a:srgbClr val="31313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  {{ log('Loading incrementally - new reviews only', info=True) }}</a:t>
            </a:r>
            <a:endParaRPr sz="1700">
              <a:solidFill>
                <a:srgbClr val="31313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{% </a:t>
            </a:r>
            <a:r>
              <a:rPr b="1"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 %}</a:t>
            </a:r>
            <a:endParaRPr sz="1700">
              <a:solidFill>
                <a:srgbClr val="31313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  {{ log('Loading all reviews - first run or full refresh', info=True) }}</a:t>
            </a:r>
            <a:endParaRPr sz="1700">
              <a:solidFill>
                <a:srgbClr val="31313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{% </a:t>
            </a:r>
            <a:r>
              <a:rPr b="1"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endif</a:t>
            </a:r>
            <a:r>
              <a:rPr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 %}</a:t>
            </a:r>
            <a:endParaRPr sz="1700">
              <a:solidFill>
                <a:srgbClr val="31313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128" name="Google Shape;1128;p107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3" name="Google Shape;1133;p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223" y="416325"/>
            <a:ext cx="3551200" cy="366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4" name="Google Shape;1134;p108"/>
          <p:cNvSpPr txBox="1"/>
          <p:nvPr>
            <p:ph type="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JINJA - LOOPS</a:t>
            </a:r>
            <a:endParaRPr/>
          </a:p>
        </p:txBody>
      </p:sp>
      <p:sp>
        <p:nvSpPr>
          <p:cNvPr id="1135" name="Google Shape;1135;p108"/>
          <p:cNvSpPr txBox="1"/>
          <p:nvPr>
            <p:ph idx="1" type="body"/>
          </p:nvPr>
        </p:nvSpPr>
        <p:spPr>
          <a:xfrm>
            <a:off x="429850" y="1397425"/>
            <a:ext cx="8402700" cy="29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4706"/>
              <a:buFont typeface="Arial"/>
              <a:buNone/>
            </a:pPr>
            <a:r>
              <a:rPr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{% set columns = ['listing_id', 'listing_name', 'price'] %}</a:t>
            </a:r>
            <a:endParaRPr sz="1700">
              <a:solidFill>
                <a:srgbClr val="31313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4706"/>
              <a:buFont typeface="Arial"/>
              <a:buNone/>
            </a:pPr>
            <a:r>
              <a:rPr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SELECT </a:t>
            </a:r>
            <a:endParaRPr sz="1700">
              <a:solidFill>
                <a:srgbClr val="31313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4706"/>
              <a:buFont typeface="Arial"/>
              <a:buNone/>
            </a:pPr>
            <a:r>
              <a:rPr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{% </a:t>
            </a:r>
            <a:r>
              <a:rPr b="1"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 col </a:t>
            </a:r>
            <a:r>
              <a:rPr b="1"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 columns %}</a:t>
            </a:r>
            <a:endParaRPr sz="1700">
              <a:solidFill>
                <a:srgbClr val="31313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4706"/>
              <a:buFont typeface="Arial"/>
              <a:buNone/>
            </a:pPr>
            <a:r>
              <a:rPr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  {{ col }}{% if not </a:t>
            </a:r>
            <a:r>
              <a:rPr b="1"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loop.last</a:t>
            </a:r>
            <a:r>
              <a:rPr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 %}, {% endif %}</a:t>
            </a:r>
            <a:endParaRPr sz="1700">
              <a:solidFill>
                <a:srgbClr val="31313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4706"/>
              <a:buFont typeface="Arial"/>
              <a:buNone/>
            </a:pPr>
            <a:r>
              <a:rPr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{% </a:t>
            </a:r>
            <a:r>
              <a:rPr b="1"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endfor</a:t>
            </a:r>
            <a:r>
              <a:rPr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 %}</a:t>
            </a:r>
            <a:endParaRPr sz="1700">
              <a:solidFill>
                <a:srgbClr val="31313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FROM {{ ref('dim_listings_cleansed') }}</a:t>
            </a:r>
            <a:endParaRPr sz="1700">
              <a:solidFill>
                <a:srgbClr val="31313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136" name="Google Shape;1136;p108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1" name="Google Shape;1141;p1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223" y="416325"/>
            <a:ext cx="3551200" cy="366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2" name="Google Shape;1142;p109"/>
          <p:cNvSpPr txBox="1"/>
          <p:nvPr>
            <p:ph type="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WHITESPACE CONTROL</a:t>
            </a:r>
            <a:endParaRPr/>
          </a:p>
        </p:txBody>
      </p:sp>
      <p:sp>
        <p:nvSpPr>
          <p:cNvPr id="1143" name="Google Shape;1143;p109"/>
          <p:cNvSpPr txBox="1"/>
          <p:nvPr>
            <p:ph idx="1" type="body"/>
          </p:nvPr>
        </p:nvSpPr>
        <p:spPr>
          <a:xfrm>
            <a:off x="429850" y="1397425"/>
            <a:ext cx="8402700" cy="29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Courier New"/>
              <a:buChar char="●"/>
            </a:pPr>
            <a:r>
              <a:rPr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{% statement %}: </a:t>
            </a: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No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 whitespace control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Courier New"/>
              <a:buChar char="●"/>
            </a:pPr>
            <a:r>
              <a:rPr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b="1"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%-</a:t>
            </a:r>
            <a:r>
              <a:rPr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 statement %}: 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Strip whitespace </a:t>
            </a: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BEFORE</a:t>
            </a:r>
            <a:endParaRPr b="1"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Courier New"/>
              <a:buChar char="●"/>
            </a:pPr>
            <a:r>
              <a:rPr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{% statement </a:t>
            </a:r>
            <a:r>
              <a:rPr b="1"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-%</a:t>
            </a:r>
            <a:r>
              <a:rPr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}: 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Strip whitespace </a:t>
            </a: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AFTER</a:t>
            </a:r>
            <a:endParaRPr b="1"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Courier New"/>
              <a:buChar char="●"/>
            </a:pPr>
            <a:r>
              <a:rPr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b="1"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%-</a:t>
            </a:r>
            <a:r>
              <a:rPr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 statement </a:t>
            </a:r>
            <a:r>
              <a:rPr b="1"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-%</a:t>
            </a:r>
            <a:r>
              <a:rPr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} 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Strip whitespace </a:t>
            </a: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BEFORE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 and </a:t>
            </a: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AFTER</a:t>
            </a:r>
            <a:endParaRPr b="1"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144" name="Google Shape;1144;p109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p110"/>
          <p:cNvSpPr/>
          <p:nvPr/>
        </p:nvSpPr>
        <p:spPr>
          <a:xfrm>
            <a:off x="0" y="0"/>
            <a:ext cx="9144000" cy="4471500"/>
          </a:xfrm>
          <a:prstGeom prst="rect">
            <a:avLst/>
          </a:prstGeom>
          <a:solidFill>
            <a:srgbClr val="ED68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0" name="Google Shape;1150;p110"/>
          <p:cNvSpPr txBox="1"/>
          <p:nvPr/>
        </p:nvSpPr>
        <p:spPr>
          <a:xfrm>
            <a:off x="5859966" y="738256"/>
            <a:ext cx="18282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0">
              <a:solidFill>
                <a:srgbClr val="FD927D"/>
              </a:solidFill>
            </a:endParaRPr>
          </a:p>
        </p:txBody>
      </p:sp>
      <p:sp>
        <p:nvSpPr>
          <p:cNvPr id="1151" name="Google Shape;1151;p110"/>
          <p:cNvSpPr txBox="1"/>
          <p:nvPr>
            <p:ph type="ctrTitle"/>
          </p:nvPr>
        </p:nvSpPr>
        <p:spPr>
          <a:xfrm>
            <a:off x="247550" y="2795650"/>
            <a:ext cx="8520600" cy="9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JINJA, CUSTOM TESTS AND PACKAGES</a:t>
            </a:r>
            <a:endParaRPr b="1" sz="7200">
              <a:solidFill>
                <a:schemeClr val="lt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6" name="Google Shape;1156;p1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223" y="416325"/>
            <a:ext cx="3551200" cy="366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7" name="Google Shape;1157;p111"/>
          <p:cNvSpPr txBox="1"/>
          <p:nvPr>
            <p:ph type="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LEARNING OBJECTIVES</a:t>
            </a:r>
            <a:endParaRPr b="1" sz="3200">
              <a:solidFill>
                <a:srgbClr val="ED684E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8" name="Google Shape;1158;p111"/>
          <p:cNvSpPr txBox="1"/>
          <p:nvPr>
            <p:ph idx="1" type="body"/>
          </p:nvPr>
        </p:nvSpPr>
        <p:spPr>
          <a:xfrm>
            <a:off x="429850" y="1397425"/>
            <a:ext cx="8402700" cy="29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Understand how macros are created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Use macros to implement your own generic tests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Find and install third-party dbt packages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159" name="Google Shape;1159;p111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4" name="Google Shape;1164;p1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223" y="416325"/>
            <a:ext cx="3551200" cy="366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5" name="Google Shape;1165;p112"/>
          <p:cNvSpPr txBox="1"/>
          <p:nvPr>
            <p:ph type="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MACROS, CUSTOM TESTS AND PACKAGES</a:t>
            </a:r>
            <a:endParaRPr b="1" sz="3200">
              <a:solidFill>
                <a:srgbClr val="ED684E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6" name="Google Shape;1166;p112"/>
          <p:cNvSpPr txBox="1"/>
          <p:nvPr>
            <p:ph idx="1" type="body"/>
          </p:nvPr>
        </p:nvSpPr>
        <p:spPr>
          <a:xfrm>
            <a:off x="429850" y="1397425"/>
            <a:ext cx="8402700" cy="29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-320358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Macros are jinja templates created in the </a:t>
            </a:r>
            <a:r>
              <a:rPr i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macros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 folder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0358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There are many built-in macros in DBT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0358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You can use macros in model definitions and tests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0358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A special macro, called </a:t>
            </a:r>
            <a:r>
              <a:rPr i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test, 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can be used for implementing your own generic tests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0358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dbt packages can be installed easily to get access to a plethora of macros and tests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167" name="Google Shape;1167;p112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p113"/>
          <p:cNvSpPr/>
          <p:nvPr/>
        </p:nvSpPr>
        <p:spPr>
          <a:xfrm>
            <a:off x="0" y="0"/>
            <a:ext cx="9144000" cy="4471500"/>
          </a:xfrm>
          <a:prstGeom prst="rect">
            <a:avLst/>
          </a:prstGeom>
          <a:solidFill>
            <a:srgbClr val="ED68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3" name="Google Shape;1173;p113"/>
          <p:cNvSpPr txBox="1"/>
          <p:nvPr/>
        </p:nvSpPr>
        <p:spPr>
          <a:xfrm>
            <a:off x="5859966" y="738256"/>
            <a:ext cx="18282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0">
              <a:solidFill>
                <a:srgbClr val="FD927D"/>
              </a:solidFill>
            </a:endParaRPr>
          </a:p>
        </p:txBody>
      </p:sp>
      <p:sp>
        <p:nvSpPr>
          <p:cNvPr id="1174" name="Google Shape;1174;p113"/>
          <p:cNvSpPr txBox="1"/>
          <p:nvPr>
            <p:ph type="ctrTitle"/>
          </p:nvPr>
        </p:nvSpPr>
        <p:spPr>
          <a:xfrm>
            <a:off x="267900" y="1996000"/>
            <a:ext cx="8520600" cy="9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DOCUMENTATION</a:t>
            </a:r>
            <a:endParaRPr b="1" sz="7200">
              <a:solidFill>
                <a:schemeClr val="lt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9" name="Google Shape;1179;p1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223" y="416325"/>
            <a:ext cx="3551200" cy="366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0" name="Google Shape;1180;p114"/>
          <p:cNvSpPr txBox="1"/>
          <p:nvPr>
            <p:ph type="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LEARNING OBJECTIVES</a:t>
            </a:r>
            <a:endParaRPr b="1" sz="3200">
              <a:solidFill>
                <a:srgbClr val="ED684E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1" name="Google Shape;1181;p114"/>
          <p:cNvSpPr txBox="1"/>
          <p:nvPr>
            <p:ph idx="1" type="body"/>
          </p:nvPr>
        </p:nvSpPr>
        <p:spPr>
          <a:xfrm>
            <a:off x="429850" y="1397425"/>
            <a:ext cx="8402700" cy="29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Understand how to document models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Use the documentation generator and server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Add assets and markdown to the documentation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Discuss dev vs. production documentation serving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182" name="Google Shape;1182;p114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7" name="Google Shape;1187;p1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223" y="416325"/>
            <a:ext cx="3551200" cy="366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8" name="Google Shape;1188;p115"/>
          <p:cNvSpPr txBox="1"/>
          <p:nvPr>
            <p:ph type="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DOCUMENTATION OVERVIEW</a:t>
            </a:r>
            <a:endParaRPr b="1" sz="3200">
              <a:solidFill>
                <a:srgbClr val="ED684E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9" name="Google Shape;1189;p115"/>
          <p:cNvSpPr txBox="1"/>
          <p:nvPr>
            <p:ph idx="1" type="body"/>
          </p:nvPr>
        </p:nvSpPr>
        <p:spPr>
          <a:xfrm>
            <a:off x="429850" y="1397425"/>
            <a:ext cx="8402700" cy="29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Documentations can be defined two ways: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○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In yaml files (like </a:t>
            </a:r>
            <a:r>
              <a:rPr i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schema.yml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○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In standalone markdown files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Dbt ships with a lightweight documentation web server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For customizing the landing page, a special file, </a:t>
            </a:r>
            <a:r>
              <a:rPr i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overview.md 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is used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You can add your own assets (like images) to a special project folder 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190" name="Google Shape;1190;p115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p116"/>
          <p:cNvSpPr/>
          <p:nvPr/>
        </p:nvSpPr>
        <p:spPr>
          <a:xfrm>
            <a:off x="0" y="0"/>
            <a:ext cx="9144000" cy="4471500"/>
          </a:xfrm>
          <a:prstGeom prst="rect">
            <a:avLst/>
          </a:prstGeom>
          <a:solidFill>
            <a:srgbClr val="ED68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6" name="Google Shape;1196;p116"/>
          <p:cNvSpPr txBox="1"/>
          <p:nvPr/>
        </p:nvSpPr>
        <p:spPr>
          <a:xfrm>
            <a:off x="5859966" y="738256"/>
            <a:ext cx="18282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0">
              <a:solidFill>
                <a:srgbClr val="FD927D"/>
              </a:solidFill>
            </a:endParaRPr>
          </a:p>
        </p:txBody>
      </p:sp>
      <p:sp>
        <p:nvSpPr>
          <p:cNvPr id="1197" name="Google Shape;1197;p116"/>
          <p:cNvSpPr txBox="1"/>
          <p:nvPr>
            <p:ph type="ctrTitle"/>
          </p:nvPr>
        </p:nvSpPr>
        <p:spPr>
          <a:xfrm>
            <a:off x="200125" y="2321275"/>
            <a:ext cx="8520600" cy="9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ANALYSES, HOOKS AND EXPOSURES</a:t>
            </a:r>
            <a:endParaRPr b="1" sz="7200">
              <a:solidFill>
                <a:schemeClr val="lt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2" name="Google Shape;1202;p1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223" y="416325"/>
            <a:ext cx="3551200" cy="366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3" name="Google Shape;1203;p117"/>
          <p:cNvSpPr txBox="1"/>
          <p:nvPr>
            <p:ph type="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LEARNING OBJECTIVES</a:t>
            </a:r>
            <a:endParaRPr b="1" sz="3200">
              <a:solidFill>
                <a:srgbClr val="ED684E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4" name="Google Shape;1204;p117"/>
          <p:cNvSpPr txBox="1"/>
          <p:nvPr>
            <p:ph idx="1" type="body"/>
          </p:nvPr>
        </p:nvSpPr>
        <p:spPr>
          <a:xfrm>
            <a:off x="429850" y="1397425"/>
            <a:ext cx="8402700" cy="29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Understand how to store ad-hoc analytical queries in dbt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Work with dbt hooks to manage table permissions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Build a dashboard in Preset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Create a dbt exposure to document the dashboard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05" name="Google Shape;1205;p117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0" name="Google Shape;1210;p1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223" y="416325"/>
            <a:ext cx="3551200" cy="366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1" name="Google Shape;1211;p118"/>
          <p:cNvSpPr txBox="1"/>
          <p:nvPr>
            <p:ph type="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HOOKS</a:t>
            </a:r>
            <a:endParaRPr/>
          </a:p>
        </p:txBody>
      </p:sp>
      <p:sp>
        <p:nvSpPr>
          <p:cNvPr id="1212" name="Google Shape;1212;p118"/>
          <p:cNvSpPr txBox="1"/>
          <p:nvPr>
            <p:ph idx="1" type="body"/>
          </p:nvPr>
        </p:nvSpPr>
        <p:spPr>
          <a:xfrm>
            <a:off x="429850" y="1397425"/>
            <a:ext cx="8402700" cy="29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-320358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Hooks are SQLs that are executed at predefined times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0358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Hooks can be configured on the project, subfolder, or model level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0358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Hook types: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0357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Char char="○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on_run_start: executed at the start of </a:t>
            </a:r>
            <a:r>
              <a:rPr i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dbt {run, seed, snapshot}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0357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Char char="○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on_run_end: executed at the end of </a:t>
            </a:r>
            <a:r>
              <a:rPr i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dbt {run, seed, snapshot}</a:t>
            </a:r>
            <a:endParaRPr i="1"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0357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Char char="○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pre-hook: executed before a model/seed/snapshot is built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0357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Char char="○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post-hook: executed after a model/seed/snapshot is built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13" name="Google Shape;1213;p118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p119"/>
          <p:cNvSpPr/>
          <p:nvPr/>
        </p:nvSpPr>
        <p:spPr>
          <a:xfrm>
            <a:off x="0" y="0"/>
            <a:ext cx="9144000" cy="4471500"/>
          </a:xfrm>
          <a:prstGeom prst="rect">
            <a:avLst/>
          </a:prstGeom>
          <a:solidFill>
            <a:srgbClr val="ED68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9" name="Google Shape;1219;p119"/>
          <p:cNvSpPr txBox="1"/>
          <p:nvPr/>
        </p:nvSpPr>
        <p:spPr>
          <a:xfrm>
            <a:off x="5859966" y="738256"/>
            <a:ext cx="18282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0">
              <a:solidFill>
                <a:srgbClr val="FD927D"/>
              </a:solidFill>
            </a:endParaRPr>
          </a:p>
        </p:txBody>
      </p:sp>
      <p:sp>
        <p:nvSpPr>
          <p:cNvPr id="1220" name="Google Shape;1220;p119"/>
          <p:cNvSpPr txBox="1"/>
          <p:nvPr>
            <p:ph type="ctrTitle"/>
          </p:nvPr>
        </p:nvSpPr>
        <p:spPr>
          <a:xfrm>
            <a:off x="200125" y="2321275"/>
            <a:ext cx="8520600" cy="9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DEBUGGING WORKFLOWS</a:t>
            </a:r>
            <a:endParaRPr b="1" sz="7200">
              <a:solidFill>
                <a:schemeClr val="lt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5" name="Google Shape;1225;p1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223" y="416325"/>
            <a:ext cx="3551200" cy="366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6" name="Google Shape;1226;p120"/>
          <p:cNvSpPr txBox="1"/>
          <p:nvPr>
            <p:ph type="title"/>
          </p:nvPr>
        </p:nvSpPr>
        <p:spPr>
          <a:xfrm>
            <a:off x="311400" y="0"/>
            <a:ext cx="852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Commands for debugging</a:t>
            </a:r>
            <a:endParaRPr b="1" sz="3200">
              <a:solidFill>
                <a:srgbClr val="ED684E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27" name="Google Shape;1227;p120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8" name="Google Shape;1228;p120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229" name="Google Shape;1229;p120"/>
          <p:cNvGraphicFramePr/>
          <p:nvPr/>
        </p:nvGraphicFramePr>
        <p:xfrm>
          <a:off x="399525" y="579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{3660BCE2-2714-4049-8B74-3E60B48309CE}</a:tableStyleId>
              </a:tblPr>
              <a:tblGrid>
                <a:gridCol w="2413000"/>
                <a:gridCol w="2542475"/>
                <a:gridCol w="3117000"/>
              </a:tblGrid>
              <a:tr h="29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Command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dbt Core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200"/>
                        <a:t>dbt Fusion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dbt --version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dbt command available?</a:t>
                      </a:r>
                      <a:endParaRPr sz="1200"/>
                    </a:p>
                  </a:txBody>
                  <a:tcPr marT="91425" marB="91425" marR="91425" marL="91425"/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dbt debug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Warehouse connection</a:t>
                      </a:r>
                      <a:endParaRPr sz="1200"/>
                    </a:p>
                  </a:txBody>
                  <a:tcPr marT="91425" marB="91425" marR="91425" marL="91425"/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dbt clean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Clear target folder</a:t>
                      </a:r>
                      <a:endParaRPr sz="1200"/>
                    </a:p>
                  </a:txBody>
                  <a:tcPr marT="91425" marB="91425" marR="91425" marL="91425"/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dbt ls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What models can dbt see</a:t>
                      </a:r>
                      <a:endParaRPr sz="1200"/>
                    </a:p>
                  </a:txBody>
                  <a:tcPr marT="91425" marB="91425" marR="91425" marL="91425"/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dbt deps 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Packages available?</a:t>
                      </a:r>
                      <a:endParaRPr sz="1200"/>
                    </a:p>
                  </a:txBody>
                  <a:tcPr marT="91425" marB="91425" marR="91425" marL="91425"/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dbt parse 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Validate YAML, write </a:t>
                      </a:r>
                      <a:r>
                        <a:rPr lang="en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manifest.json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 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highlight>
                            <a:schemeClr val="lt1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dbt compile </a:t>
                      </a:r>
                      <a:endParaRPr b="1" sz="1200">
                        <a:highlight>
                          <a:schemeClr val="lt1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highlight>
                            <a:schemeClr val="lt1"/>
                          </a:highlight>
                        </a:rPr>
                        <a:t>Render Jinja -&gt; SQL</a:t>
                      </a:r>
                      <a:endParaRPr b="1" sz="1200"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highlight>
                            <a:schemeClr val="lt1"/>
                          </a:highlight>
                        </a:rPr>
                        <a:t>Also checks SQL syntax</a:t>
                      </a:r>
                      <a:endParaRPr b="1" sz="1200"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dbt run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Run/Materialize the model</a:t>
                      </a:r>
                      <a:endParaRPr sz="1200"/>
                    </a:p>
                  </a:txBody>
                  <a:tcPr marT="91425" marB="91425" marR="91425" marL="91425"/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dbt test  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Run tests</a:t>
                      </a:r>
                      <a:endParaRPr sz="1200"/>
                    </a:p>
                  </a:txBody>
                  <a:tcPr marT="91425" marB="91425" marR="91425" marL="91425"/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dbt show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What would a model produce?</a:t>
                      </a:r>
                      <a:endParaRPr sz="1200"/>
                    </a:p>
                  </a:txBody>
                  <a:tcPr marT="91425" marB="91425" marR="91425" marL="91425"/>
                </a:tc>
                <a:tc hMerge="1"/>
              </a:tr>
              <a:tr h="143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dbt build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Runs </a:t>
                      </a:r>
                      <a:r>
                        <a:rPr lang="en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dbt seed, dbt run, dbt snapshot, dbt test</a:t>
                      </a:r>
                      <a:r>
                        <a:rPr lang="en" sz="1200"/>
                        <a:t> in order</a:t>
                      </a:r>
                      <a:endParaRPr sz="1200"/>
                    </a:p>
                  </a:txBody>
                  <a:tcPr marT="91425" marB="91425" marR="91425" marL="91425"/>
                </a:tc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4" name="Google Shape;1234;p1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223" y="416325"/>
            <a:ext cx="3551200" cy="366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5" name="Google Shape;1235;p121"/>
          <p:cNvSpPr txBox="1"/>
          <p:nvPr>
            <p:ph type="title"/>
          </p:nvPr>
        </p:nvSpPr>
        <p:spPr>
          <a:xfrm>
            <a:off x="311400" y="267000"/>
            <a:ext cx="852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Commands for debugging</a:t>
            </a:r>
            <a:endParaRPr b="1" sz="3200">
              <a:solidFill>
                <a:srgbClr val="ED684E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36" name="Google Shape;1236;p121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7" name="Google Shape;1237;p121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8" name="Google Shape;1238;p12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239" name="Google Shape;1239;p121"/>
          <p:cNvGraphicFramePr/>
          <p:nvPr/>
        </p:nvGraphicFramePr>
        <p:xfrm>
          <a:off x="458900" y="18643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{3660BCE2-2714-4049-8B74-3E60B48309CE}</a:tableStyleId>
              </a:tblPr>
              <a:tblGrid>
                <a:gridCol w="2413000"/>
                <a:gridCol w="2542475"/>
                <a:gridCol w="3117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Command</a:t>
                      </a:r>
                      <a:endParaRPr b="1"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dbt Core</a:t>
                      </a:r>
                      <a:endParaRPr b="1"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dbt Fusion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dbt run </a:t>
                      </a:r>
                      <a:r>
                        <a:rPr lang="en" sz="13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--</a:t>
                      </a:r>
                      <a:r>
                        <a:rPr lang="en" sz="13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empty</a:t>
                      </a:r>
                      <a:endParaRPr sz="13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Practically executed </a:t>
                      </a:r>
                      <a:r>
                        <a:rPr lang="en" sz="13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dbt run</a:t>
                      </a:r>
                      <a:r>
                        <a:rPr lang="en" sz="1300"/>
                        <a:t> with LIMIT 0 on all models</a:t>
                      </a:r>
                      <a:endParaRPr sz="1300"/>
                    </a:p>
                  </a:txBody>
                  <a:tcPr marT="91425" marB="91425" marR="91425" marL="91425"/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dbt run </a:t>
                      </a:r>
                      <a:r>
                        <a:rPr lang="en" sz="13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--</a:t>
                      </a:r>
                      <a:r>
                        <a:rPr lang="en" sz="13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sample &lt;time expression&gt;</a:t>
                      </a:r>
                      <a:endParaRPr sz="13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Samples data based on a time range</a:t>
                      </a:r>
                      <a:endParaRPr sz="1300"/>
                    </a:p>
                  </a:txBody>
                  <a:tcPr marT="91425" marB="91425" marR="91425" marL="91425"/>
                </a:tc>
                <a:tc hMerge="1"/>
              </a:tr>
            </a:tbl>
          </a:graphicData>
        </a:graphic>
      </p:graphicFrame>
      <p:sp>
        <p:nvSpPr>
          <p:cNvPr id="1240" name="Google Shape;1240;p121"/>
          <p:cNvSpPr txBox="1"/>
          <p:nvPr/>
        </p:nvSpPr>
        <p:spPr>
          <a:xfrm>
            <a:off x="458900" y="1121175"/>
            <a:ext cx="599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How can we make debugging the full pipeline faster?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4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5" name="Google Shape;1245;p1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223" y="416325"/>
            <a:ext cx="3551200" cy="366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6" name="Google Shape;1246;p122"/>
          <p:cNvSpPr txBox="1"/>
          <p:nvPr>
            <p:ph type="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Selectors</a:t>
            </a:r>
            <a:endParaRPr b="1" sz="3200">
              <a:solidFill>
                <a:srgbClr val="ED684E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47" name="Google Shape;1247;p122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8" name="Google Shape;1248;p122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9" name="Google Shape;1249;p12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250" name="Google Shape;1250;p122"/>
          <p:cNvGraphicFramePr/>
          <p:nvPr/>
        </p:nvGraphicFramePr>
        <p:xfrm>
          <a:off x="535550" y="1143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{3660BCE2-2714-4049-8B74-3E60B48309CE}</a:tableStyleId>
              </a:tblPr>
              <a:tblGrid>
                <a:gridCol w="2413000"/>
                <a:gridCol w="2542475"/>
                <a:gridCol w="3117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By n</a:t>
                      </a:r>
                      <a:r>
                        <a:rPr b="1" lang="en"/>
                        <a:t>ame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-s model_name, -s path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Select a model or path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Graph Operators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+model, model+, @model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Selects a subgraph from DAG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Methods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</a:t>
                      </a:r>
                      <a:r>
                        <a:rPr lang="en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ag:, source:, path: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Selects by type or other property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State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state:new, state:modified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Comparing my DAG to another DAG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Result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Result:error, result:fail, …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Rerun only what failed (tests, models, etc)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Set operators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&lt;s-a&gt; &lt;s-b&gt;, &lt;s-a&gt;,&lt;s-b&gt;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Union or Intersection of selectors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Exclusion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–exclude &lt;s&gt;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Exclude models included in selector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“</a:t>
                      </a:r>
                      <a:r>
                        <a:rPr b="1" lang="en"/>
                        <a:t>Selectors”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Combining</a:t>
                      </a:r>
                      <a:r>
                        <a:rPr lang="en"/>
                        <a:t> selectors in YAML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Saving </a:t>
                      </a:r>
                      <a:r>
                        <a:rPr lang="en"/>
                        <a:t>common selector criterias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4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p123"/>
          <p:cNvSpPr/>
          <p:nvPr/>
        </p:nvSpPr>
        <p:spPr>
          <a:xfrm>
            <a:off x="0" y="0"/>
            <a:ext cx="9144000" cy="4471500"/>
          </a:xfrm>
          <a:prstGeom prst="rect">
            <a:avLst/>
          </a:prstGeom>
          <a:solidFill>
            <a:srgbClr val="ED68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6" name="Google Shape;1256;p123"/>
          <p:cNvSpPr txBox="1"/>
          <p:nvPr/>
        </p:nvSpPr>
        <p:spPr>
          <a:xfrm>
            <a:off x="5859966" y="738256"/>
            <a:ext cx="18282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0">
              <a:solidFill>
                <a:srgbClr val="FD927D"/>
              </a:solidFill>
            </a:endParaRPr>
          </a:p>
        </p:txBody>
      </p:sp>
      <p:sp>
        <p:nvSpPr>
          <p:cNvPr id="1257" name="Google Shape;1257;p123"/>
          <p:cNvSpPr txBox="1"/>
          <p:nvPr>
            <p:ph type="ctrTitle"/>
          </p:nvPr>
        </p:nvSpPr>
        <p:spPr>
          <a:xfrm>
            <a:off x="200125" y="2321275"/>
            <a:ext cx="8520600" cy="9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PYTHON MODELS</a:t>
            </a:r>
            <a:endParaRPr b="1" sz="7200">
              <a:solidFill>
                <a:schemeClr val="lt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2" name="Google Shape;1262;p1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223" y="416325"/>
            <a:ext cx="3551200" cy="366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3" name="Google Shape;1263;p124"/>
          <p:cNvSpPr txBox="1"/>
          <p:nvPr>
            <p:ph type="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Python Models</a:t>
            </a:r>
            <a:endParaRPr b="1" sz="3200">
              <a:solidFill>
                <a:srgbClr val="ED684E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4" name="Google Shape;1264;p124"/>
          <p:cNvSpPr txBox="1"/>
          <p:nvPr>
            <p:ph idx="1" type="body"/>
          </p:nvPr>
        </p:nvSpPr>
        <p:spPr>
          <a:xfrm>
            <a:off x="429850" y="1397425"/>
            <a:ext cx="8402700" cy="29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Expressing a transformation as </a:t>
            </a: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Python code</a:t>
            </a:r>
            <a:endParaRPr b="1"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Only necessary for a small, advanced set of use cases.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The code runs on the target platform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A subset of data platforms supported, i.e.: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○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Databricks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○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Snowflake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○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BigQuery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Limitations: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○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Usually much slower as SQL transformations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○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Syntax not platform-agnostic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65" name="Google Shape;1265;p124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6" name="Google Shape;1266;p124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7" name="Google Shape;1267;p12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2" name="Google Shape;1272;p1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223" y="416325"/>
            <a:ext cx="3551200" cy="366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3" name="Google Shape;1273;p125"/>
          <p:cNvSpPr txBox="1"/>
          <p:nvPr>
            <p:ph type="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Python Models - syntax</a:t>
            </a:r>
            <a:endParaRPr b="1" sz="3200">
              <a:solidFill>
                <a:srgbClr val="ED684E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4" name="Google Shape;1274;p125"/>
          <p:cNvSpPr txBox="1"/>
          <p:nvPr>
            <p:ph idx="1" type="body"/>
          </p:nvPr>
        </p:nvSpPr>
        <p:spPr>
          <a:xfrm>
            <a:off x="429850" y="1397425"/>
            <a:ext cx="8402700" cy="226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def </a:t>
            </a:r>
            <a:r>
              <a:rPr b="1"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model</a:t>
            </a:r>
            <a:r>
              <a:rPr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dbt</a:t>
            </a:r>
            <a:r>
              <a:rPr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session</a:t>
            </a:r>
            <a:r>
              <a:rPr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700">
              <a:solidFill>
                <a:srgbClr val="31313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4706"/>
              <a:buFont typeface="Arial"/>
              <a:buNone/>
            </a:pPr>
            <a:r>
              <a:rPr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    dt.ref(“model_name”) # referencing models</a:t>
            </a:r>
            <a:endParaRPr sz="1700">
              <a:solidFill>
                <a:srgbClr val="31313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    # Your transformations</a:t>
            </a:r>
            <a:endParaRPr sz="1700">
              <a:solidFill>
                <a:srgbClr val="31313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    # returns either a Pandas or platform-specific DataFrame </a:t>
            </a:r>
            <a:endParaRPr sz="1700">
              <a:solidFill>
                <a:srgbClr val="31313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df </a:t>
            </a:r>
            <a:br>
              <a:rPr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 sz="1700">
              <a:solidFill>
                <a:srgbClr val="31313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275" name="Google Shape;1275;p125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6" name="Google Shape;1276;p125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7" name="Google Shape;1277;p12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8" name="Google Shape;1278;p125"/>
          <p:cNvSpPr txBox="1"/>
          <p:nvPr/>
        </p:nvSpPr>
        <p:spPr>
          <a:xfrm>
            <a:off x="396525" y="3568600"/>
            <a:ext cx="8442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dbt</a:t>
            </a:r>
            <a:r>
              <a:rPr lang="en" sz="1800">
                <a:solidFill>
                  <a:schemeClr val="dk2"/>
                </a:solidFill>
              </a:rPr>
              <a:t>: dbt Functionalities (refs, sources, variables, … 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session</a:t>
            </a:r>
            <a:r>
              <a:rPr lang="en" sz="1800">
                <a:solidFill>
                  <a:schemeClr val="dk2"/>
                </a:solidFill>
              </a:rPr>
              <a:t>: Target-platform-specific functionalities (i.e. accessing built-in functions)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2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3" name="Google Shape;1283;p1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223" y="416325"/>
            <a:ext cx="3551200" cy="366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4" name="Google Shape;1284;p126"/>
          <p:cNvSpPr txBox="1"/>
          <p:nvPr>
            <p:ph type="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Advanced </a:t>
            </a: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Python Models</a:t>
            </a:r>
            <a:endParaRPr b="1" sz="3200">
              <a:solidFill>
                <a:srgbClr val="ED684E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85" name="Google Shape;1285;p126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6" name="Google Shape;1286;p126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7" name="Google Shape;1287;p12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8" name="Google Shape;1288;p126"/>
          <p:cNvSpPr txBox="1"/>
          <p:nvPr>
            <p:ph idx="1" type="body"/>
          </p:nvPr>
        </p:nvSpPr>
        <p:spPr>
          <a:xfrm>
            <a:off x="429850" y="1397425"/>
            <a:ext cx="8402700" cy="29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Materialization can be specified (table and incremental)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○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view and ephemeral materializations not supported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Python packages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 can be requested to be installed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dbt configuration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,</a:t>
            </a: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 variables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, etc accessible through the </a:t>
            </a:r>
            <a:r>
              <a:rPr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dbt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 object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Custom SQL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 can be executed within from within the function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2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p127"/>
          <p:cNvSpPr/>
          <p:nvPr/>
        </p:nvSpPr>
        <p:spPr>
          <a:xfrm>
            <a:off x="0" y="0"/>
            <a:ext cx="9144000" cy="4471500"/>
          </a:xfrm>
          <a:prstGeom prst="rect">
            <a:avLst/>
          </a:prstGeom>
          <a:solidFill>
            <a:srgbClr val="ED68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4" name="Google Shape;1294;p127"/>
          <p:cNvSpPr txBox="1"/>
          <p:nvPr/>
        </p:nvSpPr>
        <p:spPr>
          <a:xfrm>
            <a:off x="5859966" y="738256"/>
            <a:ext cx="18282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0">
              <a:solidFill>
                <a:srgbClr val="FD927D"/>
              </a:solidFill>
            </a:endParaRPr>
          </a:p>
        </p:txBody>
      </p:sp>
      <p:sp>
        <p:nvSpPr>
          <p:cNvPr id="1295" name="Google Shape;1295;p127"/>
          <p:cNvSpPr txBox="1"/>
          <p:nvPr>
            <p:ph type="ctrTitle"/>
          </p:nvPr>
        </p:nvSpPr>
        <p:spPr>
          <a:xfrm>
            <a:off x="267900" y="1996000"/>
            <a:ext cx="8520600" cy="9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MODEL LIFECYCLE</a:t>
            </a:r>
            <a:endParaRPr b="1" sz="7200">
              <a:solidFill>
                <a:schemeClr val="lt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9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0" name="Google Shape;1300;p1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223" y="416325"/>
            <a:ext cx="3551200" cy="366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1" name="Google Shape;1301;p128"/>
          <p:cNvSpPr txBox="1"/>
          <p:nvPr>
            <p:ph type="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Model Lifecycle</a:t>
            </a:r>
            <a:endParaRPr b="1" sz="3200">
              <a:solidFill>
                <a:srgbClr val="ED684E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02" name="Google Shape;1302;p128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3" name="Google Shape;1303;p128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4" name="Google Shape;1304;p12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05" name="Google Shape;1305;p1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954706"/>
            <a:ext cx="9144001" cy="12340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9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0" name="Google Shape;1310;p1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223" y="416325"/>
            <a:ext cx="3551200" cy="366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1" name="Google Shape;1311;p129"/>
          <p:cNvSpPr txBox="1"/>
          <p:nvPr>
            <p:ph type="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Model Lifecycle</a:t>
            </a:r>
            <a:endParaRPr b="1" sz="3200">
              <a:solidFill>
                <a:srgbClr val="ED684E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12" name="Google Shape;1312;p129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3" name="Google Shape;1313;p129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14" name="Google Shape;1314;p12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5" name="Google Shape;1315;p129"/>
          <p:cNvSpPr txBox="1"/>
          <p:nvPr>
            <p:ph idx="1" type="body"/>
          </p:nvPr>
        </p:nvSpPr>
        <p:spPr>
          <a:xfrm>
            <a:off x="429850" y="1397425"/>
            <a:ext cx="8402700" cy="29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12261" lvl="0" marL="457200" rtl="0" algn="l"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Initial Model Version: You know this already :)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2261" lvl="0" marL="457200" rtl="0" algn="l">
              <a:spcBef>
                <a:spcPts val="120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Improvements / Modifications: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2261" lvl="1" marL="914400" rtl="0" algn="l"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Char char="○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Modify in-place (⚠️ may break downstream models)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2261" lvl="1" marL="914400" rtl="0" algn="l"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Char char="○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Use </a:t>
            </a: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Model Versions</a:t>
            </a:r>
            <a:endParaRPr b="1"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2261" lvl="0" marL="457200" rtl="0" algn="l">
              <a:spcBef>
                <a:spcPts val="120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Deprecation: the </a:t>
            </a:r>
            <a:r>
              <a:rPr b="1"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deprecated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 configuration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2261" lvl="0" marL="457200" rtl="0" algn="l">
              <a:spcBef>
                <a:spcPts val="120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Disabling a model: the </a:t>
            </a:r>
            <a:r>
              <a:rPr b="1"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enabled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 configuration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9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0" name="Google Shape;1320;p1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223" y="416325"/>
            <a:ext cx="3551200" cy="366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1" name="Google Shape;1321;p130"/>
          <p:cNvSpPr txBox="1"/>
          <p:nvPr>
            <p:ph type="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Model Versioning</a:t>
            </a:r>
            <a:endParaRPr b="1" sz="3200">
              <a:solidFill>
                <a:srgbClr val="ED684E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22" name="Google Shape;1322;p130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3" name="Google Shape;1323;p130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4" name="Google Shape;1324;p13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5" name="Google Shape;1325;p130"/>
          <p:cNvSpPr txBox="1"/>
          <p:nvPr>
            <p:ph idx="1" type="body"/>
          </p:nvPr>
        </p:nvSpPr>
        <p:spPr>
          <a:xfrm>
            <a:off x="429850" y="1397425"/>
            <a:ext cx="8402700" cy="29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Problem: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Changing the schema of a model is possible </a:t>
            </a: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breaking </a:t>
            </a: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downstream</a:t>
            </a: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 models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, that are </a:t>
            </a: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managed by others</a:t>
            </a:r>
            <a:endParaRPr b="1"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bt’ s Solution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Create a new version of the same </a:t>
            </a:r>
            <a:r>
              <a:rPr i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model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, keep the old.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Implement a flag to indicate the old </a:t>
            </a:r>
            <a:r>
              <a:rPr i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model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 should be used by default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Downstream model updates reference the a specific version of the </a:t>
            </a:r>
            <a:r>
              <a:rPr i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model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 explicitly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9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0" name="Google Shape;1330;p1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223" y="416325"/>
            <a:ext cx="3551200" cy="366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1" name="Google Shape;1331;p131"/>
          <p:cNvSpPr txBox="1"/>
          <p:nvPr>
            <p:ph type="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Model Versioning - File Names</a:t>
            </a:r>
            <a:endParaRPr b="1" sz="3200">
              <a:solidFill>
                <a:srgbClr val="ED684E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32" name="Google Shape;1332;p131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3" name="Google Shape;1333;p131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4" name="Google Shape;1334;p13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335" name="Google Shape;1335;p131"/>
          <p:cNvGraphicFramePr/>
          <p:nvPr/>
        </p:nvGraphicFramePr>
        <p:xfrm>
          <a:off x="952300" y="1952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{3660BCE2-2714-4049-8B74-3E60B48309CE}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Filename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Comment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dim_hosts_cleansed_v1.sql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dim_hosts_cleansed_v2.sql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dim_hosts_cleansed.sql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Use the </a:t>
                      </a:r>
                      <a:r>
                        <a:rPr lang="en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defined_in</a:t>
                      </a:r>
                      <a:r>
                        <a:rPr lang="en"/>
                        <a:t> attribute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9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Google Shape;1340;p132"/>
          <p:cNvSpPr/>
          <p:nvPr/>
        </p:nvSpPr>
        <p:spPr>
          <a:xfrm>
            <a:off x="0" y="0"/>
            <a:ext cx="9144000" cy="4471500"/>
          </a:xfrm>
          <a:prstGeom prst="rect">
            <a:avLst/>
          </a:prstGeom>
          <a:solidFill>
            <a:srgbClr val="ED68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1" name="Google Shape;1341;p132"/>
          <p:cNvSpPr txBox="1"/>
          <p:nvPr/>
        </p:nvSpPr>
        <p:spPr>
          <a:xfrm>
            <a:off x="5859966" y="738256"/>
            <a:ext cx="18282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0">
              <a:solidFill>
                <a:srgbClr val="FD927D"/>
              </a:solidFill>
            </a:endParaRPr>
          </a:p>
        </p:txBody>
      </p:sp>
      <p:sp>
        <p:nvSpPr>
          <p:cNvPr id="1342" name="Google Shape;1342;p132"/>
          <p:cNvSpPr txBox="1"/>
          <p:nvPr>
            <p:ph type="ctrTitle"/>
          </p:nvPr>
        </p:nvSpPr>
        <p:spPr>
          <a:xfrm>
            <a:off x="262825" y="1020450"/>
            <a:ext cx="8520600" cy="24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d</a:t>
            </a:r>
            <a:r>
              <a:rPr b="1" lang="en" sz="72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bt IN PRODUCTION</a:t>
            </a:r>
            <a:endParaRPr b="1" sz="7200">
              <a:solidFill>
                <a:schemeClr val="lt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7" name="Google Shape;1347;p1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223" y="416325"/>
            <a:ext cx="3551200" cy="366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8" name="Google Shape;1348;p133"/>
          <p:cNvSpPr txBox="1"/>
          <p:nvPr>
            <p:ph type="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Slim CI - Learning Objectives</a:t>
            </a:r>
            <a:endParaRPr b="1" sz="3200">
              <a:solidFill>
                <a:srgbClr val="ED684E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49" name="Google Shape;1349;p133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0" name="Google Shape;1350;p133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1" name="Google Shape;1351;p13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2" name="Google Shape;1352;p133"/>
          <p:cNvSpPr txBox="1"/>
          <p:nvPr>
            <p:ph idx="1" type="body"/>
          </p:nvPr>
        </p:nvSpPr>
        <p:spPr>
          <a:xfrm>
            <a:off x="429850" y="1397425"/>
            <a:ext cx="8402700" cy="29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Working with different </a:t>
            </a: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target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 warehouses and </a:t>
            </a: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schemas</a:t>
            </a:r>
            <a:endParaRPr b="1"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Using </a:t>
            </a: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Environmental Variables</a:t>
            </a:r>
            <a:endParaRPr b="1"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Working with </a:t>
            </a: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state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 (new, modified, failed)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--</a:t>
            </a: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efer and 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--</a:t>
            </a: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lone</a:t>
            </a:r>
            <a:endParaRPr b="1"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Implementing </a:t>
            </a: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Slim CI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 through Pull Requests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6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7" name="Google Shape;1357;p1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223" y="416325"/>
            <a:ext cx="3551200" cy="366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8" name="Google Shape;1358;p134"/>
          <p:cNvSpPr txBox="1"/>
          <p:nvPr>
            <p:ph type="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Environment Variables</a:t>
            </a:r>
            <a:endParaRPr b="1" sz="3200">
              <a:solidFill>
                <a:srgbClr val="ED684E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59" name="Google Shape;1359;p134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0" name="Google Shape;1360;p134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1" name="Google Shape;1361;p13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2" name="Google Shape;1362;p134"/>
          <p:cNvSpPr txBox="1"/>
          <p:nvPr>
            <p:ph idx="1" type="body"/>
          </p:nvPr>
        </p:nvSpPr>
        <p:spPr>
          <a:xfrm>
            <a:off x="429850" y="1397425"/>
            <a:ext cx="8402700" cy="29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Passing values from the running environment (command line, CI tool, etc). </a:t>
            </a:r>
            <a:r>
              <a:rPr b="1" lang="en" sz="20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Not the same as variables</a:t>
            </a:r>
            <a:endParaRPr b="1" sz="20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31313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{{ env_var(‘VARIABLE_NAME’, ‘default value’) }}</a:t>
            </a:r>
            <a:endParaRPr sz="2000">
              <a:solidFill>
                <a:srgbClr val="31313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2000">
              <a:solidFill>
                <a:srgbClr val="31313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6" name="Shape 1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7" name="Google Shape;1367;p1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223" y="416325"/>
            <a:ext cx="3551200" cy="366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368" name="Google Shape;1368;p135"/>
          <p:cNvSpPr txBox="1"/>
          <p:nvPr>
            <p:ph type="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Working with Custom Schemas</a:t>
            </a:r>
            <a:endParaRPr b="1" sz="3200">
              <a:solidFill>
                <a:srgbClr val="ED684E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ED684E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69" name="Google Shape;1369;p135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0" name="Google Shape;1370;p135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1" name="Google Shape;1371;p13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2" name="Google Shape;1372;p135"/>
          <p:cNvSpPr txBox="1"/>
          <p:nvPr>
            <p:ph idx="1" type="body"/>
          </p:nvPr>
        </p:nvSpPr>
        <p:spPr>
          <a:xfrm>
            <a:off x="429850" y="1397425"/>
            <a:ext cx="8402700" cy="29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Two schema configs affect each model:</a:t>
            </a:r>
            <a:endParaRPr sz="20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313131"/>
              </a:buClr>
              <a:buSzPts val="2000"/>
              <a:buFont typeface="Montserrat"/>
              <a:buChar char="●"/>
            </a:pPr>
            <a:r>
              <a:rPr lang="en" sz="20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Target schema (take a look at </a:t>
            </a:r>
            <a:r>
              <a:rPr lang="en" sz="20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profiles.yml</a:t>
            </a:r>
            <a:r>
              <a:rPr lang="en" sz="20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sz="20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2000"/>
              <a:buFont typeface="Montserrat"/>
              <a:buChar char="●"/>
            </a:pPr>
            <a:r>
              <a:rPr lang="en" sz="20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Model’s schema (by default this is empty)</a:t>
            </a:r>
            <a:endParaRPr sz="20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6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7" name="Google Shape;1377;p1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223" y="416325"/>
            <a:ext cx="3551200" cy="366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8" name="Google Shape;1378;p136"/>
          <p:cNvSpPr txBox="1"/>
          <p:nvPr>
            <p:ph type="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Custom Schemas</a:t>
            </a:r>
            <a:endParaRPr b="1" sz="3200">
              <a:solidFill>
                <a:srgbClr val="ED684E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79" name="Google Shape;1379;p136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0" name="Google Shape;1380;p136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81" name="Google Shape;1381;p13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2" name="Google Shape;1382;p136"/>
          <p:cNvSpPr txBox="1"/>
          <p:nvPr>
            <p:ph idx="1" type="body"/>
          </p:nvPr>
        </p:nvSpPr>
        <p:spPr>
          <a:xfrm>
            <a:off x="373900" y="1210525"/>
            <a:ext cx="8402700" cy="29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By default scema = </a:t>
            </a:r>
            <a:r>
              <a:rPr lang="en" sz="19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target.schema + _ + custom schema name</a:t>
            </a:r>
            <a:r>
              <a:rPr lang="en" sz="19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19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I.e. if the model name is </a:t>
            </a:r>
            <a:r>
              <a:rPr lang="en" sz="20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dim_listings</a:t>
            </a:r>
            <a:endParaRPr sz="2000">
              <a:solidFill>
                <a:srgbClr val="31313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1383" name="Google Shape;1383;p136"/>
          <p:cNvGraphicFramePr/>
          <p:nvPr/>
        </p:nvGraphicFramePr>
        <p:xfrm>
          <a:off x="751225" y="232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{3660BCE2-2714-4049-8B74-3E60B48309CE}</a:tableStyleId>
              </a:tblPr>
              <a:tblGrid>
                <a:gridCol w="1789350"/>
                <a:gridCol w="2306900"/>
                <a:gridCol w="39459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target.schema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custom schema name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Actual schema built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DEV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 Thin"/>
                          <a:ea typeface="Montserrat Thin"/>
                          <a:cs typeface="Montserrat Thin"/>
                          <a:sym typeface="Montserrat Thin"/>
                        </a:rPr>
                        <a:t>none</a:t>
                      </a:r>
                      <a:endParaRPr>
                        <a:latin typeface="Montserrat Thin"/>
                        <a:ea typeface="Montserrat Thin"/>
                        <a:cs typeface="Montserrat Thin"/>
                        <a:sym typeface="Montserrat Thi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DEV.dim_listings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DEV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MYSCHEMA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DEV_MYSCHEMA.dim_listings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PROD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MYSCHEMA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PROD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_MYSCHEMA.dim_listings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84" name="Google Shape;1384;p136"/>
          <p:cNvSpPr txBox="1"/>
          <p:nvPr/>
        </p:nvSpPr>
        <p:spPr>
          <a:xfrm>
            <a:off x="311200" y="4568250"/>
            <a:ext cx="828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chemeClr val="dk2"/>
                </a:solidFill>
              </a:rPr>
              <a:t>Confusing?</a:t>
            </a:r>
            <a:r>
              <a:rPr lang="en" sz="1800">
                <a:solidFill>
                  <a:schemeClr val="dk2"/>
                </a:solidFill>
              </a:rPr>
              <a:t>  </a:t>
            </a:r>
            <a:r>
              <a:rPr lang="en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generate_schema_name</a:t>
            </a:r>
            <a:r>
              <a:rPr lang="en" sz="1800">
                <a:solidFill>
                  <a:schemeClr val="dk2"/>
                </a:solidFill>
              </a:rPr>
              <a:t> macro to the rescue!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9" name="Google Shape;1389;p1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223" y="416325"/>
            <a:ext cx="3551200" cy="366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0" name="Google Shape;1390;p137"/>
          <p:cNvSpPr txBox="1"/>
          <p:nvPr>
            <p:ph type="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Overriding the Schema</a:t>
            </a:r>
            <a:endParaRPr b="1" sz="3200">
              <a:solidFill>
                <a:srgbClr val="ED684E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1" name="Google Shape;1391;p13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2" name="Google Shape;1392;p137"/>
          <p:cNvSpPr txBox="1"/>
          <p:nvPr>
            <p:ph idx="1" type="body"/>
          </p:nvPr>
        </p:nvSpPr>
        <p:spPr>
          <a:xfrm>
            <a:off x="373900" y="1148053"/>
            <a:ext cx="8402700" cy="29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After implementing a production-grade </a:t>
            </a:r>
            <a:r>
              <a:rPr lang="en" sz="19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configuration</a:t>
            </a:r>
            <a:r>
              <a:rPr lang="en" sz="19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 in </a:t>
            </a:r>
            <a:r>
              <a:rPr lang="en" sz="19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generate_schema_name.sql</a:t>
            </a:r>
            <a:endParaRPr sz="1900">
              <a:solidFill>
                <a:srgbClr val="31313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1393" name="Google Shape;1393;p137"/>
          <p:cNvGraphicFramePr/>
          <p:nvPr/>
        </p:nvGraphicFramePr>
        <p:xfrm>
          <a:off x="751250" y="2105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{3660BCE2-2714-4049-8B74-3E60B48309CE}</a:tableStyleId>
              </a:tblPr>
              <a:tblGrid>
                <a:gridCol w="1789350"/>
                <a:gridCol w="2306900"/>
                <a:gridCol w="39459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target.name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custom schema name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Actual schema built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prod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 Thin"/>
                          <a:ea typeface="Montserrat Thin"/>
                          <a:cs typeface="Montserrat Thin"/>
                          <a:sym typeface="Montserrat Thin"/>
                        </a:rPr>
                        <a:t>none</a:t>
                      </a:r>
                      <a:endParaRPr>
                        <a:latin typeface="Montserrat Thin"/>
                        <a:ea typeface="Montserrat Thin"/>
                        <a:cs typeface="Montserrat Thin"/>
                        <a:sym typeface="Montserrat Thi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PROD.</a:t>
                      </a:r>
                      <a:r>
                        <a:rPr lang="en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dim_listings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prod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MART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MART</a:t>
                      </a:r>
                      <a:r>
                        <a:rPr lang="en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.dim_listings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staging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 Thin"/>
                          <a:ea typeface="Montserrat Thin"/>
                          <a:cs typeface="Montserrat Thin"/>
                          <a:sym typeface="Montserrat Thin"/>
                        </a:rPr>
                        <a:t>none</a:t>
                      </a:r>
                      <a:endParaRPr>
                        <a:solidFill>
                          <a:schemeClr val="dk1"/>
                        </a:solidFill>
                        <a:latin typeface="Montserrat Thin"/>
                        <a:ea typeface="Montserrat Thin"/>
                        <a:cs typeface="Montserrat Thin"/>
                        <a:sym typeface="Montserrat Thi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STAGING.dim_listings</a:t>
                      </a:r>
                      <a:endParaRPr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staging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MART</a:t>
                      </a:r>
                      <a:endParaRPr>
                        <a:solidFill>
                          <a:schemeClr val="dk1"/>
                        </a:solidFill>
                        <a:latin typeface="Montserrat Thin"/>
                        <a:ea typeface="Montserrat Thin"/>
                        <a:cs typeface="Montserrat Thin"/>
                        <a:sym typeface="Montserrat Thi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STAGING_MART.dim_listings</a:t>
                      </a:r>
                      <a:endParaRPr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myfeature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 Thin"/>
                          <a:ea typeface="Montserrat Thin"/>
                          <a:cs typeface="Montserrat Thin"/>
                          <a:sym typeface="Montserrat Thin"/>
                        </a:rPr>
                        <a:t>none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DBT_MYFEATURE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.dim_listings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myfeature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MART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DBT_MYFEATURE_MART.dim_listings</a:t>
                      </a:r>
                      <a:endParaRPr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94" name="Google Shape;1394;p137"/>
          <p:cNvSpPr txBox="1"/>
          <p:nvPr/>
        </p:nvSpPr>
        <p:spPr>
          <a:xfrm>
            <a:off x="311200" y="4568250"/>
            <a:ext cx="828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8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9" name="Google Shape;1399;p1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223" y="416325"/>
            <a:ext cx="3551200" cy="366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0" name="Google Shape;1400;p138"/>
          <p:cNvSpPr txBox="1"/>
          <p:nvPr>
            <p:ph type="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Basic Concepts</a:t>
            </a:r>
            <a:endParaRPr b="1" sz="3200">
              <a:solidFill>
                <a:srgbClr val="ED684E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01" name="Google Shape;1401;p138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2" name="Google Shape;1402;p138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3" name="Google Shape;1403;p13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4" name="Google Shape;1404;p138"/>
          <p:cNvSpPr txBox="1"/>
          <p:nvPr>
            <p:ph idx="1" type="body"/>
          </p:nvPr>
        </p:nvSpPr>
        <p:spPr>
          <a:xfrm>
            <a:off x="429850" y="1397425"/>
            <a:ext cx="8402700" cy="29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Target: 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The warehouse / database / schema you are working on 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CI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: Test every change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CD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: Ship/deploy every change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Slim CI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: test only what changed (without rebuilding the whole pipeline)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8" name="Shape 1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9" name="Google Shape;1409;p1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223" y="416325"/>
            <a:ext cx="3551200" cy="366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0" name="Google Shape;1410;p139"/>
          <p:cNvSpPr txBox="1"/>
          <p:nvPr>
            <p:ph type="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dbt in Production - Slim CI</a:t>
            </a:r>
            <a:endParaRPr/>
          </a:p>
        </p:txBody>
      </p:sp>
      <p:cxnSp>
        <p:nvCxnSpPr>
          <p:cNvPr id="1411" name="Google Shape;1411;p139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2" name="Google Shape;1412;p139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13" name="Google Shape;1413;p13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4" name="Google Shape;1414;p139"/>
          <p:cNvSpPr txBox="1"/>
          <p:nvPr>
            <p:ph idx="1" type="body"/>
          </p:nvPr>
        </p:nvSpPr>
        <p:spPr>
          <a:xfrm>
            <a:off x="429850" y="1397425"/>
            <a:ext cx="8402700" cy="29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Problem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Rebuilding every model for each pull request can be slow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Solution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Materialize / test only models that have changed compared to the target branch of the PR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Use production tables as stand-ins for unmodified tables</a:t>
            </a:r>
            <a:endParaRPr i="1"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9" name="Google Shape;1419;p1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223" y="416325"/>
            <a:ext cx="3551200" cy="366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420" name="Google Shape;1420;p140"/>
          <p:cNvSpPr txBox="1"/>
          <p:nvPr>
            <p:ph type="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Working with state</a:t>
            </a:r>
            <a:endParaRPr b="1" sz="3200">
              <a:solidFill>
                <a:srgbClr val="ED684E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ED684E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21" name="Google Shape;1421;p140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2" name="Google Shape;1422;p140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23" name="Google Shape;1423;p14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4" name="Google Shape;1424;p140"/>
          <p:cNvSpPr txBox="1"/>
          <p:nvPr>
            <p:ph idx="1" type="body"/>
          </p:nvPr>
        </p:nvSpPr>
        <p:spPr>
          <a:xfrm>
            <a:off x="429850" y="1397425"/>
            <a:ext cx="8402700" cy="29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dbt stores state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 (model build state, source freshness, etc) </a:t>
            </a: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in json files</a:t>
            </a:r>
            <a:endParaRPr b="1"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0358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State is stored in </a:t>
            </a:r>
            <a:r>
              <a:rPr b="1"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target/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 by default (change this with </a:t>
            </a:r>
            <a:r>
              <a:rPr b="1"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--</a:t>
            </a:r>
            <a:r>
              <a:rPr b="1"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target-path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035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Point dbt to another state folder with the</a:t>
            </a: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--</a:t>
            </a:r>
            <a:r>
              <a:rPr b="1"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state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 parameter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Use case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0358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AutoNum type="arabicParenR"/>
            </a:pP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Store production state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 in a folder (possible in a cloud storage)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035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AutoNum type="arabicParenR"/>
            </a:pP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Make your changes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 (yml, SQL, etc.)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035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AutoNum type="arabicParenR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Point dbt to the production state so it knows what has been changed</a:t>
            </a:r>
            <a:b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And </a:t>
            </a: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only rebuild what’s necessary</a:t>
            </a:r>
            <a:endParaRPr b="1"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8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9" name="Google Shape;1429;p1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223" y="416325"/>
            <a:ext cx="3551200" cy="366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0" name="Google Shape;1430;p141"/>
          <p:cNvSpPr txBox="1"/>
          <p:nvPr>
            <p:ph type="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Working with the </a:t>
            </a:r>
            <a:r>
              <a:rPr b="1" lang="en" sz="3200">
                <a:solidFill>
                  <a:srgbClr val="ED684E"/>
                </a:solidFill>
                <a:latin typeface="Courier New"/>
                <a:ea typeface="Courier New"/>
                <a:cs typeface="Courier New"/>
                <a:sym typeface="Courier New"/>
              </a:rPr>
              <a:t>state</a:t>
            </a: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 selector</a:t>
            </a:r>
            <a:endParaRPr b="1" sz="3200">
              <a:solidFill>
                <a:srgbClr val="ED684E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ED684E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31" name="Google Shape;1431;p141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2" name="Google Shape;1432;p141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3" name="Google Shape;1433;p14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4" name="Google Shape;1434;p141"/>
          <p:cNvSpPr txBox="1"/>
          <p:nvPr>
            <p:ph idx="1" type="body"/>
          </p:nvPr>
        </p:nvSpPr>
        <p:spPr>
          <a:xfrm>
            <a:off x="429850" y="1397425"/>
            <a:ext cx="8402700" cy="29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Use the </a:t>
            </a:r>
            <a:r>
              <a:rPr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state: 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parameter to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1435" name="Google Shape;1435;p141"/>
          <p:cNvGraphicFramePr/>
          <p:nvPr/>
        </p:nvGraphicFramePr>
        <p:xfrm>
          <a:off x="952500" y="2000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{3660BCE2-2714-4049-8B74-3E60B48309CE}</a:tableStyleId>
              </a:tblPr>
              <a:tblGrid>
                <a:gridCol w="2972525"/>
                <a:gridCol w="42664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new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build new models only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modified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Build models modified (compared to target state)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modified.body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SQL body modified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modified.config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Config modified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…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Multiple selectors for fine-tuning state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9" name="Shape 1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0" name="Google Shape;1440;p1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223" y="416325"/>
            <a:ext cx="3551200" cy="366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1" name="Google Shape;1441;p142"/>
          <p:cNvSpPr txBox="1"/>
          <p:nvPr>
            <p:ph type="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--</a:t>
            </a: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defer vs. </a:t>
            </a: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--clone</a:t>
            </a: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 </a:t>
            </a:r>
            <a:endParaRPr b="1" sz="3200">
              <a:solidFill>
                <a:srgbClr val="ED684E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42" name="Google Shape;1442;p142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3" name="Google Shape;1443;p142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44" name="Google Shape;1444;p14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5" name="Google Shape;1445;p142"/>
          <p:cNvSpPr txBox="1"/>
          <p:nvPr>
            <p:ph idx="1" type="body"/>
          </p:nvPr>
        </p:nvSpPr>
        <p:spPr>
          <a:xfrm>
            <a:off x="429850" y="1397425"/>
            <a:ext cx="8402700" cy="29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Use </a:t>
            </a:r>
            <a:r>
              <a:rPr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--</a:t>
            </a:r>
            <a:r>
              <a:rPr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defer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You want the cheapest possible option in CI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Doesn’t materialize </a:t>
            </a:r>
            <a:r>
              <a:rPr i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any model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 besides the ones modified on the dev’s schema (it uses the “prod” schema as a stand-in for missing models)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Use </a:t>
            </a:r>
            <a:r>
              <a:rPr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--clone</a:t>
            </a:r>
            <a:endParaRPr sz="1700">
              <a:solidFill>
                <a:srgbClr val="31313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You want a cheap full copy of the “prod” schema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Testing incremental models (defer would need --full-refresh)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Deployment: clone prod system to staging, test, deploy only if tests pass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Seeding dev environments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9" name="Shape 1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0" name="Google Shape;1450;p1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223" y="416325"/>
            <a:ext cx="3551200" cy="366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1" name="Google Shape;1451;p143"/>
          <p:cNvSpPr txBox="1"/>
          <p:nvPr>
            <p:ph type="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--defer</a:t>
            </a:r>
            <a:endParaRPr/>
          </a:p>
        </p:txBody>
      </p:sp>
      <p:cxnSp>
        <p:nvCxnSpPr>
          <p:cNvPr id="1452" name="Google Shape;1452;p143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3" name="Google Shape;1453;p143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54" name="Google Shape;1454;p14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5" name="Google Shape;1455;p1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06650" y="1017725"/>
            <a:ext cx="4853494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9" name="Shape 1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0" name="Google Shape;1460;p1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223" y="416325"/>
            <a:ext cx="3551200" cy="366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461" name="Google Shape;1461;p144"/>
          <p:cNvSpPr txBox="1"/>
          <p:nvPr>
            <p:ph type="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Git Concepts (oversimplified)</a:t>
            </a:r>
            <a:endParaRPr b="1" sz="3200">
              <a:solidFill>
                <a:srgbClr val="ED684E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62" name="Google Shape;1462;p144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3" name="Google Shape;1463;p144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4" name="Google Shape;1464;p14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5" name="Google Shape;1465;p144"/>
          <p:cNvSpPr txBox="1"/>
          <p:nvPr>
            <p:ph idx="1" type="body"/>
          </p:nvPr>
        </p:nvSpPr>
        <p:spPr>
          <a:xfrm>
            <a:off x="429850" y="1397425"/>
            <a:ext cx="8402700" cy="29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Commit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: save a snapshot of your changes locally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Push: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 send your commits to the central repo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B</a:t>
            </a: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ranch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: An independent line of work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○"/>
            </a:pPr>
            <a:r>
              <a:rPr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: production-ready, deployed code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○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feature branches: where analytics engineers do their work</a:t>
            </a:r>
            <a:endParaRPr sz="1700">
              <a:solidFill>
                <a:srgbClr val="31313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Pull Request (</a:t>
            </a: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PR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): propose merging your branch into </a:t>
            </a:r>
            <a:r>
              <a:rPr lang="en" sz="1700">
                <a:solidFill>
                  <a:srgbClr val="313131"/>
                </a:solidFill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9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0" name="Google Shape;1470;p1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223" y="416325"/>
            <a:ext cx="3551200" cy="366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1" name="Google Shape;1471;p145"/>
          <p:cNvSpPr txBox="1"/>
          <p:nvPr>
            <p:ph type="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Slim CI</a:t>
            </a:r>
            <a:endParaRPr/>
          </a:p>
        </p:txBody>
      </p:sp>
      <p:cxnSp>
        <p:nvCxnSpPr>
          <p:cNvPr id="1472" name="Google Shape;1472;p145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3" name="Google Shape;1473;p145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74" name="Google Shape;1474;p14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5" name="Google Shape;1475;p145"/>
          <p:cNvSpPr txBox="1"/>
          <p:nvPr/>
        </p:nvSpPr>
        <p:spPr>
          <a:xfrm>
            <a:off x="100575" y="1292950"/>
            <a:ext cx="5085600" cy="21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Three Workflows</a:t>
            </a:r>
            <a:endParaRPr sz="15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13131"/>
              </a:buClr>
              <a:buSzPts val="1500"/>
              <a:buFont typeface="Montserrat"/>
              <a:buChar char="●"/>
            </a:pPr>
            <a:r>
              <a:rPr lang="en" sz="15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Push to </a:t>
            </a:r>
            <a:r>
              <a:rPr i="1" lang="en" sz="15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main</a:t>
            </a:r>
            <a:r>
              <a:rPr lang="en" sz="15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: build everything and create</a:t>
            </a:r>
            <a:r>
              <a:rPr i="1" lang="en" sz="15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 prod-target </a:t>
            </a:r>
            <a:r>
              <a:rPr lang="en" sz="15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artifact</a:t>
            </a:r>
            <a:endParaRPr sz="15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500"/>
              <a:buFont typeface="Montserrat"/>
              <a:buChar char="●"/>
            </a:pPr>
            <a:r>
              <a:rPr lang="en" sz="15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Pull Request: </a:t>
            </a:r>
            <a:r>
              <a:rPr i="1" lang="en" sz="15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build state:modified</a:t>
            </a:r>
            <a:endParaRPr sz="15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500"/>
              <a:buFont typeface="Montserrat"/>
              <a:buChar char="●"/>
            </a:pPr>
            <a:r>
              <a:rPr lang="en" sz="15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Merged Pull Request:</a:t>
            </a:r>
            <a:endParaRPr sz="15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500"/>
              <a:buFont typeface="Montserrat"/>
              <a:buChar char="○"/>
            </a:pPr>
            <a:r>
              <a:rPr lang="en" sz="15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Implicit push to </a:t>
            </a:r>
            <a:r>
              <a:rPr i="1" lang="en" sz="15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main</a:t>
            </a:r>
            <a:endParaRPr sz="15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500"/>
              <a:buFont typeface="Montserrat"/>
              <a:buChar char="○"/>
            </a:pPr>
            <a:r>
              <a:rPr lang="en" sz="15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Clean up development schema</a:t>
            </a:r>
            <a:endParaRPr sz="15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76" name="Google Shape;1476;p1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7550" y="0"/>
            <a:ext cx="4200525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0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p146"/>
          <p:cNvSpPr/>
          <p:nvPr/>
        </p:nvSpPr>
        <p:spPr>
          <a:xfrm>
            <a:off x="0" y="0"/>
            <a:ext cx="9144000" cy="4471500"/>
          </a:xfrm>
          <a:prstGeom prst="rect">
            <a:avLst/>
          </a:prstGeom>
          <a:solidFill>
            <a:srgbClr val="ED68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2" name="Google Shape;1482;p146"/>
          <p:cNvSpPr txBox="1"/>
          <p:nvPr/>
        </p:nvSpPr>
        <p:spPr>
          <a:xfrm>
            <a:off x="5859966" y="738256"/>
            <a:ext cx="18282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0">
              <a:solidFill>
                <a:srgbClr val="FD927D"/>
              </a:solidFill>
            </a:endParaRPr>
          </a:p>
        </p:txBody>
      </p:sp>
      <p:sp>
        <p:nvSpPr>
          <p:cNvPr id="1483" name="Google Shape;1483;p146"/>
          <p:cNvSpPr txBox="1"/>
          <p:nvPr>
            <p:ph type="ctrTitle"/>
          </p:nvPr>
        </p:nvSpPr>
        <p:spPr>
          <a:xfrm>
            <a:off x="200125" y="2321275"/>
            <a:ext cx="8520600" cy="9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dbt Fusion</a:t>
            </a:r>
            <a:endParaRPr b="1" sz="7200">
              <a:solidFill>
                <a:schemeClr val="lt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11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&amp; </a:t>
            </a:r>
            <a:endParaRPr b="1" sz="3311">
              <a:solidFill>
                <a:schemeClr val="lt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11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The Official VSCode Extension</a:t>
            </a:r>
            <a:endParaRPr b="1" sz="3311">
              <a:solidFill>
                <a:schemeClr val="lt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7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8" name="Google Shape;1488;p1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223" y="416325"/>
            <a:ext cx="3551200" cy="366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9" name="Google Shape;1489;p147"/>
          <p:cNvSpPr txBox="1"/>
          <p:nvPr>
            <p:ph type="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A new Engine for dbt</a:t>
            </a:r>
            <a:endParaRPr b="1" sz="3200">
              <a:solidFill>
                <a:srgbClr val="ED684E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0" name="Google Shape;1490;p147"/>
          <p:cNvSpPr txBox="1"/>
          <p:nvPr>
            <p:ph idx="1" type="body"/>
          </p:nvPr>
        </p:nvSpPr>
        <p:spPr>
          <a:xfrm>
            <a:off x="429850" y="1397425"/>
            <a:ext cx="8402700" cy="29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12261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Completely 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rewritten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 from the ground up in Rust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2261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Char char="○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Magnitudes-Faster Parsing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2261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Char char="○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“Code Comprehension Engine”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2261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Released as Source-available from dbt Labs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2261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Released along an Official Visual Studio Code Extension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491" name="Google Shape;1491;p147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492" name="Google Shape;1492;p147" title="parsing_10k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06225" y="3573425"/>
            <a:ext cx="3871625" cy="101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7" name="Google Shape;1497;p1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223" y="416325"/>
            <a:ext cx="3551200" cy="366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8" name="Google Shape;1498;p148"/>
          <p:cNvSpPr txBox="1"/>
          <p:nvPr>
            <p:ph type="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LEARNING OBJECTIVES</a:t>
            </a:r>
            <a:endParaRPr b="1" sz="3200">
              <a:solidFill>
                <a:srgbClr val="ED684E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9" name="Google Shape;1499;p148"/>
          <p:cNvSpPr txBox="1"/>
          <p:nvPr>
            <p:ph idx="1" type="body"/>
          </p:nvPr>
        </p:nvSpPr>
        <p:spPr>
          <a:xfrm>
            <a:off x="429850" y="1397425"/>
            <a:ext cx="8402700" cy="29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28454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Understand how the Parser and Compiler work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8454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Feature Matrix - dbt Fusion vs dbt Core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8454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License differences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8454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Get hands-on with dbt Fusion and the VSCode Extension 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500" name="Google Shape;1500;p148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4" name="Shape 1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" name="Google Shape;1505;p149"/>
          <p:cNvSpPr/>
          <p:nvPr/>
        </p:nvSpPr>
        <p:spPr>
          <a:xfrm>
            <a:off x="0" y="0"/>
            <a:ext cx="9144000" cy="4471500"/>
          </a:xfrm>
          <a:prstGeom prst="rect">
            <a:avLst/>
          </a:prstGeom>
          <a:solidFill>
            <a:srgbClr val="ED68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6" name="Google Shape;1506;p149"/>
          <p:cNvSpPr txBox="1"/>
          <p:nvPr/>
        </p:nvSpPr>
        <p:spPr>
          <a:xfrm>
            <a:off x="5859966" y="738256"/>
            <a:ext cx="18282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0">
              <a:solidFill>
                <a:srgbClr val="FD927D"/>
              </a:solidFill>
            </a:endParaRPr>
          </a:p>
        </p:txBody>
      </p:sp>
      <p:sp>
        <p:nvSpPr>
          <p:cNvPr id="1507" name="Google Shape;1507;p149"/>
          <p:cNvSpPr txBox="1"/>
          <p:nvPr>
            <p:ph type="ctrTitle"/>
          </p:nvPr>
        </p:nvSpPr>
        <p:spPr>
          <a:xfrm>
            <a:off x="200125" y="2321275"/>
            <a:ext cx="8520600" cy="9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dbt Fusion</a:t>
            </a:r>
            <a:endParaRPr b="1" sz="7200">
              <a:solidFill>
                <a:schemeClr val="lt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11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Technical Deep Dive</a:t>
            </a:r>
            <a:endParaRPr b="1" sz="3311">
              <a:solidFill>
                <a:schemeClr val="lt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2" name="Google Shape;1512;p1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223" y="416325"/>
            <a:ext cx="3551200" cy="366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3" name="Google Shape;1513;p150"/>
          <p:cNvSpPr txBox="1"/>
          <p:nvPr>
            <p:ph type="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PARSING</a:t>
            </a:r>
            <a:endParaRPr b="1" sz="3200">
              <a:solidFill>
                <a:srgbClr val="ED684E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4" name="Google Shape;1514;p150"/>
          <p:cNvSpPr txBox="1"/>
          <p:nvPr>
            <p:ph idx="1" type="body"/>
          </p:nvPr>
        </p:nvSpPr>
        <p:spPr>
          <a:xfrm>
            <a:off x="429850" y="1397425"/>
            <a:ext cx="8402700" cy="29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515" name="Google Shape;1515;p150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6" name="Google Shape;1516;p150"/>
          <p:cNvSpPr txBox="1"/>
          <p:nvPr/>
        </p:nvSpPr>
        <p:spPr>
          <a:xfrm>
            <a:off x="4255262" y="4583664"/>
            <a:ext cx="4441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Source: </a:t>
            </a:r>
            <a:r>
              <a:rPr lang="en" sz="1100" u="sng">
                <a:solidFill>
                  <a:schemeClr val="hlink"/>
                </a:solidFill>
                <a:hlinkClick r:id="rId4"/>
              </a:rPr>
              <a:t>https://docs.getdbt.com/blog/faster-project-parsing-with-rust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</p:txBody>
      </p:sp>
      <p:pic>
        <p:nvPicPr>
          <p:cNvPr id="1517" name="Google Shape;1517;p150" title="evaluation_strategies_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5875" y="1348476"/>
            <a:ext cx="8340577" cy="2007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1" name="Shape 1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2" name="Google Shape;1522;p1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223" y="416325"/>
            <a:ext cx="3551200" cy="366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3" name="Google Shape;1523;p151"/>
          <p:cNvSpPr txBox="1"/>
          <p:nvPr>
            <p:ph type="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PARSING WITH RUST</a:t>
            </a:r>
            <a:endParaRPr b="1" sz="3200">
              <a:solidFill>
                <a:srgbClr val="ED684E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4" name="Google Shape;1524;p151"/>
          <p:cNvSpPr txBox="1"/>
          <p:nvPr>
            <p:ph idx="1" type="body"/>
          </p:nvPr>
        </p:nvSpPr>
        <p:spPr>
          <a:xfrm>
            <a:off x="429850" y="1397425"/>
            <a:ext cx="8402700" cy="29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525" name="Google Shape;1525;p151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26" name="Google Shape;1526;p151" title="evaluation_strategies_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200" y="1350218"/>
            <a:ext cx="8528102" cy="2631722"/>
          </a:xfrm>
          <a:prstGeom prst="rect">
            <a:avLst/>
          </a:prstGeom>
          <a:noFill/>
          <a:ln>
            <a:noFill/>
          </a:ln>
        </p:spPr>
      </p:pic>
      <p:sp>
        <p:nvSpPr>
          <p:cNvPr id="1527" name="Google Shape;1527;p151"/>
          <p:cNvSpPr txBox="1"/>
          <p:nvPr/>
        </p:nvSpPr>
        <p:spPr>
          <a:xfrm>
            <a:off x="4255262" y="4583664"/>
            <a:ext cx="4441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Source: </a:t>
            </a:r>
            <a:r>
              <a:rPr lang="en" sz="1100" u="sng">
                <a:solidFill>
                  <a:schemeClr val="hlink"/>
                </a:solidFill>
                <a:hlinkClick r:id="rId5"/>
              </a:rPr>
              <a:t>https://docs.getdbt.com/blog/faster-project-parsing-with-rust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1" name="Shape 1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2" name="Google Shape;1532;p1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223" y="416325"/>
            <a:ext cx="3551200" cy="366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3" name="Google Shape;1533;p152"/>
          <p:cNvSpPr txBox="1"/>
          <p:nvPr>
            <p:ph type="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SQL COMPREHENSION</a:t>
            </a:r>
            <a:endParaRPr b="1" sz="3200">
              <a:solidFill>
                <a:srgbClr val="ED684E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4" name="Google Shape;1534;p152"/>
          <p:cNvSpPr txBox="1"/>
          <p:nvPr>
            <p:ph idx="1" type="body"/>
          </p:nvPr>
        </p:nvSpPr>
        <p:spPr>
          <a:xfrm>
            <a:off x="429850" y="1397425"/>
            <a:ext cx="8402700" cy="29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535" name="Google Shape;1535;p152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36" name="Google Shape;1536;p152"/>
          <p:cNvSpPr txBox="1"/>
          <p:nvPr/>
        </p:nvSpPr>
        <p:spPr>
          <a:xfrm>
            <a:off x="4255262" y="4583664"/>
            <a:ext cx="4441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Source: </a:t>
            </a:r>
            <a:r>
              <a:rPr lang="en" sz="1100" u="sng">
                <a:solidFill>
                  <a:schemeClr val="hlink"/>
                </a:solidFill>
                <a:hlinkClick r:id="rId4"/>
              </a:rPr>
              <a:t>https://docs.getdbt.com/blog/faster-project-parsing-with-rust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</p:txBody>
      </p:sp>
      <p:pic>
        <p:nvPicPr>
          <p:cNvPr id="1537" name="Google Shape;1537;p152" title="validation_all_level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02550" y="1241413"/>
            <a:ext cx="6257300" cy="300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1" name="Shape 1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2" name="Google Shape;1542;p1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223" y="416325"/>
            <a:ext cx="3551200" cy="366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3" name="Google Shape;1543;p153"/>
          <p:cNvSpPr txBox="1"/>
          <p:nvPr>
            <p:ph type="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SQL COMPREHENSION</a:t>
            </a:r>
            <a:endParaRPr b="1" sz="3200">
              <a:solidFill>
                <a:srgbClr val="ED684E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4" name="Google Shape;1544;p153"/>
          <p:cNvSpPr txBox="1"/>
          <p:nvPr>
            <p:ph idx="1" type="body"/>
          </p:nvPr>
        </p:nvSpPr>
        <p:spPr>
          <a:xfrm>
            <a:off x="429850" y="1397425"/>
            <a:ext cx="8402700" cy="29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dbt Core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:     let the Data Warehouse</a:t>
            </a:r>
            <a:b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		       compile the SQL code 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ts val="1700"/>
              <a:buFont typeface="Montserrat"/>
              <a:buChar char="●"/>
            </a:pP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dbt Fusion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: let’s compile and</a:t>
            </a:r>
            <a:b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        comprehend as much</a:t>
            </a:r>
            <a:b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        as possible without </a:t>
            </a:r>
            <a:b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        touching the DWH 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545" name="Google Shape;1545;p153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46" name="Google Shape;1546;p153"/>
          <p:cNvSpPr txBox="1"/>
          <p:nvPr/>
        </p:nvSpPr>
        <p:spPr>
          <a:xfrm>
            <a:off x="4255262" y="4583664"/>
            <a:ext cx="4441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Source: </a:t>
            </a:r>
            <a:r>
              <a:rPr lang="en" sz="1100" u="sng">
                <a:solidFill>
                  <a:schemeClr val="hlink"/>
                </a:solidFill>
                <a:hlinkClick r:id="rId4"/>
              </a:rPr>
              <a:t>https://docs.getdbt.com/blog/faster-project-parsing-with-rust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</p:txBody>
      </p:sp>
      <p:pic>
        <p:nvPicPr>
          <p:cNvPr id="1547" name="Google Shape;1547;p153" title="full_translation_flow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68275" y="262312"/>
            <a:ext cx="3871024" cy="3977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1" name="Shape 1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2" name="Google Shape;1552;p1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223" y="416325"/>
            <a:ext cx="3551200" cy="366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3" name="Google Shape;1553;p154"/>
          <p:cNvSpPr txBox="1"/>
          <p:nvPr>
            <p:ph type="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dbt Fusion License</a:t>
            </a:r>
            <a:endParaRPr b="1" sz="3200">
              <a:solidFill>
                <a:srgbClr val="ED684E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4" name="Google Shape;1554;p154"/>
          <p:cNvSpPr txBox="1"/>
          <p:nvPr>
            <p:ph idx="1" type="body"/>
          </p:nvPr>
        </p:nvSpPr>
        <p:spPr>
          <a:xfrm>
            <a:off x="429850" y="1397425"/>
            <a:ext cx="8402700" cy="29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12261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dbt Core: </a:t>
            </a: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Apache 2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2261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dbt Fusion: Mostly Elastic License v2 (</a:t>
            </a: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ELv2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2261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Char char="○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You can use it for free, but you cannot provide it as a service for free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2261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Might include 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proprietary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 licensed enterprise features later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2261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For you most 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probably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 the license change won’t make a difference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555" name="Google Shape;1555;p154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6" name="Google Shape;1556;p154"/>
          <p:cNvSpPr txBox="1"/>
          <p:nvPr/>
        </p:nvSpPr>
        <p:spPr>
          <a:xfrm>
            <a:off x="4255262" y="4583664"/>
            <a:ext cx="4441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Source: </a:t>
            </a:r>
            <a:r>
              <a:rPr lang="en" sz="1100" u="sng">
                <a:solidFill>
                  <a:schemeClr val="hlink"/>
                </a:solidFill>
                <a:hlinkClick r:id="rId4"/>
              </a:rPr>
              <a:t>https://www.getdbt.com/licenses-faq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</p:txBody>
      </p:sp>
      <p:cxnSp>
        <p:nvCxnSpPr>
          <p:cNvPr id="1557" name="Google Shape;1557;p154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8" name="Google Shape;1558;p15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2" name="Shape 1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3" name="Google Shape;1563;p1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223" y="416325"/>
            <a:ext cx="3551200" cy="366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4" name="Google Shape;1564;p155"/>
          <p:cNvSpPr txBox="1"/>
          <p:nvPr>
            <p:ph type="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VISUAL STUDIO CODE EXTENSION</a:t>
            </a:r>
            <a:endParaRPr b="1" sz="3200">
              <a:solidFill>
                <a:srgbClr val="ED684E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5" name="Google Shape;1565;p155"/>
          <p:cNvSpPr txBox="1"/>
          <p:nvPr>
            <p:ph idx="1" type="body"/>
          </p:nvPr>
        </p:nvSpPr>
        <p:spPr>
          <a:xfrm>
            <a:off x="429850" y="1397425"/>
            <a:ext cx="8402700" cy="29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Let’s go ahead and install the </a:t>
            </a: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VSCode Extension</a:t>
            </a: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, which will: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0358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Install dbt Fusion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0358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Upgrade your dbt project to be 100% Fusion compatible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0358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Compile your project for SQL Comprehension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566" name="Google Shape;1566;p155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67" name="Google Shape;1567;p155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68" name="Google Shape;1568;p15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2" name="Shape 1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3" name="Google Shape;1573;p156"/>
          <p:cNvSpPr/>
          <p:nvPr/>
        </p:nvSpPr>
        <p:spPr>
          <a:xfrm>
            <a:off x="0" y="0"/>
            <a:ext cx="9144000" cy="4471500"/>
          </a:xfrm>
          <a:prstGeom prst="rect">
            <a:avLst/>
          </a:prstGeom>
          <a:solidFill>
            <a:srgbClr val="ED68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4" name="Google Shape;1574;p156"/>
          <p:cNvSpPr txBox="1"/>
          <p:nvPr/>
        </p:nvSpPr>
        <p:spPr>
          <a:xfrm>
            <a:off x="5859966" y="738256"/>
            <a:ext cx="18282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0">
              <a:solidFill>
                <a:srgbClr val="FD927D"/>
              </a:solidFill>
            </a:endParaRPr>
          </a:p>
        </p:txBody>
      </p:sp>
      <p:sp>
        <p:nvSpPr>
          <p:cNvPr id="1575" name="Google Shape;1575;p156"/>
          <p:cNvSpPr txBox="1"/>
          <p:nvPr>
            <p:ph type="ctrTitle"/>
          </p:nvPr>
        </p:nvSpPr>
        <p:spPr>
          <a:xfrm>
            <a:off x="311700" y="667525"/>
            <a:ext cx="8520600" cy="9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HERO</a:t>
            </a:r>
            <a:endParaRPr b="1" sz="7200">
              <a:solidFill>
                <a:schemeClr val="lt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9" name="Shape 1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Google Shape;1580;p157"/>
          <p:cNvSpPr/>
          <p:nvPr/>
        </p:nvSpPr>
        <p:spPr>
          <a:xfrm>
            <a:off x="0" y="0"/>
            <a:ext cx="9144000" cy="4471500"/>
          </a:xfrm>
          <a:prstGeom prst="rect">
            <a:avLst/>
          </a:prstGeom>
          <a:solidFill>
            <a:srgbClr val="ED68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1" name="Google Shape;1581;p157"/>
          <p:cNvSpPr txBox="1"/>
          <p:nvPr/>
        </p:nvSpPr>
        <p:spPr>
          <a:xfrm>
            <a:off x="5859966" y="738256"/>
            <a:ext cx="18282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0">
              <a:solidFill>
                <a:srgbClr val="FD927D"/>
              </a:solidFill>
            </a:endParaRPr>
          </a:p>
        </p:txBody>
      </p:sp>
      <p:sp>
        <p:nvSpPr>
          <p:cNvPr id="1582" name="Google Shape;1582;p157"/>
          <p:cNvSpPr txBox="1"/>
          <p:nvPr>
            <p:ph type="ctrTitle"/>
          </p:nvPr>
        </p:nvSpPr>
        <p:spPr>
          <a:xfrm>
            <a:off x="262825" y="1020450"/>
            <a:ext cx="8520600" cy="24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ORCHESTRATION</a:t>
            </a:r>
            <a:endParaRPr b="1" sz="7200">
              <a:solidFill>
                <a:schemeClr val="lt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6" name="Shape 1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" name="Google Shape;1587;p158"/>
          <p:cNvSpPr txBox="1"/>
          <p:nvPr>
            <p:ph type="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THE ORCHESTRATION LANDSCAPE</a:t>
            </a:r>
            <a:endParaRPr/>
          </a:p>
        </p:txBody>
      </p:sp>
      <p:cxnSp>
        <p:nvCxnSpPr>
          <p:cNvPr id="1588" name="Google Shape;1588;p158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89" name="Google Shape;1589;p1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200" y="3478362"/>
            <a:ext cx="3476058" cy="99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0" name="Google Shape;1590;p1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2075" y="2284475"/>
            <a:ext cx="2332050" cy="122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1" name="Google Shape;1591;p1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14075" y="3338451"/>
            <a:ext cx="1681997" cy="61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2" name="Google Shape;1592;p15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97799" y="1627451"/>
            <a:ext cx="1906623" cy="99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3" name="Google Shape;1593;p15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4364" y="1222222"/>
            <a:ext cx="2749724" cy="1062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94" name="Google Shape;1594;p158"/>
          <p:cNvSpPr txBox="1"/>
          <p:nvPr/>
        </p:nvSpPr>
        <p:spPr>
          <a:xfrm>
            <a:off x="6596066" y="3258907"/>
            <a:ext cx="16479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Cloud</a:t>
            </a:r>
            <a:endParaRPr sz="3800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8" name="Shape 1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9" name="Google Shape;1599;p159"/>
          <p:cNvSpPr txBox="1"/>
          <p:nvPr>
            <p:ph type="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DAGSTER - SIMILAR DATA CONCEPTS</a:t>
            </a:r>
            <a:endParaRPr/>
          </a:p>
        </p:txBody>
      </p:sp>
      <p:cxnSp>
        <p:nvCxnSpPr>
          <p:cNvPr id="1600" name="Google Shape;1600;p159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01" name="Google Shape;1601;p1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5275" y="1121950"/>
            <a:ext cx="5393052" cy="3173026"/>
          </a:xfrm>
          <a:prstGeom prst="rect">
            <a:avLst/>
          </a:prstGeom>
          <a:noFill/>
          <a:ln>
            <a:noFill/>
          </a:ln>
        </p:spPr>
      </p:pic>
      <p:sp>
        <p:nvSpPr>
          <p:cNvPr id="1602" name="Google Shape;1602;p159"/>
          <p:cNvSpPr txBox="1"/>
          <p:nvPr/>
        </p:nvSpPr>
        <p:spPr>
          <a:xfrm>
            <a:off x="6937425" y="4738688"/>
            <a:ext cx="1764000" cy="1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chemeClr val="dk2"/>
                </a:solidFill>
              </a:rPr>
              <a:t>Image source: https://docs.dagster.io/integrations/dbt</a:t>
            </a:r>
            <a:endParaRPr sz="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6" name="Shape 1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" name="Google Shape;1607;p160"/>
          <p:cNvSpPr txBox="1"/>
          <p:nvPr>
            <p:ph type="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GREAT UI</a:t>
            </a:r>
            <a:endParaRPr/>
          </a:p>
        </p:txBody>
      </p:sp>
      <p:cxnSp>
        <p:nvCxnSpPr>
          <p:cNvPr id="1608" name="Google Shape;1608;p160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09" name="Google Shape;1609;p1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53375" y="621745"/>
            <a:ext cx="1385925" cy="39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610" name="Google Shape;1610;p160"/>
          <p:cNvSpPr txBox="1"/>
          <p:nvPr/>
        </p:nvSpPr>
        <p:spPr>
          <a:xfrm>
            <a:off x="6937425" y="4738688"/>
            <a:ext cx="1764000" cy="1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chemeClr val="dk2"/>
                </a:solidFill>
              </a:rPr>
              <a:t>Image source: https://docs.dagster.io/integrations/dbt</a:t>
            </a:r>
            <a:endParaRPr sz="500">
              <a:solidFill>
                <a:schemeClr val="dk2"/>
              </a:solidFill>
            </a:endParaRPr>
          </a:p>
        </p:txBody>
      </p:sp>
      <p:pic>
        <p:nvPicPr>
          <p:cNvPr id="1611" name="Google Shape;1611;p1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4863" y="1170125"/>
            <a:ext cx="6940774" cy="3416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5" name="Shape 1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6" name="Google Shape;1616;p161"/>
          <p:cNvSpPr txBox="1"/>
          <p:nvPr>
            <p:ph type="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EASY TO DEBUG</a:t>
            </a:r>
            <a:endParaRPr/>
          </a:p>
        </p:txBody>
      </p:sp>
      <p:cxnSp>
        <p:nvCxnSpPr>
          <p:cNvPr id="1617" name="Google Shape;1617;p161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18" name="Google Shape;1618;p1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53375" y="621745"/>
            <a:ext cx="1385925" cy="39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619" name="Google Shape;1619;p161"/>
          <p:cNvSpPr txBox="1"/>
          <p:nvPr/>
        </p:nvSpPr>
        <p:spPr>
          <a:xfrm>
            <a:off x="6937425" y="4738688"/>
            <a:ext cx="1764000" cy="1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chemeClr val="dk2"/>
                </a:solidFill>
              </a:rPr>
              <a:t>Image source: https://docs.dagster.io/integrations/dbt</a:t>
            </a:r>
            <a:endParaRPr sz="500">
              <a:solidFill>
                <a:schemeClr val="dk2"/>
              </a:solidFill>
            </a:endParaRPr>
          </a:p>
        </p:txBody>
      </p:sp>
      <p:pic>
        <p:nvPicPr>
          <p:cNvPr id="1620" name="Google Shape;1620;p1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70025" y="1170125"/>
            <a:ext cx="4138674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4" name="Shape 1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5" name="Google Shape;1625;p1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223" y="416325"/>
            <a:ext cx="3551200" cy="366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6" name="Google Shape;1626;p162"/>
          <p:cNvSpPr txBox="1"/>
          <p:nvPr>
            <p:ph type="title"/>
          </p:nvPr>
        </p:nvSpPr>
        <p:spPr>
          <a:xfrm>
            <a:off x="311200" y="445025"/>
            <a:ext cx="852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ED684E"/>
                </a:solidFill>
                <a:latin typeface="Space Mono"/>
                <a:ea typeface="Space Mono"/>
                <a:cs typeface="Space Mono"/>
                <a:sym typeface="Space Mono"/>
              </a:rPr>
              <a:t>Capstone Project</a:t>
            </a:r>
            <a:endParaRPr b="1" sz="3200">
              <a:solidFill>
                <a:srgbClr val="ED684E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7" name="Google Shape;1627;p162"/>
          <p:cNvSpPr txBox="1"/>
          <p:nvPr>
            <p:ph idx="1" type="body"/>
          </p:nvPr>
        </p:nvSpPr>
        <p:spPr>
          <a:xfrm>
            <a:off x="429850" y="1397425"/>
            <a:ext cx="8402700" cy="29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Let’s implement a </a:t>
            </a:r>
            <a:r>
              <a:rPr b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real-world pipeline end to end on your own</a:t>
            </a:r>
            <a:endParaRPr b="1"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8454" lvl="0" marL="457200" rtl="0" algn="l">
              <a:spcBef>
                <a:spcPts val="120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Clone the repo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8454" lvl="0" marL="457200" rtl="0" algn="l"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Get to know the data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8454" lvl="0" marL="457200" rtl="0" algn="l"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Read the instructions and solve the assignment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8454" lvl="0" marL="457200" rtl="0" algn="l">
              <a:spcBef>
                <a:spcPts val="0"/>
              </a:spcBef>
              <a:spcAft>
                <a:spcPts val="0"/>
              </a:spcAft>
              <a:buClr>
                <a:srgbClr val="313131"/>
              </a:buClr>
              <a:buSzPct val="100000"/>
              <a:buFont typeface="Montserrat"/>
              <a:buChar char="●"/>
            </a:pPr>
            <a:r>
              <a:rPr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My solution: </a:t>
            </a:r>
            <a:r>
              <a:rPr lang="en" sz="17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Solutions link</a:t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If you started the course before 14 Mar 2025, go to </a:t>
            </a:r>
            <a:r>
              <a:rPr i="1" lang="en" sz="1700" u="sng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dbtsetup.nordquant.com</a:t>
            </a:r>
            <a:r>
              <a:rPr i="1" lang="en" sz="1700">
                <a:solidFill>
                  <a:srgbClr val="313131"/>
                </a:solidFill>
                <a:latin typeface="Montserrat"/>
                <a:ea typeface="Montserrat"/>
                <a:cs typeface="Montserrat"/>
                <a:sym typeface="Montserrat"/>
              </a:rPr>
              <a:t> and go follow the instructions at the “Capstone-only Setup” tab before you start.</a:t>
            </a:r>
            <a:endParaRPr i="1"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rgbClr val="31313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628" name="Google Shape;1628;p162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9" name="Google Shape;1629;p162"/>
          <p:cNvCxnSpPr/>
          <p:nvPr/>
        </p:nvCxnSpPr>
        <p:spPr>
          <a:xfrm rot="10800000">
            <a:off x="311200" y="4471525"/>
            <a:ext cx="8528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30" name="Google Shape;1630;p16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4" name="Shape 1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5" name="Google Shape;1635;p163"/>
          <p:cNvSpPr/>
          <p:nvPr/>
        </p:nvSpPr>
        <p:spPr>
          <a:xfrm>
            <a:off x="0" y="0"/>
            <a:ext cx="9144000" cy="4471500"/>
          </a:xfrm>
          <a:prstGeom prst="rect">
            <a:avLst/>
          </a:prstGeom>
          <a:solidFill>
            <a:srgbClr val="ED68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6" name="Google Shape;1636;p163"/>
          <p:cNvSpPr txBox="1"/>
          <p:nvPr/>
        </p:nvSpPr>
        <p:spPr>
          <a:xfrm>
            <a:off x="5859966" y="738256"/>
            <a:ext cx="18282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0">
              <a:solidFill>
                <a:srgbClr val="FD927D"/>
              </a:solidFill>
            </a:endParaRPr>
          </a:p>
        </p:txBody>
      </p:sp>
      <p:sp>
        <p:nvSpPr>
          <p:cNvPr id="1637" name="Google Shape;1637;p163"/>
          <p:cNvSpPr txBox="1"/>
          <p:nvPr>
            <p:ph type="ctrTitle"/>
          </p:nvPr>
        </p:nvSpPr>
        <p:spPr>
          <a:xfrm>
            <a:off x="267900" y="1996000"/>
            <a:ext cx="8520600" cy="9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CONGRATS!</a:t>
            </a:r>
            <a:endParaRPr b="1" sz="7200">
              <a:solidFill>
                <a:schemeClr val="lt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1" name="Shape 1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2" name="Google Shape;1642;p164"/>
          <p:cNvSpPr/>
          <p:nvPr/>
        </p:nvSpPr>
        <p:spPr>
          <a:xfrm>
            <a:off x="0" y="0"/>
            <a:ext cx="9144000" cy="4471500"/>
          </a:xfrm>
          <a:prstGeom prst="rect">
            <a:avLst/>
          </a:prstGeom>
          <a:solidFill>
            <a:srgbClr val="ED68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3" name="Google Shape;1643;p164"/>
          <p:cNvSpPr txBox="1"/>
          <p:nvPr/>
        </p:nvSpPr>
        <p:spPr>
          <a:xfrm>
            <a:off x="5859966" y="738256"/>
            <a:ext cx="18282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0">
              <a:solidFill>
                <a:srgbClr val="FD927D"/>
              </a:solidFill>
            </a:endParaRPr>
          </a:p>
        </p:txBody>
      </p:sp>
      <p:sp>
        <p:nvSpPr>
          <p:cNvPr id="1644" name="Google Shape;1644;p164"/>
          <p:cNvSpPr txBox="1"/>
          <p:nvPr>
            <p:ph type="ctrTitle"/>
          </p:nvPr>
        </p:nvSpPr>
        <p:spPr>
          <a:xfrm>
            <a:off x="267900" y="1996000"/>
            <a:ext cx="8520600" cy="247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FROM THIS POINT THE SLIDES ARE WORK IN PROGRESS</a:t>
            </a:r>
            <a:endParaRPr b="1" sz="7200">
              <a:solidFill>
                <a:schemeClr val="lt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